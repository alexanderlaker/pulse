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Unified Landscape Simulation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200400" cy="0"/>
          </a:xfrm>
          <a:prstGeom prst="line">
            <a:avLst/>
          </a:prstGeom>
          <a:noFill/>
          <a:ln w="25400">
            <a:solidFill>
              <a:srgbClr val="E10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Strategy Briefing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Henkel Consumer Brands  |  March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Bain &amp; Company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PROFIT POOL THINKING?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alone no longer predicts value creation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31089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masks margin erosion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label captures 2-3pp of profit pool annually in key European markets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dynamics shift faster than planning cycles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structural forces reshape profit pools simultaneously — regulation, technology, consumer behavior, competition, environment, retail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Excel models can’t capture interdependencies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V12 treats forces as independent — missing cascading effects like regulation → technology → 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1089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where value is created — and where it’s migrating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from “how big is the market?” to “where is the profit?”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Anticipate shifts before they appear in the P&amp;L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Probabilistic modeling with causal propagation gives 2-3 year lead time on structural changes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 resources to highest-value opportunities</a:t>
            </a:r>
            <a:endParaRPr lang="en-US" sz="11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 recommends where to invest, defend, or harvest based on expected pool shifts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PULSE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living simulation engine that transforms static assessments into decision intelligence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10,000+ probabilistic scenarios across 12 categories, 6 forces, and 5 years to model profit pool shifts with Bayesian confidence intervals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0604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06040" cy="54864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links forces together — a regulatory shock propagates to technology costs, shelf prices, and consumer behavior automatically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0604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 produces resource allocation recommendations: where to invest more, where to defend, where to harvest — all in relative terms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FORCES RESHAPING PROFIT POOLS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is causally linked — a shock in one propagates through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beauty, premiumization, sustainability consciousness, aging demographics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ingredients demand, DTC growth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54864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consolidation, private label power, e-commerce channel shift, discounter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Aldi/Lidl expansion, Amazon share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097280"/>
            <a:ext cx="54864" cy="1691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personalization, biotech ingredients, smart packaging, digital shelf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Reformulation tech, DPP compliance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Green Deal, REACH/CLP, Digital Product Passport, sustainability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CSRD, PPWR, microplastics ban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3017520"/>
            <a:ext cx="54864" cy="1691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regulation, water scarcity, raw material volatility, circular economy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Palm oil pressure, refill systems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0604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301752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P&amp;G premiumization, Unilever sustainability, private label sophistication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 M&amp;A, Indie brand disruption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LENSES, ONE TRUTH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serves both the strategy team and ExCo through purpose-built interfaces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WAR ROOM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simulation re-run on score changes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heatmap with drill-down panels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visualization with animations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distributions and tornado charts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 (Base, Green Squeeze, etc.)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trend scanner and chat interface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Excel, PowerPoint, PDF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For: Strategy Team  |  Format: Relative 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REPORTING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+ Power BI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executive narrative deck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 with actual financials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applied to GP1 in absolute terms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 in board-ready format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Backtesting accuracy for credibility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decomposition waterfall charts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from War Room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For: ExCo / Finance  |  Format: Absolute €M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PULSE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Four-step methodology from trend identification to profit pool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143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737360" y="1417320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920240" cy="1828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56032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697480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 intelligence waterfall scans regulatory databases, news feeds, patent filings, and consumer signals to identify emerging trends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548640" cy="548640"/>
          </a:xfrm>
          <a:prstGeom prst="ellipse">
            <a:avLst/>
          </a:prstGeom>
          <a:solidFill>
            <a:srgbClr val="17564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31920" y="1417320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51460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560320"/>
            <a:ext cx="1920240" cy="1828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2514600" y="2560320"/>
            <a:ext cx="1920240" cy="36576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9" name="Text 17"/>
          <p:cNvSpPr/>
          <p:nvPr/>
        </p:nvSpPr>
        <p:spPr>
          <a:xfrm>
            <a:off x="2624328" y="2697480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3-round scoring protocol: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1: Independent blind scoring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2: Calibrated re-scoring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3: Outlier discussion + consensus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143000"/>
            <a:ext cx="548640" cy="548640"/>
          </a:xfrm>
          <a:prstGeom prst="ellipse">
            <a:avLst/>
          </a:prstGeom>
          <a:solidFill>
            <a:srgbClr val="D4A847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26480" y="1417320"/>
            <a:ext cx="594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70916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1920240" cy="1828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560320"/>
            <a:ext cx="1920240" cy="3657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697480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 model with copula dependencies runs 10,000 iterations across the causal DAG to produce probabilistic shift distributions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1143000"/>
            <a:ext cx="548640" cy="5486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2560320"/>
            <a:ext cx="1920240" cy="18288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6903720" y="2560320"/>
            <a:ext cx="192024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2697480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output: % change by category × force × year with confidence intervals. Optimizer recommends resource allocation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MODEL — FOUR IMPACT DIMENSIONS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assessed across multiple dimensions to capture the full economic picture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194560"/>
            <a:ext cx="19202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60604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categories scored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288036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trend receives an exposure score (0-5) for every category: Color, Care, Styling, Body, FCN, FCA, FFI, LAD, HDW, ADW, HSC, 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219456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2194560"/>
            <a:ext cx="1920240" cy="36576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7" name="Text 15"/>
          <p:cNvSpPr/>
          <p:nvPr/>
        </p:nvSpPr>
        <p:spPr>
          <a:xfrm>
            <a:off x="2624328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IMPACT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260604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Market-specific factors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24328" y="288036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configuration via EM_Input sheet captures market-level dynamics: Europe, NA, Emerging Markets with tailored force weightings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0916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 steps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194560"/>
            <a:ext cx="1920240" cy="3657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CHAIN IMPACT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260604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value chain steps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18888" y="288036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Trends impact different parts of the value chain: Raw Materials, Formulation, Production, Packaging, Logistics, Marketing, Sales, After-Sales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037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2-25%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90372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GP1 cap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19456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2194560"/>
            <a:ext cx="192024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1" name="Text 29"/>
          <p:cNvSpPr/>
          <p:nvPr/>
        </p:nvSpPr>
        <p:spPr>
          <a:xfrm>
            <a:off x="7013448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OF GP1 AFFECTED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3448" y="260604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anchoring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13448" y="288036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trend carries a ‘GP1% affected’ parameter (2-25%) capping the maximum fraction of a category’s profit pool that this trend can realistically touch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DETAIL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trend is scored, validated, and mapped to categories with full transparency</a:t>
            </a:r>
            <a:endParaRPr lang="en-US" sz="1000" dirty="0"/>
          </a:p>
        </p:txBody>
      </p:sp>
      <p:pic>
        <p:nvPicPr>
          <p:cNvPr id="5" name="Image 0" descr="/sessions/compassionate-sweet-ride/screensho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— UNIFIED COMMAND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 tells the complete story — headline KPIs, heatmap, and path projections</a:t>
            </a:r>
            <a:endParaRPr lang="en-US" sz="1000" dirty="0"/>
          </a:p>
        </p:txBody>
      </p:sp>
      <p:pic>
        <p:nvPicPr>
          <p:cNvPr id="5" name="Image 0" descr="/sessions/compassionate-sweet-ride/screenshot_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× FORCE SHIFT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 shift in category profit pool by strategic force — the core analytical output</a:t>
            </a:r>
            <a:endParaRPr lang="en-US" sz="1000" dirty="0"/>
          </a:p>
        </p:txBody>
      </p:sp>
      <p:pic>
        <p:nvPicPr>
          <p:cNvPr id="5" name="Image 0" descr="/sessions/compassionate-sweet-ride/screenshot_categor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Enterprise-grade, deployed within Henkel’s cloud environment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60604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2606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3.11+ with FastAPI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with SciPy/NumPy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NetworkX for Causal DAG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local data store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dependency modeling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0604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143000"/>
            <a:ext cx="2606040" cy="45720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 + TailwindCSS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D3.js / Recharts for visualizations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 for animations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+ TanStack Query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Apple-grade dark mode 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0604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143000"/>
            <a:ext cx="260604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(MVP) or Azure OpenAI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external data APIs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Shift Matrix export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bidirectional bridge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running cost (€0/year)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FROM MVP TO ENTERPRISE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approach delivers standalone value at each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74980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37160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60604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57400"/>
            <a:ext cx="2606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tool reads V12 Excel, runs Bayesian MC with causal DAG, outputs continuous-path Shift Matrix. Deterministic mode validates against V12.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274320" cy="274320"/>
          </a:xfrm>
          <a:prstGeom prst="ellipse">
            <a:avLst/>
          </a:prstGeom>
          <a:solidFill>
            <a:srgbClr val="175641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057400"/>
            <a:ext cx="260604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2057400"/>
            <a:ext cx="2606040" cy="36576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834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War Room with unified view, interactive heatmap, causal flow animation, scenario comparison, and export center. Apple-grade UX.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1371600"/>
            <a:ext cx="274320" cy="27432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057400"/>
            <a:ext cx="260604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2057400"/>
            <a:ext cx="260604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Power 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834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scanner, Delphi workflow, natural language chat, automated Power BI export. Provider swap to Azure OpenAI in Henkel tenant.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RHYTHM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embeds into the existing annual planning 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DEEP DIVES (1-2x / YEAR)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920240" cy="1508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1508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Trend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scanner identifies new trends, retired trends flagged. Complete trend database refresh.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06040" y="1508760"/>
            <a:ext cx="1920240" cy="1508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508760"/>
            <a:ext cx="45720" cy="1508760"/>
          </a:xfrm>
          <a:prstGeom prst="rect">
            <a:avLst/>
          </a:prstGeom>
          <a:solidFill>
            <a:srgbClr val="1756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Round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 scoring with calibration. Debiasing protocols applied. Consensus scores locked.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1920240" cy="1508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508760"/>
            <a:ext cx="45720" cy="1508760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iterations. Full causal propagation. Scenario analysis for strategy week.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1508760"/>
            <a:ext cx="1920240" cy="1508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1508760"/>
            <a:ext cx="45720" cy="15087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Q2-Q4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4088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Report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to ExCo. Category allocation recommendations. Power BI dashboard update.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MONITORING (ALWAYS ON)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digest of new developments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974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Early-Warning Triggers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974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when thresholds breached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Velocity Tracking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shifts faster or slower than expected?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Refresh (10K iter.)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Mid-year re-simulation on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Henkel Consumer Brands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pools are shifting structurally — static Excel assessments cannot capture the causal interdependencies between regulatory, consumer, technology, and competitive forces reshaping our categories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76809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transforms the existing V12 force assessment into a living, probabilistic simulation engine: Bayesian Monte Carlo with causal propagation across 12 categories, 6 forces, and a 5-year continuous path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2468880"/>
            <a:ext cx="76809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5146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backtestable, transparent, and enterprise-grade: every AI suggestion requires human approval, every score change is audited, and the Delphi protocol ensures calibrated expert consensus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76809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918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rollout delivers standalone value at each stage: Phase 1 (CLI engine) in Q2, War Room dashboard in Q3, AI intelligence layer in Q4 2026 — all at zero running cost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0120" y="4023360"/>
            <a:ext cx="76809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69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 Matrix output integrates seamlessly with Excel and Power BI — strategy teams see relative shifts, ExCo sees absolute €M impact. Same truth, two lenses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10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Phase 1 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92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 build with V12 integration — deliverable in Q2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87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 Delphi scoring panel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798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5-8 category experts for structured scoring rounds during strategy 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historical V1-V11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03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backtesting and empirical calibration of model parameters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 iterations per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run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060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linking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0372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running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(free APIs)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PULSE: Profit Pool Simulation Engine — CEO Briefing</dc:title>
  <dc:subject>PptxGenJS Presentation</dc:subject>
  <dc:creator>Bain &amp; Company</dc:creator>
  <cp:lastModifiedBy>Bain &amp; Company</cp:lastModifiedBy>
  <cp:revision>1</cp:revision>
  <dcterms:created xsi:type="dcterms:W3CDTF">2026-03-30T07:57:00Z</dcterms:created>
  <dcterms:modified xsi:type="dcterms:W3CDTF">2026-03-30T07:57:00Z</dcterms:modified>
</cp:coreProperties>
</file>