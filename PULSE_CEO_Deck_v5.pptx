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54864" cy="18288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 Intelligence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Bayesian simulation platform that transforms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force assessment into decision intelligence.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will your 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pools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five years?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companies that answer this question first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define the next decade of consumer goods.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pools are shifting — fast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399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Deal, PFAS bans, EPR mandates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rewriting category economics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399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beauty, premiumization, value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reshape demand curves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542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biotech, DTC platforms disrupt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the value chain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542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label growth and channel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squeeze branded margins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85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costs, water scarcity, packaging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levies hit the bottom 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3375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685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brands, cross-category entry,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M&amp;A redraw the competitive map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companies react. Leaders anticipate.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749040" cy="34747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960120"/>
            <a:ext cx="3749040" cy="347472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Approach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Needed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Static, annual assessments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Point estimates without uncertainty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151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Forces analyzed in isolation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145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competitive response modeling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Backward-looking calibration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Living, probabilistic simulation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uncertainty quantification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151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Causal force propagation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145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Game-theoretic competitor modeling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Backtested for credibility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privacy-first, AI-augmented simulation engine that models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strategic forces reshape profit pools across categories and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43200"/>
            <a:ext cx="54864" cy="146304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Monte Carlo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10,000+ scenarios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743200"/>
            <a:ext cx="54864" cy="146304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8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maps how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propagate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743200"/>
            <a:ext cx="54864" cy="146304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for action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PULSE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280160"/>
            <a:ext cx="640080" cy="64008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expert assessments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forces and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trends. Validate.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financial data enters.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65176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5156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280160"/>
            <a:ext cx="640080" cy="64008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661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10,000+ Monte Carlo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with causal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propagation, copula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game theory.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309360" y="1051560"/>
            <a:ext cx="265176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05156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1280160"/>
            <a:ext cx="640080" cy="64008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+ Optimizer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percentage shifts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 and year.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resource allocation.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executive narrative.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forces shape every profit pool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94760" cy="86868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shifts, premiumization, clean beauty, health consciousness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794760" cy="86868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consolidation, private label growth, channel power dynamics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3794760" cy="86868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14884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194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AI/biotech, DTC platforms, smart manufacturing, digital commerce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148840"/>
            <a:ext cx="3794760" cy="86868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14884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94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Deal, PFAS regulation, EPR mandates, compliance costs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3794760" cy="86868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24612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91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impact, water scarcity, packaging levies, sustainability pressure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3794760" cy="86868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24612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91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brands, M&amp;A activity, cross-category entry, price wars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force contains 8–12 individually scored trends — 60+ in total across all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don’t act alone — they propagate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uses a Causal DAG to model how a shock in one force propagates to others — with calibrated weights and time lags.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0" y="1892808"/>
            <a:ext cx="-2560320" cy="45720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892808"/>
            <a:ext cx="2194560" cy="164592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892808"/>
            <a:ext cx="2743200" cy="45720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3538728"/>
            <a:ext cx="4297680" cy="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3538728"/>
            <a:ext cx="2103120" cy="36576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350008"/>
            <a:ext cx="457200" cy="118872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2350008"/>
            <a:ext cx="2560320" cy="155448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2350008"/>
            <a:ext cx="4754880" cy="118872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2350008"/>
            <a:ext cx="-2743200" cy="-45720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2350008"/>
            <a:ext cx="-4846320" cy="118872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538728"/>
            <a:ext cx="-2194560" cy="365760"/>
          </a:xfrm>
          <a:prstGeom prst="line">
            <a:avLst/>
          </a:prstGeom>
          <a:noFill/>
          <a:ln w="19050">
            <a:solidFill>
              <a:srgbClr val="D9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691640"/>
            <a:ext cx="128016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148840"/>
            <a:ext cx="128016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2148840"/>
            <a:ext cx="128016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3337560"/>
            <a:ext cx="128016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5" name="Text 23"/>
          <p:cNvSpPr/>
          <p:nvPr/>
        </p:nvSpPr>
        <p:spPr>
          <a:xfrm>
            <a:off x="173736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337560"/>
            <a:ext cx="128016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3703320"/>
            <a:ext cx="128016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453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EU regulation (Gov) → reformulation costs (Tech) → shelf price (Customer) → demand shift (Consumer)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guesses — Bayesian probabilities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give you a single number.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gives you a full probability distribution.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54864" cy="47548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Priors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expert knowledge, update with evidence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432304"/>
            <a:ext cx="54864" cy="47548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2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Dependencies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679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how risks cluster together in crises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54864" cy="47548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54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Simulations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00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posterior distribution, not a point estimate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75888"/>
            <a:ext cx="54864" cy="47548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75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Tested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Gelman-Rubin R-hat &lt; 1.05 for statistical rigor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1051560"/>
            <a:ext cx="36576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161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Distribution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674582"/>
            <a:ext cx="164592" cy="120178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21" name="Shape 19"/>
          <p:cNvSpPr/>
          <p:nvPr/>
        </p:nvSpPr>
        <p:spPr>
          <a:xfrm>
            <a:off x="5504688" y="3554403"/>
            <a:ext cx="164592" cy="240357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22" name="Shape 20"/>
          <p:cNvSpPr/>
          <p:nvPr/>
        </p:nvSpPr>
        <p:spPr>
          <a:xfrm>
            <a:off x="5705856" y="3344091"/>
            <a:ext cx="164592" cy="450669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07024" y="3043646"/>
            <a:ext cx="164592" cy="751114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8192" y="2653066"/>
            <a:ext cx="164592" cy="114169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292531"/>
            <a:ext cx="164592" cy="1502229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0528" y="1931997"/>
            <a:ext cx="164592" cy="1862763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Shape 25"/>
          <p:cNvSpPr/>
          <p:nvPr/>
        </p:nvSpPr>
        <p:spPr>
          <a:xfrm>
            <a:off x="6711696" y="1691640"/>
            <a:ext cx="164592" cy="21031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12864" y="1841863"/>
            <a:ext cx="164592" cy="1952897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114032" y="2232442"/>
            <a:ext cx="164592" cy="156231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2653066"/>
            <a:ext cx="164592" cy="114169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1" name="Shape 29"/>
          <p:cNvSpPr/>
          <p:nvPr/>
        </p:nvSpPr>
        <p:spPr>
          <a:xfrm>
            <a:off x="7516368" y="3043646"/>
            <a:ext cx="164592" cy="751114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17536" y="3344091"/>
            <a:ext cx="164592" cy="450669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33" name="Shape 31"/>
          <p:cNvSpPr/>
          <p:nvPr/>
        </p:nvSpPr>
        <p:spPr>
          <a:xfrm>
            <a:off x="7918704" y="3554403"/>
            <a:ext cx="164592" cy="240357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34" name="Shape 32"/>
          <p:cNvSpPr/>
          <p:nvPr/>
        </p:nvSpPr>
        <p:spPr>
          <a:xfrm>
            <a:off x="8119872" y="3674582"/>
            <a:ext cx="164592" cy="120178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0" y="3840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0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4023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Expansion          Contraction →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Five-year paths, not two-point snapshots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models continuous trajectories from 2026 to 2030. Velocity tracking and early-warning triggers enable path-dependent strategy.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28346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9204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6092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0240"/>
            <a:ext cx="6583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395728"/>
            <a:ext cx="6583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871216"/>
            <a:ext cx="6583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346704"/>
            <a:ext cx="6583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822192"/>
            <a:ext cx="6583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743200"/>
            <a:ext cx="1234440" cy="27432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2743200"/>
            <a:ext cx="1234440" cy="45720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7640" y="2697480"/>
            <a:ext cx="1234440" cy="73152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2651760"/>
            <a:ext cx="1234440" cy="100584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2606040"/>
            <a:ext cx="914400" cy="123444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08760" y="2880360"/>
            <a:ext cx="1234440" cy="91440"/>
          </a:xfrm>
          <a:prstGeom prst="line">
            <a:avLst/>
          </a:prstGeom>
          <a:noFill/>
          <a:ln w="38100">
            <a:solidFill>
              <a:srgbClr val="E100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971800"/>
            <a:ext cx="1234440" cy="91440"/>
          </a:xfrm>
          <a:prstGeom prst="line">
            <a:avLst/>
          </a:prstGeom>
          <a:noFill/>
          <a:ln w="38100">
            <a:solidFill>
              <a:srgbClr val="E100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3063240"/>
            <a:ext cx="1234440" cy="137160"/>
          </a:xfrm>
          <a:prstGeom prst="line">
            <a:avLst/>
          </a:prstGeom>
          <a:noFill/>
          <a:ln w="38100">
            <a:solidFill>
              <a:srgbClr val="E100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3200400"/>
            <a:ext cx="1234440" cy="137160"/>
          </a:xfrm>
          <a:prstGeom prst="line">
            <a:avLst/>
          </a:prstGeom>
          <a:noFill/>
          <a:ln w="38100">
            <a:solidFill>
              <a:srgbClr val="E100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1664208"/>
            <a:ext cx="274320" cy="13716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28" name="Text 26"/>
          <p:cNvSpPr/>
          <p:nvPr/>
        </p:nvSpPr>
        <p:spPr>
          <a:xfrm>
            <a:off x="1691640" y="1627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CI Band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1728216"/>
            <a:ext cx="274320" cy="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627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3703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-5%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output: the Shift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table of percentage shifts by category, year, and confidence level. Apply directly to financial models.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43584"/>
                <a:gridCol w="1243584"/>
                <a:gridCol w="1243584"/>
                <a:gridCol w="1243584"/>
                <a:gridCol w="124358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Hair: 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Hair: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FCN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0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ADW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median shifts. Full output includes p10, p25, p75, p90 bands plus causal decomposition.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7863840" cy="384048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0416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  GP1 projected  =  GP1 actual  ×  (1 + shift %)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Delphi Process: structured expert scoring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ad-hoc scoring with a rigorous, debiased, multi-round elicitation protocol.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27432" cy="274320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44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Pre-Workshop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463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known-outcome historical trends to each scorer. Detect systematic biases (optimism, anchoring, recency). Compute calibration factors.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2788920"/>
            <a:ext cx="27432" cy="274320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441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240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expert scores impact (1–5) and probability (1–5) for every trend — blind, without seeing others’ scores. Documented rationale required.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3566160"/>
            <a:ext cx="27432" cy="274320"/>
          </a:xfrm>
          <a:prstGeom prst="rect">
            <a:avLst/>
          </a:prstGeom>
          <a:solidFill>
            <a:srgbClr val="D9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Re-Scoring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anonymized score distribution across all scorers. Experts re-score with group context. Measure inter-rater reliability (Krippendorff’s α).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3776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&amp; Debiasing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794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outlier scores in structured session. Apply bias correction factors. Final score = weighted median by calibration accuracy.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453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 α &gt; 0.67 required  |  Bias-corrected  |  Full audit trail  |  Scores feed Bayesian priors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Competitors will respond — we model that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game-theoretic layer models likely competitive responses. Iterative Nash equilibrium converges to a stable outcome.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606040" cy="210312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54864" cy="21031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Defender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Innovation-led defense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Premiumize further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&amp; comply early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2606040" cy="210312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00200"/>
            <a:ext cx="54864" cy="21031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Leader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148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rationalization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compliance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disruptors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606040" cy="210312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00200"/>
            <a:ext cx="54864" cy="21031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Specialist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core categories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tech adoption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public market intelligence — no competitor financials enter the model.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analysis to action: allocation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answers: so what should we do?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606040" cy="22860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2606040" cy="411480"/>
          </a:xfrm>
          <a:prstGeom prst="rect">
            <a:avLst/>
          </a:prstGeom>
          <a:solidFill>
            <a:srgbClr val="1B7A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MORE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Care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ADW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pools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momentum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554480"/>
            <a:ext cx="2606040" cy="22860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554480"/>
            <a:ext cx="2606040" cy="4114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FCN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Color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pools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protection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2606040" cy="22860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554480"/>
            <a:ext cx="2606040" cy="4114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pools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low growth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recommendations are in relative weights — never absolute currency amounts.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earns credibility first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uses historical versions (V1–V11) and actual market data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calibrate parameters. It proves accuracy before predicting.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146304" cy="14630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factor (derived, not assumed)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46304" cy="14630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shapes (learned from errors)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46304" cy="14630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96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weights (fitted to history)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46304" cy="14630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80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 (empirical, not flat)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19856"/>
            <a:ext cx="146304" cy="14630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64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score (reported to ExCo)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1325880"/>
            <a:ext cx="3291840" cy="27432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Report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54864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historical shifts predicted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80% confidence interval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V1–V11 historical versions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actual Euromonitor market data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by architecture, not by policy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94760" cy="30175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3794760" cy="384048"/>
          </a:xfrm>
          <a:prstGeom prst="rect">
            <a:avLst/>
          </a:prstGeom>
          <a:solidFill>
            <a:srgbClr val="1B7A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PULSE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Trend names &amp; descriptions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Impact / probability scores (1–5)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322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Direction (expansion / contraction)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names (public knowledge)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Causal propagation weights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market data (Euromonitor)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3794760" cy="30175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051560"/>
            <a:ext cx="3794760" cy="3840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051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ENTERS PULSE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Net External Sales (NES)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Gross Profit (GP1, GP2)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322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Regional financial splits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706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Cost structures (COGS, OpEx)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Company market shares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Management unit financials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are structurally excluded — enforced by schema, firewall, and automated tests.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War Room: one screen tells the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Pool Shift: -3.1%   |   80% CI: [-1.5%, -5.5%]   |   Accuracy: 73%   |   Velocity: Accelerating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4572000" cy="251460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× Category Heatmap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63040" y="17830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7830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783080"/>
            <a:ext cx="640080" cy="411480"/>
          </a:xfrm>
          <a:prstGeom prst="rect">
            <a:avLst/>
          </a:prstGeom>
          <a:solidFill>
            <a:srgbClr val="3B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783080"/>
            <a:ext cx="640080" cy="411480"/>
          </a:xfrm>
          <a:prstGeom prst="rect">
            <a:avLst/>
          </a:prstGeom>
          <a:solidFill>
            <a:srgbClr val="5C4B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783080"/>
            <a:ext cx="640080" cy="411480"/>
          </a:xfrm>
          <a:prstGeom prst="rect">
            <a:avLst/>
          </a:prstGeom>
          <a:solidFill>
            <a:srgbClr val="3B3B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22402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48840" y="22402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22402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22402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2240280"/>
            <a:ext cx="640080" cy="411480"/>
          </a:xfrm>
          <a:prstGeom prst="rect">
            <a:avLst/>
          </a:prstGeom>
          <a:solidFill>
            <a:srgbClr val="4B4B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488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26974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26974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2062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3154680"/>
            <a:ext cx="640080" cy="411480"/>
          </a:xfrm>
          <a:prstGeom prst="rect">
            <a:avLst/>
          </a:prstGeom>
          <a:solidFill>
            <a:srgbClr val="5C5C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48840" y="31546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154680"/>
            <a:ext cx="640080" cy="411480"/>
          </a:xfrm>
          <a:prstGeom prst="rect">
            <a:avLst/>
          </a:prstGeom>
          <a:solidFill>
            <a:srgbClr val="4B3B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31546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206240" y="31546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9" name="Shape 27"/>
          <p:cNvSpPr/>
          <p:nvPr/>
        </p:nvSpPr>
        <p:spPr>
          <a:xfrm>
            <a:off x="5349240" y="1371600"/>
            <a:ext cx="2788920" cy="251460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Panel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32120" y="1737360"/>
            <a:ext cx="242316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2" name="Shape 30"/>
          <p:cNvSpPr/>
          <p:nvPr/>
        </p:nvSpPr>
        <p:spPr>
          <a:xfrm>
            <a:off x="5532120" y="2103120"/>
            <a:ext cx="242316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3" name="Shape 31"/>
          <p:cNvSpPr/>
          <p:nvPr/>
        </p:nvSpPr>
        <p:spPr>
          <a:xfrm>
            <a:off x="5532120" y="2468880"/>
            <a:ext cx="242316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4" name="Shape 32"/>
          <p:cNvSpPr/>
          <p:nvPr/>
        </p:nvSpPr>
        <p:spPr>
          <a:xfrm>
            <a:off x="5532120" y="2834640"/>
            <a:ext cx="242316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4023360"/>
            <a:ext cx="7498080" cy="68580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Timeline 2026 — 2030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371600" y="4480560"/>
            <a:ext cx="5943600" cy="13716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engine: shock, propagate, decide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88136"/>
            <a:ext cx="347472" cy="347472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expert scores, causal DAG active, no external shocks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527048"/>
            <a:ext cx="78638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55064"/>
            <a:ext cx="347472" cy="347472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55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6184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Squeeze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shock → Government, Technology, Customer, Consumer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093976"/>
            <a:ext cx="78638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221992"/>
            <a:ext cx="347472" cy="347472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1854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Disruption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18541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shock → Consumer adoption, Competitive gaps, Channel shift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660904"/>
            <a:ext cx="78638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788920"/>
            <a:ext cx="347472" cy="347472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7523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275234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shock → Customer margin pressure, Consumer trading down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227832"/>
            <a:ext cx="78638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355848"/>
            <a:ext cx="347472" cy="347472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319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Cascade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3192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shock → propagates through DAG with lag structure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794760"/>
            <a:ext cx="78638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922776"/>
            <a:ext cx="347472" cy="347472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Storm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0" y="3886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tail event — t-copula at 1st percentile (crisis scenario)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scenarios: user shocks a specific force, the Causal DAG propagates the rest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augments judgment — never replaces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94760" cy="1371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19 free-tier data sources continuously.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new developments. Weekly digest.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0756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GDELT, GNews, RSS, ECHA, EPO, Google Trends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794760" cy="1371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5156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435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expert scores for consistency.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against real-world trajectory data.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20756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 + external benchmarks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3794760" cy="1371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5176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Narrator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035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Shift Matrix into executive narrative.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causal propagation in plain language.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3675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from relative data 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3794760" cy="1371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5176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35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about the model.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queries get redirected.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675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Provider-agnostic: Claude API (MVP) → Azure OpenAI (production) via single config change.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proven, enterprise-grade tech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6858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54864" cy="6858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143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3.11+, NumPy, SciPy,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NetworkX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143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Monte Carlo,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dependencies,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propagation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78638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984248"/>
            <a:ext cx="54864" cy="6858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842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9842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Pydantic, SQLite,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19842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validation,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zero-financial schema,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25496"/>
            <a:ext cx="7863840" cy="6858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25496"/>
            <a:ext cx="54864" cy="6858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82549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82549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D3, Recharts,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Tailwind, Framer Motion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282549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War Room,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animations,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Apple-grade UX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66744"/>
            <a:ext cx="78638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66744"/>
            <a:ext cx="54864" cy="6858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66674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66674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ABC,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Azure OpenAI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66674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scanning,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narration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788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running cost: €0/year — All 19 external APIs are free tier. No vendor lock-in.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with DX: MVP to enterprise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06040" cy="22860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22860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engine, CLI,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output.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concept.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874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1051560"/>
            <a:ext cx="2606040" cy="22860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051560"/>
            <a:ext cx="54864" cy="22860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554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Team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874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92240" y="1051560"/>
            <a:ext cx="2606040" cy="22860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051560"/>
            <a:ext cx="54864" cy="22860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554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Owned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tenant hosting,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access control,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 reporting.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Engagement Steps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922776"/>
            <a:ext cx="201168" cy="20116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22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32688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MVP code + spec to DX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20440" y="3922776"/>
            <a:ext cx="201168" cy="20116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922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13048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tenant setup + CI/CD pipeline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3922776"/>
            <a:ext cx="201168" cy="20116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922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93408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+ InfoSec approval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4306824"/>
            <a:ext cx="201168" cy="20116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32688" y="4270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deployment + SSO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20440" y="4306824"/>
            <a:ext cx="201168" cy="20116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13048" y="4270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 integration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4306824"/>
            <a:ext cx="201168" cy="20116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93408" y="4270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quarterly model updates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delivery — standalone value at each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863840" cy="0"/>
          </a:xfrm>
          <a:prstGeom prst="line">
            <a:avLst/>
          </a:prstGeom>
          <a:noFill/>
          <a:ln w="317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63040"/>
            <a:ext cx="457200" cy="457200"/>
          </a:xfrm>
          <a:prstGeom prst="oval">
            <a:avLst/>
          </a:prstGeom>
          <a:solidFill>
            <a:srgbClr val="E1000F"/>
          </a:solidFill>
          <a:ln w="25400">
            <a:solidFill>
              <a:srgbClr val="E100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Calibration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V1–V11,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parameters,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credibility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1463040"/>
            <a:ext cx="457200" cy="457200"/>
          </a:xfrm>
          <a:prstGeom prst="oval">
            <a:avLst/>
          </a:prstGeom>
          <a:solidFill>
            <a:srgbClr val="FFFFFF"/>
          </a:solidFill>
          <a:ln w="25400">
            <a:solidFill>
              <a:srgbClr val="E100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 (CLI)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DAG, optimizer,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output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1463040"/>
            <a:ext cx="457200" cy="457200"/>
          </a:xfrm>
          <a:prstGeom prst="oval">
            <a:avLst/>
          </a:prstGeom>
          <a:solidFill>
            <a:srgbClr val="FFFFFF"/>
          </a:solidFill>
          <a:ln w="25400">
            <a:solidFill>
              <a:srgbClr val="E100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heatmap,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visualization,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center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43800" y="1463040"/>
            <a:ext cx="457200" cy="457200"/>
          </a:xfrm>
          <a:prstGeom prst="oval">
            <a:avLst/>
          </a:prstGeom>
          <a:solidFill>
            <a:srgbClr val="FFFFFF"/>
          </a:solidFill>
          <a:ln w="25400">
            <a:solidFill>
              <a:srgbClr val="E100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6948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scanner, calibrator,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narrator, chat interface,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8C8C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0416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standalone value. Phase 1 alone provides a probabilistic, causally-structured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simulation. Every subsequent phase compounds the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84048" cy="38404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PULSE as the strategic profit pool simulation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84048" cy="38404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DX resources for cloud deployment (Phase 2–3)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384048" cy="38404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83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pilot run with one business unit (Hair or LHC)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built. The methodology is proven.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to simulate — it’s how fast we can scale.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Profit Pool Intelligence Engine</dc:title>
  <dc:subject>PptxGenJS Presentation</dc:subject>
  <dc:creator>Strategy Team</dc:creator>
  <cp:lastModifiedBy>Strategy Team</cp:lastModifiedBy>
  <cp:revision>1</cp:revision>
  <dcterms:created xsi:type="dcterms:W3CDTF">2026-03-27T07:25:39Z</dcterms:created>
  <dcterms:modified xsi:type="dcterms:W3CDTF">2026-03-27T07:25:39Z</dcterms:modified>
</cp:coreProperties>
</file>