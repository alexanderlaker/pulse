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3774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320040"/>
            <a:ext cx="23774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0" y="320040"/>
            <a:ext cx="23774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STRATEGIC LENSES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  ×  Value Chain  ×  Consumer Journey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743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PRISM needs all three — and how they differ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money being made — and where is it shifting?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firm create value — and where is the edge?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320040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consumer spend time — and who captures it?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 MODEL  |  Page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POOLS DIFFER FROM A VALUE CHAIN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complementary frameworks — same reality, different questions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3749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161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1615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" y="158191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Bain (Gadiesh / Gilbert, 1998)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82880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where profit concentrates across an industry’s segments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absolute profit share by segment, channel, and price tier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 disproportionate value capture — who earns vs. who works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profit migration over time — pools shift before revenue does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3337560"/>
            <a:ext cx="2386584" cy="594360"/>
          </a:xfrm>
          <a:prstGeom prst="rect">
            <a:avLst/>
          </a:prstGeom>
          <a:solidFill>
            <a:srgbClr val="1A2332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336499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3538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money being made — and where is it migrating?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" y="405079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concentration (% by segment)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— where to compete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06040" cy="3749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2161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76472" y="121615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10712" y="158191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 (1985) — firm-inward, supply-side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410712" y="182880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how internal activities create competitive advantage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cost drivers and differentiation sources within the firm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operational optimization along the supply-side chain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Raw Materials → Manufacturing → Distribution → Retail → Consumer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55848" y="3337560"/>
            <a:ext cx="2386584" cy="594360"/>
          </a:xfrm>
          <a:prstGeom prst="rect">
            <a:avLst/>
          </a:prstGeom>
          <a:solidFill>
            <a:srgbClr val="1A2332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47288" y="336499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3447288" y="3538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is our firm creating value — and where is cost or advantage?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10712" y="405079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and margin contribution by activity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improvement — how to compete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035040" y="1051560"/>
            <a:ext cx="2606040" cy="3749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35040" y="105156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65392" y="121615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199632" y="158191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Demand-side lifecycle (extended from Court et al., 2009)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199632" y="182880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where consumers create and extend value across the full usage lifecycle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profit migration beyond the product — from what you buy to how you use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white spots where profit forms but no incumbent plays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Sorting → Washing → Drying → Storing → Wearing → Between Washes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144768" y="3337560"/>
            <a:ext cx="2386584" cy="594360"/>
          </a:xfrm>
          <a:prstGeom prst="rect">
            <a:avLst/>
          </a:prstGeom>
          <a:solidFill>
            <a:srgbClr val="1A2332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36208" y="336499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6236208" y="35387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the consumer spend time and money — and who captures it?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199632" y="405079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value moments captured (% stages × pool/stage)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expansion — where to play next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 MODEL  |  Page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LENSES, ONE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lens answers a different strategic question — together they complete the picture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categories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attractive?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5087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have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or differentiation edge?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adjacencies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we enter next?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8046720" cy="1828800"/>
          </a:xfrm>
          <a:prstGeom prst="rect">
            <a:avLst/>
          </a:prstGeom>
          <a:solidFill>
            <a:srgbClr val="1A233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260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DISTINCTION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which categories are attractive — it’s a snapshot of industry economics and where they’re migrating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where you have advantage within activities you control — it’s firm-inward, supply-side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where the consumer creates and experiences value — it’s demand-side, surfaces non-FMCG competitors, and reveals white spots where profit is forming but no incumbent plays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 MODEL  |  Page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Strategic Lenses</dc:title>
  <dc:subject>PptxGenJS Presentation</dc:subject>
  <dc:creator>PRISM Strategy Team</dc:creator>
  <cp:lastModifiedBy>PRISM Strategy Team</cp:lastModifiedBy>
  <cp:revision>1</cp:revision>
  <dcterms:created xsi:type="dcterms:W3CDTF">2026-03-30T12:38:55Z</dcterms:created>
  <dcterms:modified xsi:type="dcterms:W3CDTF">2026-03-30T12:38:55Z</dcterms:modified>
</cp:coreProperties>
</file>