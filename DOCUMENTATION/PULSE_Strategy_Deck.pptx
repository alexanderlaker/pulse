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 (bear)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-0.8</c:v>
                </c:pt>
                <c:pt idx="1">
                  <c:v>-1.9</c:v>
                </c:pt>
                <c:pt idx="2">
                  <c:v>-3.1</c:v>
                </c:pt>
                <c:pt idx="3">
                  <c:v>-4.8</c:v>
                </c:pt>
                <c:pt idx="4">
                  <c:v>-6.5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-0.3</c:v>
                </c:pt>
                <c:pt idx="1">
                  <c:v>-0.8</c:v>
                </c:pt>
                <c:pt idx="2">
                  <c:v>-1.4</c:v>
                </c:pt>
                <c:pt idx="3">
                  <c:v>-2.3</c:v>
                </c:pt>
                <c:pt idx="4">
                  <c:v>-3.2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p10 (bull)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-0.1</c:v>
                </c:pt>
                <c:pt idx="1">
                  <c:v>-0.3</c:v>
                </c:pt>
                <c:pt idx="2">
                  <c:v>-0.6</c:v>
                </c:pt>
                <c:pt idx="3">
                  <c:v>-1</c:v>
                </c:pt>
                <c:pt idx="4">
                  <c:v>-1.5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assessments leave critical strategic value unoptimized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Rationale: Why PULSE is needed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749040" cy="301752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 scores (1-5) mask uncertainty — no confidence intervals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221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 V12 is updated annually — market moves weekly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treated independently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770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causal propagation — regulatory shock ≠ tech shock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response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Pool shifts modeled in isolation from competitor actions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867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Unstructured scoring process introduces systematic bias</a:t>
            </a:r>
            <a:endParaRPr lang="en-US" sz="8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56032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1371600"/>
            <a:ext cx="3749040" cy="301752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0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distributions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49240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probability distributions with 80% confidence intervals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path modeling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49240" y="2221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paths 2026-2030 with velocity tracking &amp; triggers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02920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propagation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349240" y="27706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Shocks propagate through directed causal network with lags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responses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49240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Competitor archetypes model second-order pool effects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02920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Delphi-calibrated scoring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49240" y="3867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multi-round protocol with debiasing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/ 8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transforms expert judgment into probabilistic profit pool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Concept: A simulation engine, not a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377440" cy="25603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Expert force assessments (V12)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2496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AI-scouted market signals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Delphi-calibrated scores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3008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 DAG structure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3264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Historical backtest data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17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383280" y="1143000"/>
            <a:ext cx="2377440" cy="25603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ENGINE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2240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Bayesian Monte Carlo (10K iter.)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566160" y="2496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Copula dependency modeling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6616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 shock propagation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566160" y="3008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Game-theoretic competition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566160" y="3264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 allocation optimizer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7607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6126480" y="1143000"/>
            <a:ext cx="2377440" cy="256032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09360" y="2240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Shift Matrix (% by cat × year)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09360" y="2496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 paths 2026-2030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30936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 decomposition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309360" y="3008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Allocation recommendations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309360" y="3264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Early-warning triggers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7"/>
          <p:cNvSpPr/>
          <p:nvPr/>
        </p:nvSpPr>
        <p:spPr>
          <a:xfrm>
            <a:off x="731520" y="4023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Principle: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outputs relative shifts only (%). Users apply shifts to their own financials. PULSE never sees €M figures.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8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workflow from expert scoring to strategic 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Process: How teams interact with PULSE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2940" y="1097280"/>
            <a:ext cx="1417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" y="1097280"/>
            <a:ext cx="1417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280160"/>
            <a:ext cx="402336" cy="402336"/>
          </a:xfrm>
          <a:prstGeom prst="oval">
            <a:avLst/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28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38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4380" y="28803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expert elicitation with calibration &amp; debiasing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08026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263140" y="1097280"/>
            <a:ext cx="1417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63140" y="1097280"/>
            <a:ext cx="1417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2770632" y="1280160"/>
            <a:ext cx="402336" cy="402336"/>
          </a:xfrm>
          <a:prstGeom prst="oval">
            <a:avLst/>
          </a:prstGeom>
          <a:solidFill>
            <a:srgbClr val="CFFAFE"/>
          </a:solidFill>
          <a:ln/>
        </p:spPr>
      </p:sp>
      <p:sp>
        <p:nvSpPr>
          <p:cNvPr id="16" name="Text 13"/>
          <p:cNvSpPr/>
          <p:nvPr/>
        </p:nvSpPr>
        <p:spPr>
          <a:xfrm>
            <a:off x="277063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8288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5458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354580" y="28803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scanning of 19 free APIs for new market signals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68046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3863340" y="1097280"/>
            <a:ext cx="1417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63340" y="1097280"/>
            <a:ext cx="1417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9"/>
          <p:cNvSpPr/>
          <p:nvPr/>
        </p:nvSpPr>
        <p:spPr>
          <a:xfrm>
            <a:off x="4370832" y="1280160"/>
            <a:ext cx="402336" cy="402336"/>
          </a:xfrm>
          <a:prstGeom prst="oval">
            <a:avLst/>
          </a:prstGeom>
          <a:solidFill>
            <a:srgbClr val="DBEAFE"/>
          </a:solidFill>
          <a:ln/>
        </p:spPr>
      </p:sp>
      <p:sp>
        <p:nvSpPr>
          <p:cNvPr id="24" name="Text 20"/>
          <p:cNvSpPr/>
          <p:nvPr/>
        </p:nvSpPr>
        <p:spPr>
          <a:xfrm>
            <a:off x="437083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2880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5478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954780" y="28803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 Monte Carlo iterations with causal propagation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528066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5463540" y="1097280"/>
            <a:ext cx="1417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63540" y="1097280"/>
            <a:ext cx="14173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Shape 26"/>
          <p:cNvSpPr/>
          <p:nvPr/>
        </p:nvSpPr>
        <p:spPr>
          <a:xfrm>
            <a:off x="5971032" y="1280160"/>
            <a:ext cx="402336" cy="402336"/>
          </a:xfrm>
          <a:prstGeom prst="oval">
            <a:avLst/>
          </a:prstGeom>
          <a:solidFill>
            <a:srgbClr val="DCFCE7"/>
          </a:solidFill>
          <a:ln/>
        </p:spPr>
      </p:sp>
      <p:sp>
        <p:nvSpPr>
          <p:cNvPr id="32" name="Text 27"/>
          <p:cNvSpPr/>
          <p:nvPr/>
        </p:nvSpPr>
        <p:spPr>
          <a:xfrm>
            <a:off x="597103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2880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5498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554980" y="28803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shifts by category × year with full confidence intervals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688086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Shape 31"/>
          <p:cNvSpPr/>
          <p:nvPr/>
        </p:nvSpPr>
        <p:spPr>
          <a:xfrm>
            <a:off x="7063740" y="1097280"/>
            <a:ext cx="14173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63740" y="1097280"/>
            <a:ext cx="1417320" cy="54864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39" name="Shape 33"/>
          <p:cNvSpPr/>
          <p:nvPr/>
        </p:nvSpPr>
        <p:spPr>
          <a:xfrm>
            <a:off x="7571232" y="1280160"/>
            <a:ext cx="402336" cy="402336"/>
          </a:xfrm>
          <a:prstGeom prst="oval">
            <a:avLst/>
          </a:prstGeom>
          <a:solidFill>
            <a:srgbClr val="FEF3C7"/>
          </a:solidFill>
          <a:ln/>
        </p:spPr>
      </p:sp>
      <p:sp>
        <p:nvSpPr>
          <p:cNvPr id="40" name="Text 34"/>
          <p:cNvSpPr/>
          <p:nvPr/>
        </p:nvSpPr>
        <p:spPr>
          <a:xfrm>
            <a:off x="757123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828800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15518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 Impact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Action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155180" y="28803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shifts to financials and optimize allocation of resources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38"/>
          <p:cNvSpPr/>
          <p:nvPr/>
        </p:nvSpPr>
        <p:spPr>
          <a:xfrm>
            <a:off x="731520" y="41422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Quarterly Rhythm: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Calibration  →  Q2 Full Simulation  →  Q3 Mid-Year Refresh  →  Q4 Budget Integration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8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protocol replaces unstructured scoring with calibrated consensus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Dive: Expert Elicitation with Debiasing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24688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246888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261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Blind scoring (1-5 impact, 1-5 probability)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130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Written rationale required per score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25694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Calibration exercise: score known-outcome historical trends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group discussion — pure independent judgment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051560"/>
            <a:ext cx="24688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51560"/>
            <a:ext cx="246888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1261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Re-Scoring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Anonymized distribution shared with all scorers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0" y="2130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cross-validates for internal consistency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0" y="25694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Debiasing: anchoring &amp; optimism corrections applied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0" y="30083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Re-score with full group context visible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644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35040" y="1051560"/>
            <a:ext cx="24688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51560"/>
            <a:ext cx="2468880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1261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Discussion &amp; Consensus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Facilitated discussion of score outliers only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72200" y="2130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Krippendorff's α measured (target: &gt; 0.67)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72200" y="25694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score = weighted median by calibration accuracy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72200" y="30083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scores documented for audit trail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Inter-Rater Reliability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α &gt; 0.67 required to proceed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Calibration Accuracy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vs. known historical outcomes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Bias Detection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Anchoring, optimism, recency flags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Convergence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Scores must stabilize within 3 rounds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'Natural / Clean Beauty' trend drives -3.2% Color pool shift by 2030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Action: From trend scoring to category impact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41148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FORCE  ›  Natural / Clean Beauty Movement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2743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1691640"/>
            <a:ext cx="2743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1691640"/>
            <a:ext cx="2743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691640"/>
            <a:ext cx="2743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017520" y="1691640"/>
            <a:ext cx="27432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91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965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37360" y="1965960"/>
            <a:ext cx="27432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1965960"/>
            <a:ext cx="27432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1965960"/>
            <a:ext cx="27432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1965960"/>
            <a:ext cx="27432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1965960"/>
            <a:ext cx="274320" cy="182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1737360"/>
            <a:ext cx="77724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737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2377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Posterior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560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~ Beta(6, 3)  |  Prob ~ Beta(6, 3)  |  Delphi α = 0.74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2926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Exposure (0-5)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2004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25880" y="322783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1435608" y="322783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1545336" y="322783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5064" y="322783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1764792" y="322783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0" y="32004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06040" y="322783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2715768" y="322783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2825496" y="322783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5224" y="322783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3044952" y="322783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32004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Styling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86200" y="3227832"/>
            <a:ext cx="91440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3995928" y="3227832"/>
            <a:ext cx="91440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Shape 40"/>
          <p:cNvSpPr/>
          <p:nvPr/>
        </p:nvSpPr>
        <p:spPr>
          <a:xfrm>
            <a:off x="4105656" y="322783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4215384" y="322783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4325112" y="322783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3520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Body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325880" y="354787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435608" y="354787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1545336" y="354787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1655064" y="354787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1764792" y="354787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2011680" y="3520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606040" y="354787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Shape 51"/>
          <p:cNvSpPr/>
          <p:nvPr/>
        </p:nvSpPr>
        <p:spPr>
          <a:xfrm>
            <a:off x="2715768" y="354787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825496" y="354787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5" name="Shape 53"/>
          <p:cNvSpPr/>
          <p:nvPr/>
        </p:nvSpPr>
        <p:spPr>
          <a:xfrm>
            <a:off x="2935224" y="3547872"/>
            <a:ext cx="9144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6" name="Shape 54"/>
          <p:cNvSpPr/>
          <p:nvPr/>
        </p:nvSpPr>
        <p:spPr>
          <a:xfrm>
            <a:off x="3044952" y="354787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3291840" y="3520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886200" y="354787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Shape 57"/>
          <p:cNvSpPr/>
          <p:nvPr/>
        </p:nvSpPr>
        <p:spPr>
          <a:xfrm>
            <a:off x="3995928" y="354787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Shape 58"/>
          <p:cNvSpPr/>
          <p:nvPr/>
        </p:nvSpPr>
        <p:spPr>
          <a:xfrm>
            <a:off x="4105656" y="3547872"/>
            <a:ext cx="9144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Shape 59"/>
          <p:cNvSpPr/>
          <p:nvPr/>
        </p:nvSpPr>
        <p:spPr>
          <a:xfrm>
            <a:off x="4215384" y="354787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Shape 60"/>
          <p:cNvSpPr/>
          <p:nvPr/>
        </p:nvSpPr>
        <p:spPr>
          <a:xfrm>
            <a:off x="4325112" y="3547872"/>
            <a:ext cx="91440" cy="146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Shape 61"/>
          <p:cNvSpPr/>
          <p:nvPr/>
        </p:nvSpPr>
        <p:spPr>
          <a:xfrm>
            <a:off x="4846320" y="1051560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983480" y="1143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Color — Shift Path 2026-2030</a:t>
            </a:r>
            <a:endParaRPr lang="en-US" sz="1000" dirty="0"/>
          </a:p>
        </p:txBody>
      </p:sp>
      <p:graphicFrame>
        <p:nvGraphicFramePr>
          <p:cNvPr id="65" name="Chart 0" descr=""/>
          <p:cNvGraphicFramePr/>
          <p:nvPr/>
        </p:nvGraphicFramePr>
        <p:xfrm>
          <a:off x="4937760" y="1417320"/>
          <a:ext cx="35661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6" name="Shape 63"/>
          <p:cNvSpPr/>
          <p:nvPr/>
        </p:nvSpPr>
        <p:spPr>
          <a:xfrm>
            <a:off x="4846320" y="3383280"/>
            <a:ext cx="3749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4983480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Decomposition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4983480" y="37033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Consumer (direct)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7123176" y="3712464"/>
            <a:ext cx="115214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67"/>
          <p:cNvSpPr/>
          <p:nvPr/>
        </p:nvSpPr>
        <p:spPr>
          <a:xfrm>
            <a:off x="9555480" y="36941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-1.8%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983480" y="386791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 → Tech (propagated)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7891272" y="3877056"/>
            <a:ext cx="384048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3" name="Text 70"/>
          <p:cNvSpPr/>
          <p:nvPr/>
        </p:nvSpPr>
        <p:spPr>
          <a:xfrm>
            <a:off x="9555480" y="3858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-0.6%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4983480" y="403250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 → Customer (propagated)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7955280" y="4041648"/>
            <a:ext cx="320040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6" name="Text 73"/>
          <p:cNvSpPr/>
          <p:nvPr/>
        </p:nvSpPr>
        <p:spPr>
          <a:xfrm>
            <a:off x="9555480" y="40233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-0.5%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4983480" y="41970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(direct)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8275320" y="4206240"/>
            <a:ext cx="192024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9" name="Text 76"/>
          <p:cNvSpPr/>
          <p:nvPr/>
        </p:nvSpPr>
        <p:spPr>
          <a:xfrm>
            <a:off x="9555480" y="41879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+0.3%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8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+ React architecture with provider-agnostic AI layer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Technology: Built for enterprise deployment within Henkel's cloud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 LAYER  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War Room (localhost:3000)   |   Excel Bridge (Import/Export)   |   REST API (FastAPI)   |   Power BI Export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LAYER (Provider-Agnostic)  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Trend Scanner   |   Score Calibrator   |   Scenario Narrator   |   NL Chat   |   MVP: Claude → Prod: Azure OpenAI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146304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Bayesian MC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Copulas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0" y="3108960"/>
            <a:ext cx="1371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 DAG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Propagation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49040" y="3108960"/>
            <a:ext cx="1371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Game Theory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Competitive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12080" y="3108960"/>
            <a:ext cx="12801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108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Optimizer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3108960"/>
            <a:ext cx="118872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108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3108960"/>
            <a:ext cx="64008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3108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Delphi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Protocol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37947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 | NumPy | SciPy | pandas | NetworkX | FastAPI | SQLite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38404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DATA: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 |  Excel V12  |  Audit Log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160520"/>
            <a:ext cx="40233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EXTERNAL APIs (19, all free): 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GDELT  GNews  ECHA  Google Trends ...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rollout from CLI MVP to full enterprise deployment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Timeline: 12-month roadmap with clear team responsibilities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1216152"/>
            <a:ext cx="219456" cy="219456"/>
          </a:xfrm>
          <a:prstGeom prst="oval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544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Bayesian MC + Causal Engine  •  Months 1-4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 reads V12 → outputs Shift Matrix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Bayesian MC with copula dependencies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 DAG with shock propagation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V12 parity validation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Backtesting engine (if history avail.)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16552" y="1216152"/>
            <a:ext cx="219456" cy="219456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5544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554480"/>
            <a:ext cx="2560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18470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 Room Dashboard  •  Months 5-8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7560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War Room (single-view)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3756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heatmap + path timeline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3756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 flow animation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37560" y="2606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re-simulation on changes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37560" y="2788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 center (Excel, PPTX, PDF)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9752" y="1216152"/>
            <a:ext cx="219456" cy="219456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15544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1554480"/>
            <a:ext cx="26517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1847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Intelligence + Power BI  •  Months 9-12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35040" y="2057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trend scanner (19 free APIs)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35040" y="2240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calibration + narratives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35040" y="2423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NL chat interface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035040" y="26060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Delphi workflow automation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35040" y="2788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 BI semantic model export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FROM TEAMS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388620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611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 / IT Team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3867912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Python 3.11+ environment provisioning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" y="4014216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Azure OpenAI deployment (Henkel tenant)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160520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Power BI workspace + semantic model setup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4306824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InfoSec review for API integrations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" y="445312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SSO / identity integration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566160"/>
            <a:ext cx="388620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611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Strategy Teams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867912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Participate in Delphi scoring rounds (3×/yr)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46320" y="4014216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Provide V12 Excel + historical versions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46320" y="4160520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Review &amp; validate AI-suggested trends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46320" y="4306824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Define early-warning trigger thresholds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46320" y="4453128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☐  Champion adoption within category teams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8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transforms Henkel's static force assessment into a living, probabilistic strategic decision platform — delivering Bain-grade profit pool intelligence at zero external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Rigor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probability distributions with copula dependencies and backtested credibility scores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65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Intelligence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79476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Directed causal network propagates shocks — each force type has a unique signature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035040" y="182880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65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1938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Awareness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53796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Game-theoretic layer models competitor responses and second-order pool effects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297180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Decision-Ready Outputs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051560" y="3355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Allocation optimizer, early-warning triggers, and continuous paths drive strategic action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3291840" y="297180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089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Running Cost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794760" y="3355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 free APIs, local Python engine, provider-agnostic AI — no recurring license fees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6035040" y="2971800"/>
            <a:ext cx="2560320" cy="10058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1089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3796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537960" y="3355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OpenAI in Henkel tenant, Power BI integration, audit trail — built for ExCo trust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30" name="Text 22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Phase 1 build (4 months) to deliver backtested CLI with Shift Matrix output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PULSE — Profit Pool Unified Landscape Simulation Engine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Profit Pool Simulation Engine</dc:title>
  <dc:subject>PptxGenJS Presentation</dc:subject>
  <dc:creator>Strategy × Technology Partnership</dc:creator>
  <cp:lastModifiedBy>Strategy × Technology Partnership</cp:lastModifiedBy>
  <cp:revision>1</cp:revision>
  <dcterms:created xsi:type="dcterms:W3CDTF">2026-03-27T10:45:19Z</dcterms:created>
  <dcterms:modified xsi:type="dcterms:W3CDTF">2026-03-27T10:45:19Z</dcterms:modified>
</cp:coreProperties>
</file>