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pn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png"/><Relationship Id="rId17" Type="http://schemas.openxmlformats.org/officeDocument/2006/relationships/image" Target="../media/image-11-17.png"/><Relationship Id="rId18" Type="http://schemas.openxmlformats.org/officeDocument/2006/relationships/image" Target="../media/image-11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png"/><Relationship Id="rId15" Type="http://schemas.openxmlformats.org/officeDocument/2006/relationships/image" Target="../media/image-12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image" Target="../media/image-15-14.png"/><Relationship Id="rId15" Type="http://schemas.openxmlformats.org/officeDocument/2006/relationships/image" Target="../media/image-15-15.png"/><Relationship Id="rId16" Type="http://schemas.openxmlformats.org/officeDocument/2006/relationships/image" Target="../media/image-15-16.png"/><Relationship Id="rId17" Type="http://schemas.openxmlformats.org/officeDocument/2006/relationships/image" Target="../media/image-15-17.png"/><Relationship Id="rId18" Type="http://schemas.openxmlformats.org/officeDocument/2006/relationships/image" Target="../media/image-15-18.png"/><Relationship Id="rId19" Type="http://schemas.openxmlformats.org/officeDocument/2006/relationships/image" Target="../media/image-15-19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E1000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91440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1000" kern="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Profit Pool Simulation Engine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2286000" cy="0"/>
          </a:xfrm>
          <a:prstGeom prst="line">
            <a:avLst/>
          </a:prstGeom>
          <a:noFill/>
          <a:ln w="31750">
            <a:solidFill>
              <a:srgbClr val="E10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834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CEO Strategy Briefing  |  Henkel Consumer Brands  |  March 2026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4526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Prepared by Bain &amp; Company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800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841248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1000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PROFIT POOL THINKING?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 share alone no longer predicts value creation in FMCG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3474720" cy="347472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344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4592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16002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growth masks margin erosion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234440" y="1892808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captures 2-3pp of profit pool annually in core European markets</a:t>
            </a:r>
            <a:endParaRPr lang="en-US" sz="9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6974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34440" y="26517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Forces interact causally, not independently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1234440" y="2944368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Regulation drives reformulation cost, which shifts shelf price, which changes consumer behavior</a:t>
            </a:r>
            <a:endParaRPr lang="en-US" sz="9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749040"/>
            <a:ext cx="320040" cy="3200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37033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Static models miss structural shifts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1234440" y="3995928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Excel-based assessment lacks probabilistic rigor and causal propagation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4206240" y="25603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2400" dirty="0"/>
          </a:p>
        </p:txBody>
      </p:sp>
      <p:sp>
        <p:nvSpPr>
          <p:cNvPr id="17" name="Shape 12"/>
          <p:cNvSpPr/>
          <p:nvPr/>
        </p:nvSpPr>
        <p:spPr>
          <a:xfrm>
            <a:off x="5120640" y="1097280"/>
            <a:ext cx="3474720" cy="3474720"/>
          </a:xfrm>
          <a:prstGeom prst="rect">
            <a:avLst/>
          </a:prstGeom>
          <a:solidFill>
            <a:srgbClr val="FFFFFF"/>
          </a:solidFill>
          <a:ln w="19050">
            <a:solidFill>
              <a:srgbClr val="E1000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303520" y="12344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756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ANSWER: PULSE</a:t>
            </a:r>
            <a:endParaRPr lang="en-US" sz="9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1645920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806440" y="16002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where profit migrates — before the P&amp;L shows it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5806440" y="1892808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Probabilistic simulation gives 2-3 year lead time on structural shifts</a:t>
            </a:r>
            <a:endParaRPr lang="en-US" sz="90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2697480"/>
            <a:ext cx="320040" cy="32004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806440" y="26517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Causal propagation models real-world interdependencies</a:t>
            </a:r>
            <a:endParaRPr lang="en-US" sz="1050" dirty="0"/>
          </a:p>
        </p:txBody>
      </p:sp>
      <p:sp>
        <p:nvSpPr>
          <p:cNvPr id="24" name="Text 17"/>
          <p:cNvSpPr/>
          <p:nvPr/>
        </p:nvSpPr>
        <p:spPr>
          <a:xfrm>
            <a:off x="5806440" y="2944368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regulatory shock cascades through technology, cost, and consumer behavior</a:t>
            </a:r>
            <a:endParaRPr lang="en-US" sz="9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9240" y="3749040"/>
            <a:ext cx="320040" cy="32004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806440" y="37033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Allocate resources to highest-value pools</a:t>
            </a:r>
            <a:endParaRPr lang="en-US" sz="1050" dirty="0"/>
          </a:p>
        </p:txBody>
      </p:sp>
      <p:sp>
        <p:nvSpPr>
          <p:cNvPr id="27" name="Text 19"/>
          <p:cNvSpPr/>
          <p:nvPr/>
        </p:nvSpPr>
        <p:spPr>
          <a:xfrm>
            <a:off x="5806440" y="3995928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Optimizer recommends where to invest, defend, or harvest across 12 categories</a:t>
            </a:r>
            <a:endParaRPr lang="en-US" sz="900" dirty="0"/>
          </a:p>
        </p:txBody>
      </p:sp>
      <p:sp>
        <p:nvSpPr>
          <p:cNvPr id="28" name="Text 20"/>
          <p:cNvSpPr/>
          <p:nvPr/>
        </p:nvSpPr>
        <p:spPr>
          <a:xfrm>
            <a:off x="457200" y="4800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29" name="Text 21"/>
          <p:cNvSpPr/>
          <p:nvPr/>
        </p:nvSpPr>
        <p:spPr>
          <a:xfrm>
            <a:off x="841248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1000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PROFIT POOL ENGINE DELIVERS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living decision platform, not a static report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2560320" cy="356616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6" name="Shape 4"/>
          <p:cNvSpPr/>
          <p:nvPr/>
        </p:nvSpPr>
        <p:spPr>
          <a:xfrm>
            <a:off x="1417320" y="123444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14173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Simulates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31520" y="26060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10,000+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731520" y="30632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Monte Carlo iterations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777240" y="33832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Bayesian hierarchical model with copula dependencies produces probability distributions — not point estimates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383280" y="1051560"/>
            <a:ext cx="2560320" cy="356616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3" name="Shape 10"/>
          <p:cNvSpPr/>
          <p:nvPr/>
        </p:nvSpPr>
        <p:spPr>
          <a:xfrm>
            <a:off x="4251960" y="123444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4173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566160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Connects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3566160" y="26060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3200" dirty="0"/>
          </a:p>
        </p:txBody>
      </p:sp>
      <p:sp>
        <p:nvSpPr>
          <p:cNvPr id="17" name="Text 13"/>
          <p:cNvSpPr/>
          <p:nvPr/>
        </p:nvSpPr>
        <p:spPr>
          <a:xfrm>
            <a:off x="3566160" y="30632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causal DAG edges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3611880" y="33832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Forces propagate through directed causal paths with lag structures — a regulatory shock ripples through the entire system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6217920" y="1051560"/>
            <a:ext cx="2560320" cy="356616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0" name="Shape 16"/>
          <p:cNvSpPr/>
          <p:nvPr/>
        </p:nvSpPr>
        <p:spPr>
          <a:xfrm>
            <a:off x="7086600" y="123444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417320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400800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Recommends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6400800" y="26060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3200" dirty="0"/>
          </a:p>
        </p:txBody>
      </p:sp>
      <p:sp>
        <p:nvSpPr>
          <p:cNvPr id="24" name="Text 19"/>
          <p:cNvSpPr/>
          <p:nvPr/>
        </p:nvSpPr>
        <p:spPr>
          <a:xfrm>
            <a:off x="6400800" y="30632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categories optimized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6446520" y="33832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 allocation optimizer produces invest / defend / harvest recommendations based on expected pool shifts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457200" y="4800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27" name="Text 22"/>
          <p:cNvSpPr/>
          <p:nvPr/>
        </p:nvSpPr>
        <p:spPr>
          <a:xfrm>
            <a:off x="841248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1000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FORCES RESHAPING PROFIT POOLS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force is causally linked — a shock in one propagates through the system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2560320" cy="1737360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8016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18288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beauty, premiumization,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sustainability consciousness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383280" y="1051560"/>
            <a:ext cx="2560320" cy="1737360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28016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6052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611880" y="18288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consolidation, private label,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e-commerce channel shift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6217920" y="1051560"/>
            <a:ext cx="2560320" cy="1737360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28016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9516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6446520" y="18288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personalization, biotech ingredients,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Product Passport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548640" y="3017520"/>
            <a:ext cx="2560320" cy="1737360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4612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25880" y="32461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Government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777240" y="37947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Green Deal, REACH/CLP,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CSRD, microplastics ban</a:t>
            </a:r>
            <a:endParaRPr lang="en-US" sz="900" dirty="0"/>
          </a:p>
        </p:txBody>
      </p:sp>
      <p:sp>
        <p:nvSpPr>
          <p:cNvPr id="21" name="Shape 15"/>
          <p:cNvSpPr/>
          <p:nvPr/>
        </p:nvSpPr>
        <p:spPr>
          <a:xfrm>
            <a:off x="3383280" y="3017520"/>
            <a:ext cx="2560320" cy="1737360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3246120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160520" y="32461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3611880" y="37947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Climate regulation, water scarcity,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circular economy mandates</a:t>
            </a:r>
            <a:endParaRPr lang="en-US" sz="900" dirty="0"/>
          </a:p>
        </p:txBody>
      </p:sp>
      <p:sp>
        <p:nvSpPr>
          <p:cNvPr id="25" name="Shape 18"/>
          <p:cNvSpPr/>
          <p:nvPr/>
        </p:nvSpPr>
        <p:spPr>
          <a:xfrm>
            <a:off x="6217920" y="3017520"/>
            <a:ext cx="2560320" cy="1737360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3246120"/>
            <a:ext cx="411480" cy="41148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995160" y="32461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Competitive</a:t>
            </a:r>
            <a:endParaRPr lang="en-US" sz="1400" dirty="0"/>
          </a:p>
        </p:txBody>
      </p:sp>
      <p:sp>
        <p:nvSpPr>
          <p:cNvPr id="28" name="Text 20"/>
          <p:cNvSpPr/>
          <p:nvPr/>
        </p:nvSpPr>
        <p:spPr>
          <a:xfrm>
            <a:off x="6446520" y="37947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P&amp;G premiumization, Unilever M&amp;A,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indie brand disruption</a:t>
            </a:r>
            <a:endParaRPr lang="en-US" sz="900" dirty="0"/>
          </a:p>
        </p:txBody>
      </p:sp>
      <p:sp>
        <p:nvSpPr>
          <p:cNvPr id="29" name="Shape 21"/>
          <p:cNvSpPr/>
          <p:nvPr/>
        </p:nvSpPr>
        <p:spPr>
          <a:xfrm>
            <a:off x="548640" y="4663440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709160"/>
            <a:ext cx="182880" cy="18288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822960" y="4709160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Forces are connected via a Causal DAG — 16 directed edges with propagation weights and lag structures</a:t>
            </a:r>
            <a:endParaRPr lang="en-US" sz="800" dirty="0"/>
          </a:p>
        </p:txBody>
      </p:sp>
      <p:sp>
        <p:nvSpPr>
          <p:cNvPr id="32" name="Text 23"/>
          <p:cNvSpPr/>
          <p:nvPr/>
        </p:nvSpPr>
        <p:spPr>
          <a:xfrm>
            <a:off x="457200" y="4800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33" name="Text 24"/>
          <p:cNvSpPr/>
          <p:nvPr/>
        </p:nvSpPr>
        <p:spPr>
          <a:xfrm>
            <a:off x="841248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1000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LENSES, ONE TRUTH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Shift Matrix, two purpose-built interfaces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3794760" cy="3566160"/>
          </a:xfrm>
          <a:prstGeom prst="rect">
            <a:avLst/>
          </a:prstGeom>
          <a:solidFill>
            <a:srgbClr val="0F172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344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2344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War Room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16459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web dashboard for the strategy team</a:t>
            </a:r>
            <a:endParaRPr lang="en-US" sz="9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137160" cy="1371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05840" y="20116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re-simulation on score changes</a:t>
            </a:r>
            <a:endParaRPr lang="en-US" sz="9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377440"/>
            <a:ext cx="137160" cy="1371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05840" y="2377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heatmap with drill-down panels</a:t>
            </a:r>
            <a:endParaRPr lang="en-US" sz="9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743200"/>
            <a:ext cx="137160" cy="13716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005840" y="2743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Causal DAG flow visualization</a:t>
            </a:r>
            <a:endParaRPr lang="en-US" sz="9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108960"/>
            <a:ext cx="137160" cy="13716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005840" y="3108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Monte Carlo distributions + tornado charts</a:t>
            </a:r>
            <a:endParaRPr lang="en-US" sz="95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474720"/>
            <a:ext cx="137160" cy="13716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1005840" y="3474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comparison engine</a:t>
            </a:r>
            <a:endParaRPr lang="en-US" sz="950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840480"/>
            <a:ext cx="137160" cy="137160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100584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trend scanner + chat interface</a:t>
            </a:r>
            <a:endParaRPr lang="en-US" sz="950" dirty="0"/>
          </a:p>
        </p:txBody>
      </p:sp>
      <p:sp>
        <p:nvSpPr>
          <p:cNvPr id="21" name="Shape 12"/>
          <p:cNvSpPr/>
          <p:nvPr/>
        </p:nvSpPr>
        <p:spPr>
          <a:xfrm>
            <a:off x="548640" y="4251960"/>
            <a:ext cx="3794760" cy="36576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22" name="Text 13"/>
          <p:cNvSpPr/>
          <p:nvPr/>
        </p:nvSpPr>
        <p:spPr>
          <a:xfrm>
            <a:off x="777240" y="42702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A8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Format: Relative %  |  Audience: Strategy Team</a:t>
            </a:r>
            <a:endParaRPr lang="en-US" sz="800" dirty="0"/>
          </a:p>
        </p:txBody>
      </p:sp>
      <p:sp>
        <p:nvSpPr>
          <p:cNvPr id="23" name="Shape 14"/>
          <p:cNvSpPr/>
          <p:nvPr/>
        </p:nvSpPr>
        <p:spPr>
          <a:xfrm>
            <a:off x="4800600" y="1051560"/>
            <a:ext cx="3794760" cy="3566160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0" y="1234440"/>
            <a:ext cx="320040" cy="32004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5440680" y="12344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Reporting</a:t>
            </a:r>
            <a:endParaRPr lang="en-US" sz="1400" dirty="0"/>
          </a:p>
        </p:txBody>
      </p:sp>
      <p:sp>
        <p:nvSpPr>
          <p:cNvPr id="26" name="Text 16"/>
          <p:cNvSpPr/>
          <p:nvPr/>
        </p:nvSpPr>
        <p:spPr>
          <a:xfrm>
            <a:off x="5029200" y="16459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PowerPoint + Power BI for ExCo and Finance</a:t>
            </a:r>
            <a:endParaRPr lang="en-US" sz="900" dirty="0"/>
          </a:p>
        </p:txBody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9200" y="2011680"/>
            <a:ext cx="137160" cy="137160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5257800" y="20116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Auto-generated executive narrative deck</a:t>
            </a:r>
            <a:endParaRPr lang="en-US" sz="950" dirty="0"/>
          </a:p>
        </p:txBody>
      </p:sp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9200" y="2377440"/>
            <a:ext cx="137160" cy="137160"/>
          </a:xfrm>
          <a:prstGeom prst="rect">
            <a:avLst/>
          </a:prstGeom>
        </p:spPr>
      </p:pic>
      <p:sp>
        <p:nvSpPr>
          <p:cNvPr id="30" name="Text 18"/>
          <p:cNvSpPr/>
          <p:nvPr/>
        </p:nvSpPr>
        <p:spPr>
          <a:xfrm>
            <a:off x="5257800" y="2377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BI dashboard with actual €M financials</a:t>
            </a:r>
            <a:endParaRPr lang="en-US" sz="950" dirty="0"/>
          </a:p>
        </p:txBody>
      </p:sp>
      <p:pic>
        <p:nvPicPr>
          <p:cNvPr id="3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9200" y="2743200"/>
            <a:ext cx="137160" cy="137160"/>
          </a:xfrm>
          <a:prstGeom prst="rect">
            <a:avLst/>
          </a:prstGeom>
        </p:spPr>
      </p:pic>
      <p:sp>
        <p:nvSpPr>
          <p:cNvPr id="32" name="Text 19"/>
          <p:cNvSpPr/>
          <p:nvPr/>
        </p:nvSpPr>
        <p:spPr>
          <a:xfrm>
            <a:off x="5257800" y="2743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Shift Matrix applied to GP1 (absolute terms)</a:t>
            </a:r>
            <a:endParaRPr lang="en-US" sz="950" dirty="0"/>
          </a:p>
        </p:txBody>
      </p:sp>
      <p:pic>
        <p:nvPicPr>
          <p:cNvPr id="3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9200" y="3108960"/>
            <a:ext cx="137160" cy="137160"/>
          </a:xfrm>
          <a:prstGeom prst="rect">
            <a:avLst/>
          </a:prstGeom>
        </p:spPr>
      </p:pic>
      <p:sp>
        <p:nvSpPr>
          <p:cNvPr id="34" name="Text 20"/>
          <p:cNvSpPr/>
          <p:nvPr/>
        </p:nvSpPr>
        <p:spPr>
          <a:xfrm>
            <a:off x="5257800" y="3108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Board-ready scenario comparison</a:t>
            </a:r>
            <a:endParaRPr lang="en-US" sz="950" dirty="0"/>
          </a:p>
        </p:txBody>
      </p:sp>
      <p:pic>
        <p:nvPicPr>
          <p:cNvPr id="3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29200" y="3474720"/>
            <a:ext cx="137160" cy="137160"/>
          </a:xfrm>
          <a:prstGeom prst="rect">
            <a:avLst/>
          </a:prstGeom>
        </p:spPr>
      </p:pic>
      <p:sp>
        <p:nvSpPr>
          <p:cNvPr id="36" name="Text 21"/>
          <p:cNvSpPr/>
          <p:nvPr/>
        </p:nvSpPr>
        <p:spPr>
          <a:xfrm>
            <a:off x="5257800" y="3474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Backtesting accuracy report</a:t>
            </a:r>
            <a:endParaRPr lang="en-US" sz="950" dirty="0"/>
          </a:p>
        </p:txBody>
      </p:sp>
      <p:pic>
        <p:nvPicPr>
          <p:cNvPr id="37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29200" y="3840480"/>
            <a:ext cx="137160" cy="137160"/>
          </a:xfrm>
          <a:prstGeom prst="rect">
            <a:avLst/>
          </a:prstGeom>
        </p:spPr>
      </p:pic>
      <p:sp>
        <p:nvSpPr>
          <p:cNvPr id="38" name="Text 22"/>
          <p:cNvSpPr/>
          <p:nvPr/>
        </p:nvSpPr>
        <p:spPr>
          <a:xfrm>
            <a:off x="525780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 export from War Room</a:t>
            </a:r>
            <a:endParaRPr lang="en-US" sz="950" dirty="0"/>
          </a:p>
        </p:txBody>
      </p:sp>
      <p:sp>
        <p:nvSpPr>
          <p:cNvPr id="39" name="Shape 23"/>
          <p:cNvSpPr/>
          <p:nvPr/>
        </p:nvSpPr>
        <p:spPr>
          <a:xfrm>
            <a:off x="4800600" y="4251960"/>
            <a:ext cx="3794760" cy="365760"/>
          </a:xfrm>
          <a:prstGeom prst="rect">
            <a:avLst/>
          </a:prstGeom>
          <a:solidFill>
            <a:srgbClr val="E1000F"/>
          </a:solidFill>
          <a:ln/>
        </p:spPr>
      </p:sp>
      <p:sp>
        <p:nvSpPr>
          <p:cNvPr id="40" name="Text 24"/>
          <p:cNvSpPr/>
          <p:nvPr/>
        </p:nvSpPr>
        <p:spPr>
          <a:xfrm>
            <a:off x="5029200" y="42702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Format: Absolute €M  |  Audience: ExCo / Finance</a:t>
            </a:r>
            <a:endParaRPr lang="en-US" sz="800" dirty="0"/>
          </a:p>
        </p:txBody>
      </p:sp>
      <p:sp>
        <p:nvSpPr>
          <p:cNvPr id="41" name="Text 25"/>
          <p:cNvSpPr/>
          <p:nvPr/>
        </p:nvSpPr>
        <p:spPr>
          <a:xfrm>
            <a:off x="457200" y="4800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42" name="Text 26"/>
          <p:cNvSpPr/>
          <p:nvPr/>
        </p:nvSpPr>
        <p:spPr>
          <a:xfrm>
            <a:off x="841248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1000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MODEL WORKS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Four-step methodology from trend identification to profit pool impact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188720" y="1600200"/>
            <a:ext cx="6766560" cy="0"/>
          </a:xfrm>
          <a:prstGeom prst="line">
            <a:avLst/>
          </a:prstGeom>
          <a:noFill/>
          <a:ln w="254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1280160"/>
            <a:ext cx="640080" cy="640080"/>
          </a:xfrm>
          <a:prstGeom prst="ellipse">
            <a:avLst/>
          </a:prstGeom>
          <a:solidFill>
            <a:srgbClr val="E1000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4173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331720" y="13716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5800" y="21031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85800" y="23317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Trend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Scanning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" y="3017520"/>
            <a:ext cx="1645920" cy="1463040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154680"/>
            <a:ext cx="109728" cy="10972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68680" y="31089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free data APIs</a:t>
            </a:r>
            <a:endParaRPr lang="en-US" sz="9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566160"/>
            <a:ext cx="109728" cy="1097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68680" y="3520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Regulatory + news + patents</a:t>
            </a:r>
            <a:endParaRPr lang="en-US" sz="9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77640"/>
            <a:ext cx="109728" cy="10972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68680" y="3931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Weekly signal digest</a:t>
            </a:r>
            <a:endParaRPr lang="en-US" sz="900" dirty="0"/>
          </a:p>
        </p:txBody>
      </p:sp>
      <p:sp>
        <p:nvSpPr>
          <p:cNvPr id="18" name="Shape 12"/>
          <p:cNvSpPr/>
          <p:nvPr/>
        </p:nvSpPr>
        <p:spPr>
          <a:xfrm>
            <a:off x="3246120" y="1280160"/>
            <a:ext cx="640080" cy="640080"/>
          </a:xfrm>
          <a:prstGeom prst="ellipse">
            <a:avLst/>
          </a:prstGeom>
          <a:solidFill>
            <a:srgbClr val="E1000F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1417320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480560" y="13716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2834640" y="21031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5"/>
          <p:cNvSpPr/>
          <p:nvPr/>
        </p:nvSpPr>
        <p:spPr>
          <a:xfrm>
            <a:off x="2834640" y="23317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Delphi Expert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Rating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2743200" y="3017520"/>
            <a:ext cx="1645920" cy="1463040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4640" y="3154680"/>
            <a:ext cx="109728" cy="109728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3017520" y="31089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Round 1: Blind scoring</a:t>
            </a:r>
            <a:endParaRPr lang="en-US" sz="9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640" y="3566160"/>
            <a:ext cx="109728" cy="10972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017520" y="3520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Round 2: Calibrated re-score</a:t>
            </a:r>
            <a:endParaRPr lang="en-US" sz="9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34640" y="3977640"/>
            <a:ext cx="109728" cy="109728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3017520" y="3931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Round 3: Consensus</a:t>
            </a:r>
            <a:endParaRPr lang="en-US" sz="900" dirty="0"/>
          </a:p>
        </p:txBody>
      </p:sp>
      <p:sp>
        <p:nvSpPr>
          <p:cNvPr id="30" name="Shape 20"/>
          <p:cNvSpPr/>
          <p:nvPr/>
        </p:nvSpPr>
        <p:spPr>
          <a:xfrm>
            <a:off x="5394960" y="1280160"/>
            <a:ext cx="640080" cy="640080"/>
          </a:xfrm>
          <a:prstGeom prst="ellipse">
            <a:avLst/>
          </a:prstGeom>
          <a:solidFill>
            <a:srgbClr val="E1000F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32120" y="1417320"/>
            <a:ext cx="365760" cy="365760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6629400" y="13716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4983480" y="21031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000" dirty="0"/>
          </a:p>
        </p:txBody>
      </p:sp>
      <p:sp>
        <p:nvSpPr>
          <p:cNvPr id="34" name="Text 23"/>
          <p:cNvSpPr/>
          <p:nvPr/>
        </p:nvSpPr>
        <p:spPr>
          <a:xfrm>
            <a:off x="4983480" y="23317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Monte Carlo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Simulation</a:t>
            </a:r>
            <a:endParaRPr lang="en-US" sz="1300" dirty="0"/>
          </a:p>
        </p:txBody>
      </p:sp>
      <p:sp>
        <p:nvSpPr>
          <p:cNvPr id="35" name="Shape 24"/>
          <p:cNvSpPr/>
          <p:nvPr/>
        </p:nvSpPr>
        <p:spPr>
          <a:xfrm>
            <a:off x="4892040" y="3017520"/>
            <a:ext cx="1645920" cy="1463040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3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83480" y="3154680"/>
            <a:ext cx="109728" cy="109728"/>
          </a:xfrm>
          <a:prstGeom prst="rect">
            <a:avLst/>
          </a:prstGeom>
        </p:spPr>
      </p:pic>
      <p:sp>
        <p:nvSpPr>
          <p:cNvPr id="37" name="Text 25"/>
          <p:cNvSpPr/>
          <p:nvPr/>
        </p:nvSpPr>
        <p:spPr>
          <a:xfrm>
            <a:off x="5166360" y="31089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Bayesian hierarchical</a:t>
            </a:r>
            <a:endParaRPr lang="en-US" sz="9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83480" y="3566160"/>
            <a:ext cx="109728" cy="109728"/>
          </a:xfrm>
          <a:prstGeom prst="rect">
            <a:avLst/>
          </a:prstGeom>
        </p:spPr>
      </p:pic>
      <p:sp>
        <p:nvSpPr>
          <p:cNvPr id="39" name="Text 26"/>
          <p:cNvSpPr/>
          <p:nvPr/>
        </p:nvSpPr>
        <p:spPr>
          <a:xfrm>
            <a:off x="5166360" y="3520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Copula dependencies</a:t>
            </a:r>
            <a:endParaRPr lang="en-US" sz="900" dirty="0"/>
          </a:p>
        </p:txBody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83480" y="3977640"/>
            <a:ext cx="109728" cy="109728"/>
          </a:xfrm>
          <a:prstGeom prst="rect">
            <a:avLst/>
          </a:prstGeom>
        </p:spPr>
      </p:pic>
      <p:sp>
        <p:nvSpPr>
          <p:cNvPr id="41" name="Text 27"/>
          <p:cNvSpPr/>
          <p:nvPr/>
        </p:nvSpPr>
        <p:spPr>
          <a:xfrm>
            <a:off x="5166360" y="3931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Causal DAG propagation</a:t>
            </a:r>
            <a:endParaRPr lang="en-US" sz="900" dirty="0"/>
          </a:p>
        </p:txBody>
      </p:sp>
      <p:sp>
        <p:nvSpPr>
          <p:cNvPr id="42" name="Shape 28"/>
          <p:cNvSpPr/>
          <p:nvPr/>
        </p:nvSpPr>
        <p:spPr>
          <a:xfrm>
            <a:off x="7543800" y="1280160"/>
            <a:ext cx="640080" cy="640080"/>
          </a:xfrm>
          <a:prstGeom prst="ellipse">
            <a:avLst/>
          </a:prstGeom>
          <a:solidFill>
            <a:srgbClr val="E1000F"/>
          </a:solidFill>
          <a:ln/>
        </p:spPr>
      </p:sp>
      <p:pic>
        <p:nvPicPr>
          <p:cNvPr id="4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80960" y="1417320"/>
            <a:ext cx="365760" cy="365760"/>
          </a:xfrm>
          <a:prstGeom prst="rect">
            <a:avLst/>
          </a:prstGeom>
        </p:spPr>
      </p:pic>
      <p:sp>
        <p:nvSpPr>
          <p:cNvPr id="44" name="Text 29"/>
          <p:cNvSpPr/>
          <p:nvPr/>
        </p:nvSpPr>
        <p:spPr>
          <a:xfrm>
            <a:off x="7132320" y="21031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000" dirty="0"/>
          </a:p>
        </p:txBody>
      </p:sp>
      <p:sp>
        <p:nvSpPr>
          <p:cNvPr id="45" name="Text 30"/>
          <p:cNvSpPr/>
          <p:nvPr/>
        </p:nvSpPr>
        <p:spPr>
          <a:xfrm>
            <a:off x="7132320" y="23317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Profit Pool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</a:t>
            </a:r>
            <a:endParaRPr lang="en-US" sz="1300" dirty="0"/>
          </a:p>
        </p:txBody>
      </p:sp>
      <p:sp>
        <p:nvSpPr>
          <p:cNvPr id="46" name="Shape 31"/>
          <p:cNvSpPr/>
          <p:nvPr/>
        </p:nvSpPr>
        <p:spPr>
          <a:xfrm>
            <a:off x="7040880" y="3017520"/>
            <a:ext cx="1645920" cy="1463040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47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32320" y="3154680"/>
            <a:ext cx="109728" cy="109728"/>
          </a:xfrm>
          <a:prstGeom prst="rect">
            <a:avLst/>
          </a:prstGeom>
        </p:spPr>
      </p:pic>
      <p:sp>
        <p:nvSpPr>
          <p:cNvPr id="48" name="Text 32"/>
          <p:cNvSpPr/>
          <p:nvPr/>
        </p:nvSpPr>
        <p:spPr>
          <a:xfrm>
            <a:off x="7315200" y="31089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Shift Matrix output</a:t>
            </a:r>
            <a:endParaRPr lang="en-US" sz="900" dirty="0"/>
          </a:p>
        </p:txBody>
      </p:sp>
      <p:pic>
        <p:nvPicPr>
          <p:cNvPr id="49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32320" y="3566160"/>
            <a:ext cx="109728" cy="109728"/>
          </a:xfrm>
          <a:prstGeom prst="rect">
            <a:avLst/>
          </a:prstGeom>
        </p:spPr>
      </p:pic>
      <p:sp>
        <p:nvSpPr>
          <p:cNvPr id="50" name="Text 33"/>
          <p:cNvSpPr/>
          <p:nvPr/>
        </p:nvSpPr>
        <p:spPr>
          <a:xfrm>
            <a:off x="7315200" y="3520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5-year continuous paths</a:t>
            </a:r>
            <a:endParaRPr lang="en-US" sz="900" dirty="0"/>
          </a:p>
        </p:txBody>
      </p:sp>
      <p:pic>
        <p:nvPicPr>
          <p:cNvPr id="5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132320" y="3977640"/>
            <a:ext cx="109728" cy="109728"/>
          </a:xfrm>
          <a:prstGeom prst="rect">
            <a:avLst/>
          </a:prstGeom>
        </p:spPr>
      </p:pic>
      <p:sp>
        <p:nvSpPr>
          <p:cNvPr id="52" name="Text 34"/>
          <p:cNvSpPr/>
          <p:nvPr/>
        </p:nvSpPr>
        <p:spPr>
          <a:xfrm>
            <a:off x="7315200" y="3931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Allocation optimizer</a:t>
            </a:r>
            <a:endParaRPr lang="en-US" sz="900" dirty="0"/>
          </a:p>
        </p:txBody>
      </p:sp>
      <p:sp>
        <p:nvSpPr>
          <p:cNvPr id="53" name="Text 35"/>
          <p:cNvSpPr/>
          <p:nvPr/>
        </p:nvSpPr>
        <p:spPr>
          <a:xfrm>
            <a:off x="457200" y="4800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54" name="Text 36"/>
          <p:cNvSpPr/>
          <p:nvPr/>
        </p:nvSpPr>
        <p:spPr>
          <a:xfrm>
            <a:off x="841248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1000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DIMENSIONS OF IMPACT ASSESSMENT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trend is scored across multiple axes to capture the full economic picture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11480" y="1737360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categories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960120" y="2011680"/>
            <a:ext cx="868680" cy="0"/>
          </a:xfrm>
          <a:prstGeom prst="line">
            <a:avLst/>
          </a:prstGeom>
          <a:noFill/>
          <a:ln w="19050">
            <a:solidFill>
              <a:srgbClr val="E1000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9456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219456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Impact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Color, Care, Styling, Body, FCN, FCA, FFI, LAD, HDW, ADW, HSC, IC — each scored 0-5 per trend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560320" y="109728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3+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2560320" y="1737360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regions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3108960" y="2011680"/>
            <a:ext cx="868680" cy="0"/>
          </a:xfrm>
          <a:prstGeom prst="line">
            <a:avLst/>
          </a:prstGeom>
          <a:noFill/>
          <a:ln w="19050">
            <a:solidFill>
              <a:srgbClr val="E1000F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2194560"/>
            <a:ext cx="274320" cy="2743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429000" y="219456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Regional Lens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697480" y="260604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Europe, North America, Emerging Markets — tailored force weightings by market context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709160" y="109728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4709160" y="1737360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VC steps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5257800" y="2011680"/>
            <a:ext cx="868680" cy="0"/>
          </a:xfrm>
          <a:prstGeom prst="line">
            <a:avLst/>
          </a:prstGeom>
          <a:noFill/>
          <a:ln w="19050">
            <a:solidFill>
              <a:srgbClr val="E1000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2194560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577840" y="219456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Value Chain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4846320" y="260604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Raw Materials through After-Sales — where in the chain does each trend hit hardest?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6858000" y="109728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2-25%</a:t>
            </a:r>
            <a:endParaRPr lang="en-US" sz="4000" dirty="0"/>
          </a:p>
        </p:txBody>
      </p:sp>
      <p:sp>
        <p:nvSpPr>
          <p:cNvPr id="24" name="Text 19"/>
          <p:cNvSpPr/>
          <p:nvPr/>
        </p:nvSpPr>
        <p:spPr>
          <a:xfrm>
            <a:off x="6858000" y="1737360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GP1 cap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7406640" y="2011680"/>
            <a:ext cx="868680" cy="0"/>
          </a:xfrm>
          <a:prstGeom prst="line">
            <a:avLst/>
          </a:prstGeom>
          <a:noFill/>
          <a:ln w="19050">
            <a:solidFill>
              <a:srgbClr val="E1000F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2194560"/>
            <a:ext cx="274320" cy="2743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726680" y="219456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 of GP1 Affected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6995160" y="260604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Economic anchor: each trend can only touch a bounded fraction of a category’s profit pool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457200" y="4800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30" name="Text 24"/>
          <p:cNvSpPr/>
          <p:nvPr/>
        </p:nvSpPr>
        <p:spPr>
          <a:xfrm>
            <a:off x="841248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1000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TREND DETAIL VIEW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trend is scored, validated, and mapped to categories with full transparency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38912" y="896112"/>
            <a:ext cx="8266176" cy="3968496"/>
          </a:xfrm>
          <a:prstGeom prst="rect">
            <a:avLst/>
          </a:prstGeom>
          <a:solidFill>
            <a:srgbClr val="FFFFFF">
              <a:alpha val="5000"/>
            </a:srgbClr>
          </a:solidFill>
          <a:ln w="6350">
            <a:solidFill>
              <a:srgbClr val="475569"/>
            </a:solidFill>
            <a:prstDash val="solid"/>
          </a:ln>
        </p:spPr>
      </p:sp>
      <p:pic>
        <p:nvPicPr>
          <p:cNvPr id="6" name="Image 0" descr="/sessions/compassionate-sweet-ride/screenshot_tr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931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800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8" name="Text 5"/>
          <p:cNvSpPr/>
          <p:nvPr/>
        </p:nvSpPr>
        <p:spPr>
          <a:xfrm>
            <a:off x="841248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1000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 ROOM — UNIFIED COMMAND VIEW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screen tells the complete story: KPIs, heatmap, path projections, and causal flow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38912" y="896112"/>
            <a:ext cx="8266176" cy="3968496"/>
          </a:xfrm>
          <a:prstGeom prst="rect">
            <a:avLst/>
          </a:prstGeom>
          <a:solidFill>
            <a:srgbClr val="FFFFFF">
              <a:alpha val="5000"/>
            </a:srgbClr>
          </a:solidFill>
          <a:ln w="6350">
            <a:solidFill>
              <a:srgbClr val="475569"/>
            </a:solidFill>
            <a:prstDash val="solid"/>
          </a:ln>
        </p:spPr>
      </p:sp>
      <p:pic>
        <p:nvPicPr>
          <p:cNvPr id="6" name="Image 0" descr="/sessions/compassionate-sweet-ride/screenshot_warr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931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800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8" name="Text 5"/>
          <p:cNvSpPr/>
          <p:nvPr/>
        </p:nvSpPr>
        <p:spPr>
          <a:xfrm>
            <a:off x="841248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1000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× FORCE SHIFT MATRIX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Percentage shift in category profit pool by strategic force — the core analytical output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38912" y="896112"/>
            <a:ext cx="8266176" cy="3968496"/>
          </a:xfrm>
          <a:prstGeom prst="rect">
            <a:avLst/>
          </a:prstGeom>
          <a:solidFill>
            <a:srgbClr val="FFFFFF">
              <a:alpha val="5000"/>
            </a:srgbClr>
          </a:solidFill>
          <a:ln w="6350">
            <a:solidFill>
              <a:srgbClr val="475569"/>
            </a:solidFill>
            <a:prstDash val="solid"/>
          </a:ln>
        </p:spPr>
      </p:sp>
      <p:pic>
        <p:nvPicPr>
          <p:cNvPr id="6" name="Image 0" descr="/sessions/compassionate-sweet-ride/screenshot_category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931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800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8" name="Text 5"/>
          <p:cNvSpPr/>
          <p:nvPr/>
        </p:nvSpPr>
        <p:spPr>
          <a:xfrm>
            <a:off x="841248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1000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ARCHITECTURE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Enterprise-grade, deployed within Henkel cloud — zero running cost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2560320" cy="3520440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344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2344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Simulation Engine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234440" y="14630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3.11+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77240" y="1783080"/>
            <a:ext cx="210312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109728" cy="10972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0120" y="1920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 REST server</a:t>
            </a:r>
            <a:endParaRPr lang="en-US" sz="9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468880"/>
            <a:ext cx="109728" cy="10972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423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Bayesian MC (SciPy/NumPy)</a:t>
            </a:r>
            <a:endParaRPr lang="en-US" sz="9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971800"/>
            <a:ext cx="109728" cy="10972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60120" y="29260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NetworkX Causal DAG</a:t>
            </a:r>
            <a:endParaRPr lang="en-US" sz="9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474720"/>
            <a:ext cx="109728" cy="10972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60120" y="3429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SQLite local data store</a:t>
            </a:r>
            <a:endParaRPr lang="en-US" sz="9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977640"/>
            <a:ext cx="109728" cy="10972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960120" y="39319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Copula dependency model</a:t>
            </a:r>
            <a:endParaRPr lang="en-US" sz="950" dirty="0"/>
          </a:p>
        </p:txBody>
      </p:sp>
      <p:sp>
        <p:nvSpPr>
          <p:cNvPr id="20" name="Shape 12"/>
          <p:cNvSpPr/>
          <p:nvPr/>
        </p:nvSpPr>
        <p:spPr>
          <a:xfrm>
            <a:off x="3383280" y="1051560"/>
            <a:ext cx="2560320" cy="3520440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1880" y="1234440"/>
            <a:ext cx="365760" cy="365760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4069080" y="12344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 Room Dashboard</a:t>
            </a:r>
            <a:endParaRPr lang="en-US" sz="1200" dirty="0"/>
          </a:p>
        </p:txBody>
      </p:sp>
      <p:sp>
        <p:nvSpPr>
          <p:cNvPr id="23" name="Text 14"/>
          <p:cNvSpPr/>
          <p:nvPr/>
        </p:nvSpPr>
        <p:spPr>
          <a:xfrm>
            <a:off x="4069080" y="14630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18 + Vite</a:t>
            </a:r>
            <a:endParaRPr lang="en-US" sz="900" dirty="0"/>
          </a:p>
        </p:txBody>
      </p:sp>
      <p:sp>
        <p:nvSpPr>
          <p:cNvPr id="24" name="Shape 15"/>
          <p:cNvSpPr/>
          <p:nvPr/>
        </p:nvSpPr>
        <p:spPr>
          <a:xfrm>
            <a:off x="3611880" y="1783080"/>
            <a:ext cx="210312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11880" y="1965960"/>
            <a:ext cx="109728" cy="109728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3794760" y="1920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D3.js / Recharts visualization</a:t>
            </a:r>
            <a:endParaRPr lang="en-US" sz="950" dirty="0"/>
          </a:p>
        </p:txBody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11880" y="2468880"/>
            <a:ext cx="109728" cy="109728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3794760" y="2423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TailwindCSS dark mode</a:t>
            </a:r>
            <a:endParaRPr lang="en-US" sz="950" dirty="0"/>
          </a:p>
        </p:txBody>
      </p:sp>
      <p:pic>
        <p:nvPicPr>
          <p:cNvPr id="2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1880" y="2971800"/>
            <a:ext cx="109728" cy="109728"/>
          </a:xfrm>
          <a:prstGeom prst="rect">
            <a:avLst/>
          </a:prstGeom>
        </p:spPr>
      </p:pic>
      <p:sp>
        <p:nvSpPr>
          <p:cNvPr id="30" name="Text 18"/>
          <p:cNvSpPr/>
          <p:nvPr/>
        </p:nvSpPr>
        <p:spPr>
          <a:xfrm>
            <a:off x="3794760" y="29260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Framer Motion animations</a:t>
            </a:r>
            <a:endParaRPr lang="en-US" sz="950" dirty="0"/>
          </a:p>
        </p:txBody>
      </p:sp>
      <p:pic>
        <p:nvPicPr>
          <p:cNvPr id="3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11880" y="3474720"/>
            <a:ext cx="109728" cy="109728"/>
          </a:xfrm>
          <a:prstGeom prst="rect">
            <a:avLst/>
          </a:prstGeom>
        </p:spPr>
      </p:pic>
      <p:sp>
        <p:nvSpPr>
          <p:cNvPr id="32" name="Text 19"/>
          <p:cNvSpPr/>
          <p:nvPr/>
        </p:nvSpPr>
        <p:spPr>
          <a:xfrm>
            <a:off x="3794760" y="3429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Zustand + TanStack Query</a:t>
            </a:r>
            <a:endParaRPr lang="en-US" sz="950" dirty="0"/>
          </a:p>
        </p:txBody>
      </p:sp>
      <p:pic>
        <p:nvPicPr>
          <p:cNvPr id="3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11880" y="3977640"/>
            <a:ext cx="109728" cy="109728"/>
          </a:xfrm>
          <a:prstGeom prst="rect">
            <a:avLst/>
          </a:prstGeom>
        </p:spPr>
      </p:pic>
      <p:sp>
        <p:nvSpPr>
          <p:cNvPr id="34" name="Text 20"/>
          <p:cNvSpPr/>
          <p:nvPr/>
        </p:nvSpPr>
        <p:spPr>
          <a:xfrm>
            <a:off x="3794760" y="39319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60fps Apple-grade UX</a:t>
            </a:r>
            <a:endParaRPr lang="en-US" sz="950" dirty="0"/>
          </a:p>
        </p:txBody>
      </p:sp>
      <p:sp>
        <p:nvSpPr>
          <p:cNvPr id="35" name="Shape 21"/>
          <p:cNvSpPr/>
          <p:nvPr/>
        </p:nvSpPr>
        <p:spPr>
          <a:xfrm>
            <a:off x="6217920" y="1051560"/>
            <a:ext cx="2560320" cy="3520440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3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46520" y="1234440"/>
            <a:ext cx="365760" cy="365760"/>
          </a:xfrm>
          <a:prstGeom prst="rect">
            <a:avLst/>
          </a:prstGeom>
        </p:spPr>
      </p:pic>
      <p:sp>
        <p:nvSpPr>
          <p:cNvPr id="37" name="Text 22"/>
          <p:cNvSpPr/>
          <p:nvPr/>
        </p:nvSpPr>
        <p:spPr>
          <a:xfrm>
            <a:off x="6903720" y="12344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&amp; Integration</a:t>
            </a:r>
            <a:endParaRPr lang="en-US" sz="1200" dirty="0"/>
          </a:p>
        </p:txBody>
      </p:sp>
      <p:sp>
        <p:nvSpPr>
          <p:cNvPr id="38" name="Text 23"/>
          <p:cNvSpPr/>
          <p:nvPr/>
        </p:nvSpPr>
        <p:spPr>
          <a:xfrm>
            <a:off x="6903720" y="14630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Provider-agnostic</a:t>
            </a:r>
            <a:endParaRPr lang="en-US" sz="900" dirty="0"/>
          </a:p>
        </p:txBody>
      </p:sp>
      <p:sp>
        <p:nvSpPr>
          <p:cNvPr id="39" name="Shape 24"/>
          <p:cNvSpPr/>
          <p:nvPr/>
        </p:nvSpPr>
        <p:spPr>
          <a:xfrm>
            <a:off x="6446520" y="1783080"/>
            <a:ext cx="210312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pic>
        <p:nvPicPr>
          <p:cNvPr id="4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46520" y="1965960"/>
            <a:ext cx="109728" cy="109728"/>
          </a:xfrm>
          <a:prstGeom prst="rect">
            <a:avLst/>
          </a:prstGeom>
        </p:spPr>
      </p:pic>
      <p:sp>
        <p:nvSpPr>
          <p:cNvPr id="41" name="Text 25"/>
          <p:cNvSpPr/>
          <p:nvPr/>
        </p:nvSpPr>
        <p:spPr>
          <a:xfrm>
            <a:off x="6629400" y="1920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API → Azure OpenAI</a:t>
            </a:r>
            <a:endParaRPr lang="en-US" sz="950" dirty="0"/>
          </a:p>
        </p:txBody>
      </p:sp>
      <p:pic>
        <p:nvPicPr>
          <p:cNvPr id="4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46520" y="2468880"/>
            <a:ext cx="109728" cy="109728"/>
          </a:xfrm>
          <a:prstGeom prst="rect">
            <a:avLst/>
          </a:prstGeom>
        </p:spPr>
      </p:pic>
      <p:sp>
        <p:nvSpPr>
          <p:cNvPr id="43" name="Text 26"/>
          <p:cNvSpPr/>
          <p:nvPr/>
        </p:nvSpPr>
        <p:spPr>
          <a:xfrm>
            <a:off x="6629400" y="2423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free external data APIs</a:t>
            </a:r>
            <a:endParaRPr lang="en-US" sz="950" dirty="0"/>
          </a:p>
        </p:txBody>
      </p:sp>
      <p:pic>
        <p:nvPicPr>
          <p:cNvPr id="44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46520" y="2971800"/>
            <a:ext cx="109728" cy="109728"/>
          </a:xfrm>
          <a:prstGeom prst="rect">
            <a:avLst/>
          </a:prstGeom>
        </p:spPr>
      </p:pic>
      <p:sp>
        <p:nvSpPr>
          <p:cNvPr id="45" name="Text 27"/>
          <p:cNvSpPr/>
          <p:nvPr/>
        </p:nvSpPr>
        <p:spPr>
          <a:xfrm>
            <a:off x="6629400" y="29260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BI Shift Matrix export</a:t>
            </a:r>
            <a:endParaRPr lang="en-US" sz="950" dirty="0"/>
          </a:p>
        </p:txBody>
      </p:sp>
      <p:pic>
        <p:nvPicPr>
          <p:cNvPr id="46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46520" y="3474720"/>
            <a:ext cx="109728" cy="109728"/>
          </a:xfrm>
          <a:prstGeom prst="rect">
            <a:avLst/>
          </a:prstGeom>
        </p:spPr>
      </p:pic>
      <p:sp>
        <p:nvSpPr>
          <p:cNvPr id="47" name="Text 28"/>
          <p:cNvSpPr/>
          <p:nvPr/>
        </p:nvSpPr>
        <p:spPr>
          <a:xfrm>
            <a:off x="6629400" y="3429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bidirectional bridge</a:t>
            </a:r>
            <a:endParaRPr lang="en-US" sz="950" dirty="0"/>
          </a:p>
        </p:txBody>
      </p:sp>
      <p:pic>
        <p:nvPicPr>
          <p:cNvPr id="48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46520" y="3977640"/>
            <a:ext cx="109728" cy="109728"/>
          </a:xfrm>
          <a:prstGeom prst="rect">
            <a:avLst/>
          </a:prstGeom>
        </p:spPr>
      </p:pic>
      <p:sp>
        <p:nvSpPr>
          <p:cNvPr id="49" name="Text 29"/>
          <p:cNvSpPr/>
          <p:nvPr/>
        </p:nvSpPr>
        <p:spPr>
          <a:xfrm>
            <a:off x="6629400" y="39319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€0/year running cost</a:t>
            </a:r>
            <a:endParaRPr lang="en-US" sz="950" dirty="0"/>
          </a:p>
        </p:txBody>
      </p:sp>
      <p:sp>
        <p:nvSpPr>
          <p:cNvPr id="50" name="Text 30"/>
          <p:cNvSpPr/>
          <p:nvPr/>
        </p:nvSpPr>
        <p:spPr>
          <a:xfrm>
            <a:off x="457200" y="4800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51" name="Text 31"/>
          <p:cNvSpPr/>
          <p:nvPr/>
        </p:nvSpPr>
        <p:spPr>
          <a:xfrm>
            <a:off x="841248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1000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ROADMAP — MVP TO ENTERPRISE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phases, each delivering standalone value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8046720" cy="54864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6" name="Shape 4"/>
          <p:cNvSpPr/>
          <p:nvPr/>
        </p:nvSpPr>
        <p:spPr>
          <a:xfrm>
            <a:off x="1600200" y="1399032"/>
            <a:ext cx="274320" cy="274320"/>
          </a:xfrm>
          <a:prstGeom prst="ellipse">
            <a:avLst/>
          </a:prstGeom>
          <a:solidFill>
            <a:srgbClr val="E1000F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1430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 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377440" cy="2743200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1168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43000" y="20116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Bayesian Engine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143000" y="224028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Progress</a:t>
            </a:r>
            <a:endParaRPr lang="en-US" sz="8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06040"/>
            <a:ext cx="109728" cy="10972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14400" y="2560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 reads V12 Excel</a:t>
            </a:r>
            <a:endParaRPr lang="en-US" sz="95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63240"/>
            <a:ext cx="109728" cy="1097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4400" y="3017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Bayesian MC + causal DAG</a:t>
            </a:r>
            <a:endParaRPr lang="en-US" sz="9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520440"/>
            <a:ext cx="109728" cy="10972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14400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Continuous-path Shift Matrix</a:t>
            </a:r>
            <a:endParaRPr lang="en-US" sz="95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977640"/>
            <a:ext cx="109728" cy="10972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14400" y="3931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V12 parity validation</a:t>
            </a:r>
            <a:endParaRPr lang="en-US" sz="950" dirty="0"/>
          </a:p>
        </p:txBody>
      </p:sp>
      <p:sp>
        <p:nvSpPr>
          <p:cNvPr id="20" name="Shape 13"/>
          <p:cNvSpPr/>
          <p:nvPr/>
        </p:nvSpPr>
        <p:spPr>
          <a:xfrm>
            <a:off x="4343400" y="1399032"/>
            <a:ext cx="274320" cy="27432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21" name="Text 14"/>
          <p:cNvSpPr/>
          <p:nvPr/>
        </p:nvSpPr>
        <p:spPr>
          <a:xfrm>
            <a:off x="3749040" y="11430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 2026</a:t>
            </a:r>
            <a:endParaRPr lang="en-US" sz="900" dirty="0"/>
          </a:p>
        </p:txBody>
      </p:sp>
      <p:sp>
        <p:nvSpPr>
          <p:cNvPr id="22" name="Shape 15"/>
          <p:cNvSpPr/>
          <p:nvPr/>
        </p:nvSpPr>
        <p:spPr>
          <a:xfrm>
            <a:off x="3291840" y="1874520"/>
            <a:ext cx="2377440" cy="2743200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4720" y="2011680"/>
            <a:ext cx="320040" cy="32004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3886200" y="20116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 Room Dashboard</a:t>
            </a:r>
            <a:endParaRPr lang="en-US" sz="1200" dirty="0"/>
          </a:p>
        </p:txBody>
      </p:sp>
      <p:sp>
        <p:nvSpPr>
          <p:cNvPr id="25" name="Text 17"/>
          <p:cNvSpPr/>
          <p:nvPr/>
        </p:nvSpPr>
        <p:spPr>
          <a:xfrm>
            <a:off x="3886200" y="224028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Planned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4720" y="2606040"/>
            <a:ext cx="109728" cy="10972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657600" y="2560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SPA with heatmap</a:t>
            </a:r>
            <a:endParaRPr lang="en-US" sz="95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74720" y="3063240"/>
            <a:ext cx="109728" cy="109728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3657600" y="3017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Causal flow animation</a:t>
            </a:r>
            <a:endParaRPr lang="en-US" sz="950" dirty="0"/>
          </a:p>
        </p:txBody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74720" y="3520440"/>
            <a:ext cx="109728" cy="109728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3657600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comparison</a:t>
            </a:r>
            <a:endParaRPr lang="en-US" sz="950" dirty="0"/>
          </a:p>
        </p:txBody>
      </p:sp>
      <p:pic>
        <p:nvPicPr>
          <p:cNvPr id="3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74720" y="3977640"/>
            <a:ext cx="109728" cy="109728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3657600" y="3931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center (PPT/PDF/XLS)</a:t>
            </a:r>
            <a:endParaRPr lang="en-US" sz="950" dirty="0"/>
          </a:p>
        </p:txBody>
      </p:sp>
      <p:sp>
        <p:nvSpPr>
          <p:cNvPr id="34" name="Shape 22"/>
          <p:cNvSpPr/>
          <p:nvPr/>
        </p:nvSpPr>
        <p:spPr>
          <a:xfrm>
            <a:off x="7086600" y="1399032"/>
            <a:ext cx="274320" cy="27432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35" name="Text 23"/>
          <p:cNvSpPr/>
          <p:nvPr/>
        </p:nvSpPr>
        <p:spPr>
          <a:xfrm>
            <a:off x="6492240" y="11430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 2026</a:t>
            </a:r>
            <a:endParaRPr lang="en-US" sz="900" dirty="0"/>
          </a:p>
        </p:txBody>
      </p:sp>
      <p:sp>
        <p:nvSpPr>
          <p:cNvPr id="36" name="Shape 24"/>
          <p:cNvSpPr/>
          <p:nvPr/>
        </p:nvSpPr>
        <p:spPr>
          <a:xfrm>
            <a:off x="6035040" y="1874520"/>
            <a:ext cx="2377440" cy="2743200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17920" y="2011680"/>
            <a:ext cx="320040" cy="320040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6629400" y="20116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+ Power BI</a:t>
            </a:r>
            <a:endParaRPr lang="en-US" sz="1200" dirty="0"/>
          </a:p>
        </p:txBody>
      </p:sp>
      <p:sp>
        <p:nvSpPr>
          <p:cNvPr id="39" name="Text 26"/>
          <p:cNvSpPr/>
          <p:nvPr/>
        </p:nvSpPr>
        <p:spPr>
          <a:xfrm>
            <a:off x="6629400" y="224028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Planned</a:t>
            </a:r>
            <a:endParaRPr lang="en-US" sz="800" dirty="0"/>
          </a:p>
        </p:txBody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17920" y="2606040"/>
            <a:ext cx="109728" cy="109728"/>
          </a:xfrm>
          <a:prstGeom prst="rect">
            <a:avLst/>
          </a:prstGeom>
        </p:spPr>
      </p:pic>
      <p:sp>
        <p:nvSpPr>
          <p:cNvPr id="41" name="Text 27"/>
          <p:cNvSpPr/>
          <p:nvPr/>
        </p:nvSpPr>
        <p:spPr>
          <a:xfrm>
            <a:off x="6400800" y="2560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trend scanner</a:t>
            </a:r>
            <a:endParaRPr lang="en-US" sz="950" dirty="0"/>
          </a:p>
        </p:txBody>
      </p:sp>
      <p:pic>
        <p:nvPicPr>
          <p:cNvPr id="4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17920" y="3063240"/>
            <a:ext cx="109728" cy="109728"/>
          </a:xfrm>
          <a:prstGeom prst="rect">
            <a:avLst/>
          </a:prstGeom>
        </p:spPr>
      </p:pic>
      <p:sp>
        <p:nvSpPr>
          <p:cNvPr id="43" name="Text 28"/>
          <p:cNvSpPr/>
          <p:nvPr/>
        </p:nvSpPr>
        <p:spPr>
          <a:xfrm>
            <a:off x="6400800" y="3017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Delphi workflow integration</a:t>
            </a:r>
            <a:endParaRPr lang="en-US" sz="950" dirty="0"/>
          </a:p>
        </p:txBody>
      </p:sp>
      <p:pic>
        <p:nvPicPr>
          <p:cNvPr id="44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17920" y="3520440"/>
            <a:ext cx="109728" cy="109728"/>
          </a:xfrm>
          <a:prstGeom prst="rect">
            <a:avLst/>
          </a:prstGeom>
        </p:spPr>
      </p:pic>
      <p:sp>
        <p:nvSpPr>
          <p:cNvPr id="45" name="Text 29"/>
          <p:cNvSpPr/>
          <p:nvPr/>
        </p:nvSpPr>
        <p:spPr>
          <a:xfrm>
            <a:off x="6400800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 chat interface</a:t>
            </a:r>
            <a:endParaRPr lang="en-US" sz="950" dirty="0"/>
          </a:p>
        </p:txBody>
      </p:sp>
      <p:pic>
        <p:nvPicPr>
          <p:cNvPr id="46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17920" y="3977640"/>
            <a:ext cx="109728" cy="109728"/>
          </a:xfrm>
          <a:prstGeom prst="rect">
            <a:avLst/>
          </a:prstGeom>
        </p:spPr>
      </p:pic>
      <p:sp>
        <p:nvSpPr>
          <p:cNvPr id="47" name="Text 30"/>
          <p:cNvSpPr/>
          <p:nvPr/>
        </p:nvSpPr>
        <p:spPr>
          <a:xfrm>
            <a:off x="6400800" y="3931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 Power BI sync</a:t>
            </a:r>
            <a:endParaRPr lang="en-US" sz="950" dirty="0"/>
          </a:p>
        </p:txBody>
      </p:sp>
      <p:sp>
        <p:nvSpPr>
          <p:cNvPr id="48" name="Text 31"/>
          <p:cNvSpPr/>
          <p:nvPr/>
        </p:nvSpPr>
        <p:spPr>
          <a:xfrm>
            <a:off x="457200" y="4800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49" name="Text 32"/>
          <p:cNvSpPr/>
          <p:nvPr/>
        </p:nvSpPr>
        <p:spPr>
          <a:xfrm>
            <a:off x="841248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1000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OPERATING RHYTHM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embeds into the existing annual planning cycle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DEEP DIVES (1-2x PER YEAR)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188720" y="1783080"/>
            <a:ext cx="6766560" cy="0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463040"/>
            <a:ext cx="640080" cy="640080"/>
          </a:xfrm>
          <a:prstGeom prst="ellipse">
            <a:avLst/>
          </a:prstGeom>
          <a:solidFill>
            <a:srgbClr val="F3F4F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60020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224028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85800" y="2423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Trend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Update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85800" y="28803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scanner refreshes</a:t>
            </a:r>
            <a:endParaRPr lang="en-US" sz="8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trend database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154680" y="1463040"/>
            <a:ext cx="640080" cy="640080"/>
          </a:xfrm>
          <a:prstGeom prst="ellipse">
            <a:avLst/>
          </a:prstGeom>
          <a:solidFill>
            <a:srgbClr val="F3F4F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6002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834640" y="224028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2834640" y="2423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Delphi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Scoring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2834640" y="28803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3-round expert</a:t>
            </a:r>
            <a:endParaRPr lang="en-US" sz="8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rating protocol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5303520" y="1463040"/>
            <a:ext cx="640080" cy="640080"/>
          </a:xfrm>
          <a:prstGeom prst="ellipse">
            <a:avLst/>
          </a:prstGeom>
          <a:solidFill>
            <a:srgbClr val="F3F4F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983480" y="224028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00" dirty="0"/>
          </a:p>
        </p:txBody>
      </p:sp>
      <p:sp>
        <p:nvSpPr>
          <p:cNvPr id="20" name="Text 15"/>
          <p:cNvSpPr/>
          <p:nvPr/>
        </p:nvSpPr>
        <p:spPr>
          <a:xfrm>
            <a:off x="4983480" y="2423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MC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Simulation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4983480" y="28803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 iterations</a:t>
            </a:r>
            <a:endParaRPr lang="en-US" sz="8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causal DAG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7452360" y="1463040"/>
            <a:ext cx="640080" cy="640080"/>
          </a:xfrm>
          <a:prstGeom prst="ellipse">
            <a:avLst/>
          </a:prstGeom>
          <a:solidFill>
            <a:srgbClr val="F3F4F6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60020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32320" y="224028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Q2-Q4</a:t>
            </a:r>
            <a:endParaRPr lang="en-US" sz="800" dirty="0"/>
          </a:p>
        </p:txBody>
      </p:sp>
      <p:sp>
        <p:nvSpPr>
          <p:cNvPr id="25" name="Text 19"/>
          <p:cNvSpPr/>
          <p:nvPr/>
        </p:nvSpPr>
        <p:spPr>
          <a:xfrm>
            <a:off x="7132320" y="2423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7132320" y="28803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Shift Matrix</a:t>
            </a:r>
            <a:endParaRPr lang="en-US" sz="8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ExCo + Power BI</a:t>
            </a:r>
            <a:endParaRPr lang="en-US" sz="850" dirty="0"/>
          </a:p>
        </p:txBody>
      </p:sp>
      <p:sp>
        <p:nvSpPr>
          <p:cNvPr id="27" name="Text 21"/>
          <p:cNvSpPr/>
          <p:nvPr/>
        </p:nvSpPr>
        <p:spPr>
          <a:xfrm>
            <a:off x="4114800" y="3383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548640" y="370332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756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MONITORING (ALWAYS ON)</a:t>
            </a:r>
            <a:endParaRPr lang="en-US" sz="900" dirty="0"/>
          </a:p>
        </p:txBody>
      </p:sp>
      <p:sp>
        <p:nvSpPr>
          <p:cNvPr id="29" name="Shape 23"/>
          <p:cNvSpPr/>
          <p:nvPr/>
        </p:nvSpPr>
        <p:spPr>
          <a:xfrm>
            <a:off x="548640" y="3977640"/>
            <a:ext cx="8046720" cy="685800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50792"/>
            <a:ext cx="228600" cy="22860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051560" y="40233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Trend Scanner</a:t>
            </a:r>
            <a:endParaRPr lang="en-US" sz="950" dirty="0"/>
          </a:p>
        </p:txBody>
      </p:sp>
      <p:sp>
        <p:nvSpPr>
          <p:cNvPr id="32" name="Text 25"/>
          <p:cNvSpPr/>
          <p:nvPr/>
        </p:nvSpPr>
        <p:spPr>
          <a:xfrm>
            <a:off x="1051560" y="425196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Weekly signal digest</a:t>
            </a:r>
            <a:endParaRPr lang="en-US" sz="800" dirty="0"/>
          </a:p>
        </p:txBody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0" y="4050792"/>
            <a:ext cx="228600" cy="22860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3063240" y="40233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Early-Warning Triggers</a:t>
            </a:r>
            <a:endParaRPr lang="en-US" sz="950" dirty="0"/>
          </a:p>
        </p:txBody>
      </p:sp>
      <p:sp>
        <p:nvSpPr>
          <p:cNvPr id="35" name="Text 27"/>
          <p:cNvSpPr/>
          <p:nvPr/>
        </p:nvSpPr>
        <p:spPr>
          <a:xfrm>
            <a:off x="3063240" y="425196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Threshold alerts</a:t>
            </a:r>
            <a:endParaRPr lang="en-US" sz="800" dirty="0"/>
          </a:p>
        </p:txBody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0" y="4050792"/>
            <a:ext cx="228600" cy="22860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5074920" y="40233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Velocity Tracking</a:t>
            </a:r>
            <a:endParaRPr lang="en-US" sz="950" dirty="0"/>
          </a:p>
        </p:txBody>
      </p:sp>
      <p:sp>
        <p:nvSpPr>
          <p:cNvPr id="38" name="Text 29"/>
          <p:cNvSpPr/>
          <p:nvPr/>
        </p:nvSpPr>
        <p:spPr>
          <a:xfrm>
            <a:off x="5074920" y="425196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Shift speed monitoring</a:t>
            </a:r>
            <a:endParaRPr lang="en-US" sz="800" dirty="0"/>
          </a:p>
        </p:txBody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4050792"/>
            <a:ext cx="228600" cy="228600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7086600" y="40233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Quick Refresh</a:t>
            </a:r>
            <a:endParaRPr lang="en-US" sz="950" dirty="0"/>
          </a:p>
        </p:txBody>
      </p:sp>
      <p:sp>
        <p:nvSpPr>
          <p:cNvPr id="41" name="Text 31"/>
          <p:cNvSpPr/>
          <p:nvPr/>
        </p:nvSpPr>
        <p:spPr>
          <a:xfrm>
            <a:off x="7086600" y="425196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10K iter. on demand</a:t>
            </a:r>
            <a:endParaRPr lang="en-US" sz="800" dirty="0"/>
          </a:p>
        </p:txBody>
      </p:sp>
      <p:sp>
        <p:nvSpPr>
          <p:cNvPr id="42" name="Text 32"/>
          <p:cNvSpPr/>
          <p:nvPr/>
        </p:nvSpPr>
        <p:spPr>
          <a:xfrm>
            <a:off x="457200" y="4800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43" name="Text 33"/>
          <p:cNvSpPr/>
          <p:nvPr/>
        </p:nvSpPr>
        <p:spPr>
          <a:xfrm>
            <a:off x="841248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1000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STATIC EXCEL TO LIVING SIMULATION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the current V12 model cannot capture structural profit pool shifts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3794760" cy="356616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051560"/>
            <a:ext cx="3794760" cy="457200"/>
          </a:xfrm>
          <a:prstGeom prst="rect">
            <a:avLst/>
          </a:prstGeom>
          <a:solidFill>
            <a:srgbClr val="37415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12471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1097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Current: V12 Excel Model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91640"/>
            <a:ext cx="182880" cy="1828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05840" y="16459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estimates only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2423160" y="1645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 best-guess scores — no probability distributions or confidence intervals</a:t>
            </a:r>
            <a:endParaRPr lang="en-US" sz="8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21992"/>
            <a:ext cx="182880" cy="1828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05840" y="217627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Independent forces</a:t>
            </a:r>
            <a:endParaRPr lang="en-US" sz="950" dirty="0"/>
          </a:p>
        </p:txBody>
      </p:sp>
      <p:sp>
        <p:nvSpPr>
          <p:cNvPr id="14" name="Text 9"/>
          <p:cNvSpPr/>
          <p:nvPr/>
        </p:nvSpPr>
        <p:spPr>
          <a:xfrm>
            <a:off x="2423160" y="21762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force scored in isolation — no causal links between regulation, tech, and consumer shifts</a:t>
            </a:r>
            <a:endParaRPr lang="en-US" sz="8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752344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05840" y="270662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time horizons</a:t>
            </a:r>
            <a:endParaRPr lang="en-US" sz="950" dirty="0"/>
          </a:p>
        </p:txBody>
      </p:sp>
      <p:sp>
        <p:nvSpPr>
          <p:cNvPr id="17" name="Text 11"/>
          <p:cNvSpPr/>
          <p:nvPr/>
        </p:nvSpPr>
        <p:spPr>
          <a:xfrm>
            <a:off x="2423160" y="27066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Mid-term and long-term snapshots only — no path velocity or early-warning triggers</a:t>
            </a:r>
            <a:endParaRPr lang="en-US" sz="8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282696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005840" y="323697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Manual, annual refresh</a:t>
            </a:r>
            <a:endParaRPr lang="en-US" sz="950" dirty="0"/>
          </a:p>
        </p:txBody>
      </p:sp>
      <p:sp>
        <p:nvSpPr>
          <p:cNvPr id="20" name="Text 13"/>
          <p:cNvSpPr/>
          <p:nvPr/>
        </p:nvSpPr>
        <p:spPr>
          <a:xfrm>
            <a:off x="2423160" y="32369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weeks of manual scoring — no AI trend scanning or continuous monitoring</a:t>
            </a:r>
            <a:endParaRPr lang="en-US" sz="8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813048"/>
            <a:ext cx="182880" cy="18288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005840" y="3767328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optimization</a:t>
            </a:r>
            <a:endParaRPr lang="en-US" sz="950" dirty="0"/>
          </a:p>
        </p:txBody>
      </p:sp>
      <p:sp>
        <p:nvSpPr>
          <p:cNvPr id="23" name="Text 15"/>
          <p:cNvSpPr/>
          <p:nvPr/>
        </p:nvSpPr>
        <p:spPr>
          <a:xfrm>
            <a:off x="2423160" y="37673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Shows shifts but doesn’t recommend where to invest, defend, or harvest</a:t>
            </a:r>
            <a:endParaRPr lang="en-US" sz="800" dirty="0"/>
          </a:p>
        </p:txBody>
      </p:sp>
      <p:sp>
        <p:nvSpPr>
          <p:cNvPr id="24" name="Text 16"/>
          <p:cNvSpPr/>
          <p:nvPr/>
        </p:nvSpPr>
        <p:spPr>
          <a:xfrm>
            <a:off x="4206240" y="25603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2400" dirty="0"/>
          </a:p>
        </p:txBody>
      </p:sp>
      <p:sp>
        <p:nvSpPr>
          <p:cNvPr id="25" name="Shape 17"/>
          <p:cNvSpPr/>
          <p:nvPr/>
        </p:nvSpPr>
        <p:spPr>
          <a:xfrm>
            <a:off x="4800600" y="1051560"/>
            <a:ext cx="3794760" cy="3566160"/>
          </a:xfrm>
          <a:prstGeom prst="rect">
            <a:avLst/>
          </a:prstGeom>
          <a:solidFill>
            <a:srgbClr val="FFFFFF"/>
          </a:solidFill>
          <a:ln w="19050">
            <a:solidFill>
              <a:srgbClr val="E1000F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4800600" y="1051560"/>
            <a:ext cx="3794760" cy="457200"/>
          </a:xfrm>
          <a:prstGeom prst="rect">
            <a:avLst/>
          </a:prstGeom>
          <a:solidFill>
            <a:srgbClr val="E1000F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01768" y="1124712"/>
            <a:ext cx="274320" cy="27432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5349240" y="1097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New: PULSE Simulation Engine</a:t>
            </a:r>
            <a:endParaRPr lang="en-US" sz="13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3480" y="1691640"/>
            <a:ext cx="182880" cy="182880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257800" y="16459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Bayesian Monte Carlo</a:t>
            </a:r>
            <a:endParaRPr lang="en-US" sz="950" dirty="0"/>
          </a:p>
        </p:txBody>
      </p:sp>
      <p:sp>
        <p:nvSpPr>
          <p:cNvPr id="31" name="Text 21"/>
          <p:cNvSpPr/>
          <p:nvPr/>
        </p:nvSpPr>
        <p:spPr>
          <a:xfrm>
            <a:off x="6675120" y="1645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10,000+ iterations with probability distributions and confidence bands per category</a:t>
            </a:r>
            <a:endParaRPr lang="en-US" sz="8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83480" y="2221992"/>
            <a:ext cx="182880" cy="182880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5257800" y="217627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Causal DAG propagation</a:t>
            </a:r>
            <a:endParaRPr lang="en-US" sz="950" dirty="0"/>
          </a:p>
        </p:txBody>
      </p:sp>
      <p:sp>
        <p:nvSpPr>
          <p:cNvPr id="34" name="Text 23"/>
          <p:cNvSpPr/>
          <p:nvPr/>
        </p:nvSpPr>
        <p:spPr>
          <a:xfrm>
            <a:off x="6675120" y="21762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directed edges model how a regulatory shock cascades through all 6 forces</a:t>
            </a:r>
            <a:endParaRPr lang="en-US" sz="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83480" y="2752344"/>
            <a:ext cx="182880" cy="182880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5257800" y="270662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5-year continuous paths</a:t>
            </a:r>
            <a:endParaRPr lang="en-US" sz="950" dirty="0"/>
          </a:p>
        </p:txBody>
      </p:sp>
      <p:sp>
        <p:nvSpPr>
          <p:cNvPr id="37" name="Text 25"/>
          <p:cNvSpPr/>
          <p:nvPr/>
        </p:nvSpPr>
        <p:spPr>
          <a:xfrm>
            <a:off x="6675120" y="27066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granularity 2026–2030 with velocity tracking, acceleration, and trigger alerts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83480" y="3282696"/>
            <a:ext cx="182880" cy="182880"/>
          </a:xfrm>
          <a:prstGeom prst="rect">
            <a:avLst/>
          </a:prstGeom>
        </p:spPr>
      </p:pic>
      <p:sp>
        <p:nvSpPr>
          <p:cNvPr id="39" name="Text 26"/>
          <p:cNvSpPr/>
          <p:nvPr/>
        </p:nvSpPr>
        <p:spPr>
          <a:xfrm>
            <a:off x="5257800" y="323697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AI-augmented, always-on</a:t>
            </a:r>
            <a:endParaRPr lang="en-US" sz="950" dirty="0"/>
          </a:p>
        </p:txBody>
      </p:sp>
      <p:sp>
        <p:nvSpPr>
          <p:cNvPr id="40" name="Text 27"/>
          <p:cNvSpPr/>
          <p:nvPr/>
        </p:nvSpPr>
        <p:spPr>
          <a:xfrm>
            <a:off x="6675120" y="32369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free APIs scan trends continuously — weekly signal digest with Delphi calibration</a:t>
            </a:r>
            <a:endParaRPr lang="en-US" sz="8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83480" y="3813048"/>
            <a:ext cx="182880" cy="182880"/>
          </a:xfrm>
          <a:prstGeom prst="rect">
            <a:avLst/>
          </a:prstGeom>
        </p:spPr>
      </p:pic>
      <p:sp>
        <p:nvSpPr>
          <p:cNvPr id="42" name="Text 28"/>
          <p:cNvSpPr/>
          <p:nvPr/>
        </p:nvSpPr>
        <p:spPr>
          <a:xfrm>
            <a:off x="5257800" y="3767328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Allocation optimizer</a:t>
            </a:r>
            <a:endParaRPr lang="en-US" sz="950" dirty="0"/>
          </a:p>
        </p:txBody>
      </p:sp>
      <p:sp>
        <p:nvSpPr>
          <p:cNvPr id="43" name="Text 29"/>
          <p:cNvSpPr/>
          <p:nvPr/>
        </p:nvSpPr>
        <p:spPr>
          <a:xfrm>
            <a:off x="6675120" y="37673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 / defend / harvest recommendations based on risk-adjusted expected pool shifts</a:t>
            </a:r>
            <a:endParaRPr lang="en-US" sz="800" dirty="0"/>
          </a:p>
        </p:txBody>
      </p:sp>
      <p:sp>
        <p:nvSpPr>
          <p:cNvPr id="44" name="Text 30"/>
          <p:cNvSpPr/>
          <p:nvPr/>
        </p:nvSpPr>
        <p:spPr>
          <a:xfrm>
            <a:off x="457200" y="4800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45" name="Text 31"/>
          <p:cNvSpPr/>
          <p:nvPr/>
        </p:nvSpPr>
        <p:spPr>
          <a:xfrm>
            <a:off x="841248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1000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DELPHI EXPERT ELICITATION PROCESS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 3-round protocol eliminates bias and builds calibrated consensus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463040" y="1600200"/>
            <a:ext cx="6217920" cy="0"/>
          </a:xfrm>
          <a:prstGeom prst="line">
            <a:avLst/>
          </a:prstGeom>
          <a:noFill/>
          <a:ln w="254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1280160"/>
            <a:ext cx="640080" cy="640080"/>
          </a:xfrm>
          <a:prstGeom prst="ellipse">
            <a:avLst/>
          </a:prstGeom>
          <a:solidFill>
            <a:srgbClr val="E1000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14173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926080" y="13716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5800" y="2103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ROUND 1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85800" y="2331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Blind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Scoring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3017520"/>
            <a:ext cx="2468880" cy="1463040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127248"/>
            <a:ext cx="91440" cy="914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68680" y="30815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Independent probability rating (1–5)</a:t>
            </a:r>
            <a:endParaRPr lang="en-US" sz="85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56432"/>
            <a:ext cx="91440" cy="914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68680" y="34107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rationale per trend</a:t>
            </a:r>
            <a:endParaRPr lang="en-US" sz="8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785616"/>
            <a:ext cx="91440" cy="914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68680" y="3739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visibility into others’ scores</a:t>
            </a:r>
            <a:endParaRPr lang="en-US" sz="85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114800"/>
            <a:ext cx="91440" cy="914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68680" y="4069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Calibration exercise to detect bias</a:t>
            </a:r>
            <a:endParaRPr lang="en-US" sz="850" dirty="0"/>
          </a:p>
        </p:txBody>
      </p:sp>
      <p:sp>
        <p:nvSpPr>
          <p:cNvPr id="20" name="Shape 13"/>
          <p:cNvSpPr/>
          <p:nvPr/>
        </p:nvSpPr>
        <p:spPr>
          <a:xfrm>
            <a:off x="4434840" y="1280160"/>
            <a:ext cx="640080" cy="640080"/>
          </a:xfrm>
          <a:prstGeom prst="ellipse">
            <a:avLst/>
          </a:prstGeom>
          <a:solidFill>
            <a:srgbClr val="E1000F"/>
          </a:solidFill>
          <a:ln/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1417320"/>
            <a:ext cx="365760" cy="36576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5897880" y="13716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3657600" y="2103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ROUND 2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3657600" y="2331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Calibrated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Re-Score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520440" y="3017520"/>
            <a:ext cx="2468880" cy="1463040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0" y="3127248"/>
            <a:ext cx="91440" cy="91440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840480" y="30815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Anonymized score distribution shared</a:t>
            </a:r>
            <a:endParaRPr lang="en-US" sz="85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7600" y="3456432"/>
            <a:ext cx="91440" cy="91440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3840480" y="34107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suggests adjustments (human review)</a:t>
            </a:r>
            <a:endParaRPr lang="en-US" sz="850" dirty="0"/>
          </a:p>
        </p:txBody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57600" y="3785616"/>
            <a:ext cx="91440" cy="91440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3840480" y="3739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Anchoring &amp; optimism bias flagged</a:t>
            </a:r>
            <a:endParaRPr lang="en-US" sz="850" dirty="0"/>
          </a:p>
        </p:txBody>
      </p:sp>
      <p:pic>
        <p:nvPicPr>
          <p:cNvPr id="3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0" y="4114800"/>
            <a:ext cx="91440" cy="91440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3840480" y="4069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Scorers re-rate with group context</a:t>
            </a:r>
            <a:endParaRPr lang="en-US" sz="850" dirty="0"/>
          </a:p>
        </p:txBody>
      </p:sp>
      <p:sp>
        <p:nvSpPr>
          <p:cNvPr id="34" name="Shape 22"/>
          <p:cNvSpPr/>
          <p:nvPr/>
        </p:nvSpPr>
        <p:spPr>
          <a:xfrm>
            <a:off x="7406640" y="1280160"/>
            <a:ext cx="640080" cy="640080"/>
          </a:xfrm>
          <a:prstGeom prst="ellipse">
            <a:avLst/>
          </a:prstGeom>
          <a:solidFill>
            <a:srgbClr val="E1000F"/>
          </a:solidFill>
          <a:ln/>
        </p:spPr>
      </p:sp>
      <p:pic>
        <p:nvPicPr>
          <p:cNvPr id="35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43800" y="1417320"/>
            <a:ext cx="365760" cy="365760"/>
          </a:xfrm>
          <a:prstGeom prst="rect">
            <a:avLst/>
          </a:prstGeom>
        </p:spPr>
      </p:pic>
      <p:sp>
        <p:nvSpPr>
          <p:cNvPr id="36" name="Text 23"/>
          <p:cNvSpPr/>
          <p:nvPr/>
        </p:nvSpPr>
        <p:spPr>
          <a:xfrm>
            <a:off x="6629400" y="2103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ROUND 3</a:t>
            </a:r>
            <a:endParaRPr lang="en-US" sz="1000" dirty="0"/>
          </a:p>
        </p:txBody>
      </p:sp>
      <p:sp>
        <p:nvSpPr>
          <p:cNvPr id="37" name="Text 24"/>
          <p:cNvSpPr/>
          <p:nvPr/>
        </p:nvSpPr>
        <p:spPr>
          <a:xfrm>
            <a:off x="6629400" y="2331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Sign-Off</a:t>
            </a:r>
            <a:endParaRPr lang="en-US" sz="1400" dirty="0"/>
          </a:p>
        </p:txBody>
      </p:sp>
      <p:sp>
        <p:nvSpPr>
          <p:cNvPr id="38" name="Shape 25"/>
          <p:cNvSpPr/>
          <p:nvPr/>
        </p:nvSpPr>
        <p:spPr>
          <a:xfrm>
            <a:off x="6492240" y="3017520"/>
            <a:ext cx="2468880" cy="1463040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3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29400" y="3127248"/>
            <a:ext cx="91440" cy="91440"/>
          </a:xfrm>
          <a:prstGeom prst="rect">
            <a:avLst/>
          </a:prstGeom>
        </p:spPr>
      </p:pic>
      <p:sp>
        <p:nvSpPr>
          <p:cNvPr id="40" name="Text 26"/>
          <p:cNvSpPr/>
          <p:nvPr/>
        </p:nvSpPr>
        <p:spPr>
          <a:xfrm>
            <a:off x="6812280" y="30815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Outlier discussion (top/bottom 10%)</a:t>
            </a:r>
            <a:endParaRPr lang="en-US" sz="850" dirty="0"/>
          </a:p>
        </p:txBody>
      </p:sp>
      <p:pic>
        <p:nvPicPr>
          <p:cNvPr id="41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29400" y="3456432"/>
            <a:ext cx="91440" cy="91440"/>
          </a:xfrm>
          <a:prstGeom prst="rect">
            <a:avLst/>
          </a:prstGeom>
        </p:spPr>
      </p:pic>
      <p:sp>
        <p:nvSpPr>
          <p:cNvPr id="42" name="Text 27"/>
          <p:cNvSpPr/>
          <p:nvPr/>
        </p:nvSpPr>
        <p:spPr>
          <a:xfrm>
            <a:off x="6812280" y="34107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Weighted median = final score</a:t>
            </a:r>
            <a:endParaRPr lang="en-US" sz="850" dirty="0"/>
          </a:p>
        </p:txBody>
      </p:sp>
      <p:pic>
        <p:nvPicPr>
          <p:cNvPr id="4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9400" y="3785616"/>
            <a:ext cx="91440" cy="91440"/>
          </a:xfrm>
          <a:prstGeom prst="rect">
            <a:avLst/>
          </a:prstGeom>
        </p:spPr>
      </p:pic>
      <p:sp>
        <p:nvSpPr>
          <p:cNvPr id="44" name="Text 28"/>
          <p:cNvSpPr/>
          <p:nvPr/>
        </p:nvSpPr>
        <p:spPr>
          <a:xfrm>
            <a:off x="6812280" y="3739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Scorer calibration accuracy tracked</a:t>
            </a:r>
            <a:endParaRPr lang="en-US" sz="850" dirty="0"/>
          </a:p>
        </p:txBody>
      </p:sp>
      <p:pic>
        <p:nvPicPr>
          <p:cNvPr id="45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29400" y="4114800"/>
            <a:ext cx="91440" cy="91440"/>
          </a:xfrm>
          <a:prstGeom prst="rect">
            <a:avLst/>
          </a:prstGeom>
        </p:spPr>
      </p:pic>
      <p:sp>
        <p:nvSpPr>
          <p:cNvPr id="46" name="Text 29"/>
          <p:cNvSpPr/>
          <p:nvPr/>
        </p:nvSpPr>
        <p:spPr>
          <a:xfrm>
            <a:off x="6812280" y="4069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Inter-rater reliability (α &gt; 0.67)</a:t>
            </a:r>
            <a:endParaRPr lang="en-US" sz="850" dirty="0"/>
          </a:p>
        </p:txBody>
      </p:sp>
      <p:sp>
        <p:nvSpPr>
          <p:cNvPr id="47" name="Shape 30"/>
          <p:cNvSpPr/>
          <p:nvPr/>
        </p:nvSpPr>
        <p:spPr>
          <a:xfrm>
            <a:off x="548640" y="4617720"/>
            <a:ext cx="8046720" cy="320040"/>
          </a:xfrm>
          <a:prstGeom prst="rect">
            <a:avLst/>
          </a:prstGeom>
          <a:solidFill>
            <a:srgbClr val="0F172A"/>
          </a:solidFill>
          <a:ln/>
        </p:spPr>
      </p:sp>
      <p:pic>
        <p:nvPicPr>
          <p:cNvPr id="48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5800" y="4672584"/>
            <a:ext cx="118872" cy="118872"/>
          </a:xfrm>
          <a:prstGeom prst="rect">
            <a:avLst/>
          </a:prstGeom>
        </p:spPr>
      </p:pic>
      <p:sp>
        <p:nvSpPr>
          <p:cNvPr id="49" name="Text 31"/>
          <p:cNvSpPr/>
          <p:nvPr/>
        </p:nvSpPr>
        <p:spPr>
          <a:xfrm>
            <a:off x="868680" y="4654296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Eliminates anchoring bias</a:t>
            </a:r>
            <a:endParaRPr lang="en-US" sz="800" dirty="0"/>
          </a:p>
        </p:txBody>
      </p:sp>
      <p:pic>
        <p:nvPicPr>
          <p:cNvPr id="5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697480" y="4672584"/>
            <a:ext cx="118872" cy="118872"/>
          </a:xfrm>
          <a:prstGeom prst="rect">
            <a:avLst/>
          </a:prstGeom>
        </p:spPr>
      </p:pic>
      <p:sp>
        <p:nvSpPr>
          <p:cNvPr id="51" name="Text 32"/>
          <p:cNvSpPr/>
          <p:nvPr/>
        </p:nvSpPr>
        <p:spPr>
          <a:xfrm>
            <a:off x="2880360" y="4654296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Builds auditable consensus</a:t>
            </a:r>
            <a:endParaRPr lang="en-US" sz="800" dirty="0"/>
          </a:p>
        </p:txBody>
      </p:sp>
      <p:pic>
        <p:nvPicPr>
          <p:cNvPr id="5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709160" y="4672584"/>
            <a:ext cx="118872" cy="118872"/>
          </a:xfrm>
          <a:prstGeom prst="rect">
            <a:avLst/>
          </a:prstGeom>
        </p:spPr>
      </p:pic>
      <p:sp>
        <p:nvSpPr>
          <p:cNvPr id="53" name="Text 33"/>
          <p:cNvSpPr/>
          <p:nvPr/>
        </p:nvSpPr>
        <p:spPr>
          <a:xfrm>
            <a:off x="4892040" y="4654296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Tracks scorer accuracy over time</a:t>
            </a:r>
            <a:endParaRPr lang="en-US" sz="800" dirty="0"/>
          </a:p>
        </p:txBody>
      </p:sp>
      <p:pic>
        <p:nvPicPr>
          <p:cNvPr id="5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20840" y="4672584"/>
            <a:ext cx="118872" cy="118872"/>
          </a:xfrm>
          <a:prstGeom prst="rect">
            <a:avLst/>
          </a:prstGeom>
        </p:spPr>
      </p:pic>
      <p:sp>
        <p:nvSpPr>
          <p:cNvPr id="55" name="Text 34"/>
          <p:cNvSpPr/>
          <p:nvPr/>
        </p:nvSpPr>
        <p:spPr>
          <a:xfrm>
            <a:off x="6903720" y="4654296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AI-assisted, never AI-decided</a:t>
            </a:r>
            <a:endParaRPr lang="en-US" sz="800" dirty="0"/>
          </a:p>
        </p:txBody>
      </p:sp>
      <p:sp>
        <p:nvSpPr>
          <p:cNvPr id="56" name="Text 35"/>
          <p:cNvSpPr/>
          <p:nvPr/>
        </p:nvSpPr>
        <p:spPr>
          <a:xfrm>
            <a:off x="457200" y="4800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57" name="Text 36"/>
          <p:cNvSpPr/>
          <p:nvPr/>
        </p:nvSpPr>
        <p:spPr>
          <a:xfrm>
            <a:off x="841248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1000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TREND ANALYSIS &amp; DATA SOURCE VALIDATION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AI-powered scanning with 9-tier credibility system ensures evidence-based scoring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SCANNING PIPELINE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657600" cy="56692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7" name="Text 5"/>
          <p:cNvSpPr/>
          <p:nvPr/>
        </p:nvSpPr>
        <p:spPr>
          <a:xfrm>
            <a:off x="2194560" y="187452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▼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58368" y="1444752"/>
            <a:ext cx="411480" cy="411480"/>
          </a:xfrm>
          <a:prstGeom prst="ellipse">
            <a:avLst/>
          </a:prstGeom>
          <a:solidFill>
            <a:srgbClr val="E1000F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536192"/>
            <a:ext cx="228600" cy="228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Multi-Source Ingestion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188720" y="164592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free APIs: GDELT, GNews, ECHA, EUR-Lex, patents, RSS feeds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548640" y="2029968"/>
            <a:ext cx="3657600" cy="56692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3" name="Text 10"/>
          <p:cNvSpPr/>
          <p:nvPr/>
        </p:nvSpPr>
        <p:spPr>
          <a:xfrm>
            <a:off x="2194560" y="253288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▼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658368" y="2103120"/>
            <a:ext cx="411480" cy="411480"/>
          </a:xfrm>
          <a:prstGeom prst="ellipse">
            <a:avLst/>
          </a:prstGeom>
          <a:solidFill>
            <a:srgbClr val="E1000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194560"/>
            <a:ext cx="228600" cy="2286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88720" y="207568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Relevance Filtering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1188720" y="230428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FMCG category mapping — Hair, LHC, cross-category signals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548640" y="2688336"/>
            <a:ext cx="3657600" cy="56692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9" name="Text 15"/>
          <p:cNvSpPr/>
          <p:nvPr/>
        </p:nvSpPr>
        <p:spPr>
          <a:xfrm>
            <a:off x="2194560" y="31912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▼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658368" y="2761488"/>
            <a:ext cx="411480" cy="411480"/>
          </a:xfrm>
          <a:prstGeom prst="ellipse">
            <a:avLst/>
          </a:prstGeom>
          <a:solidFill>
            <a:srgbClr val="E1000F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852928"/>
            <a:ext cx="228600" cy="2286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188720" y="273405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Scoring Suggestion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1188720" y="296265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Probability (1–5) + GP1% affected — always flagged for human review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548640" y="3346704"/>
            <a:ext cx="3657600" cy="56692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5" name="Text 20"/>
          <p:cNvSpPr/>
          <p:nvPr/>
        </p:nvSpPr>
        <p:spPr>
          <a:xfrm>
            <a:off x="2194560" y="384962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1D5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▼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658368" y="3419856"/>
            <a:ext cx="411480" cy="411480"/>
          </a:xfrm>
          <a:prstGeom prst="ellipse">
            <a:avLst/>
          </a:prstGeom>
          <a:solidFill>
            <a:srgbClr val="E1000F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511296"/>
            <a:ext cx="228600" cy="22860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188720" y="339242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 Credibility Check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1188720" y="362102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source rated S through E — weak signals require B-tier corroboration</a:t>
            </a:r>
            <a:endParaRPr lang="en-US" sz="800" dirty="0"/>
          </a:p>
        </p:txBody>
      </p:sp>
      <p:sp>
        <p:nvSpPr>
          <p:cNvPr id="30" name="Shape 24"/>
          <p:cNvSpPr/>
          <p:nvPr/>
        </p:nvSpPr>
        <p:spPr>
          <a:xfrm>
            <a:off x="548640" y="4005072"/>
            <a:ext cx="3657600" cy="56692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1" name="Shape 25"/>
          <p:cNvSpPr/>
          <p:nvPr/>
        </p:nvSpPr>
        <p:spPr>
          <a:xfrm>
            <a:off x="658368" y="4078224"/>
            <a:ext cx="411480" cy="411480"/>
          </a:xfrm>
          <a:prstGeom prst="ellipse">
            <a:avLst/>
          </a:prstGeom>
          <a:solidFill>
            <a:srgbClr val="E1000F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4169664"/>
            <a:ext cx="228600" cy="22860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188720" y="40507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Human Review Queue</a:t>
            </a:r>
            <a:endParaRPr lang="en-US" sz="1000" dirty="0"/>
          </a:p>
        </p:txBody>
      </p:sp>
      <p:sp>
        <p:nvSpPr>
          <p:cNvPr id="34" name="Text 27"/>
          <p:cNvSpPr/>
          <p:nvPr/>
        </p:nvSpPr>
        <p:spPr>
          <a:xfrm>
            <a:off x="1188720" y="42793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Expert accepts, rejects, or adjusts — AI never auto-applied</a:t>
            </a:r>
            <a:endParaRPr lang="en-US" sz="800" dirty="0"/>
          </a:p>
        </p:txBody>
      </p:sp>
      <p:sp>
        <p:nvSpPr>
          <p:cNvPr id="35" name="Text 28"/>
          <p:cNvSpPr/>
          <p:nvPr/>
        </p:nvSpPr>
        <p:spPr>
          <a:xfrm>
            <a:off x="4800600" y="1051560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 CREDIBILITY TIERS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4800600" y="1325880"/>
            <a:ext cx="3794760" cy="333756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7" name="Shape 30"/>
          <p:cNvSpPr/>
          <p:nvPr/>
        </p:nvSpPr>
        <p:spPr>
          <a:xfrm>
            <a:off x="4937760" y="1417320"/>
            <a:ext cx="411480" cy="274320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38" name="Text 31"/>
          <p:cNvSpPr/>
          <p:nvPr/>
        </p:nvSpPr>
        <p:spPr>
          <a:xfrm>
            <a:off x="4937760" y="14173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Text 32"/>
          <p:cNvSpPr/>
          <p:nvPr/>
        </p:nvSpPr>
        <p:spPr>
          <a:xfrm>
            <a:off x="5440680" y="14173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Official regulatory/legislative</a:t>
            </a:r>
            <a:endParaRPr lang="en-US" sz="900" dirty="0"/>
          </a:p>
        </p:txBody>
      </p:sp>
      <p:sp>
        <p:nvSpPr>
          <p:cNvPr id="40" name="Shape 33"/>
          <p:cNvSpPr/>
          <p:nvPr/>
        </p:nvSpPr>
        <p:spPr>
          <a:xfrm>
            <a:off x="4937760" y="1773936"/>
            <a:ext cx="411480" cy="27432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41" name="Text 34"/>
          <p:cNvSpPr/>
          <p:nvPr/>
        </p:nvSpPr>
        <p:spPr>
          <a:xfrm>
            <a:off x="4937760" y="177393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Text 35"/>
          <p:cNvSpPr/>
          <p:nvPr/>
        </p:nvSpPr>
        <p:spPr>
          <a:xfrm>
            <a:off x="5440680" y="177393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Tier-1 consulting (primary data)</a:t>
            </a:r>
            <a:endParaRPr lang="en-US" sz="900" dirty="0"/>
          </a:p>
        </p:txBody>
      </p:sp>
      <p:sp>
        <p:nvSpPr>
          <p:cNvPr id="43" name="Shape 36"/>
          <p:cNvSpPr/>
          <p:nvPr/>
        </p:nvSpPr>
        <p:spPr>
          <a:xfrm>
            <a:off x="4937760" y="2130552"/>
            <a:ext cx="411480" cy="27432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44" name="Text 37"/>
          <p:cNvSpPr/>
          <p:nvPr/>
        </p:nvSpPr>
        <p:spPr>
          <a:xfrm>
            <a:off x="4937760" y="21305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A–</a:t>
            </a:r>
            <a:endParaRPr lang="en-US" sz="900" dirty="0"/>
          </a:p>
        </p:txBody>
      </p:sp>
      <p:sp>
        <p:nvSpPr>
          <p:cNvPr id="45" name="Text 38"/>
          <p:cNvSpPr/>
          <p:nvPr/>
        </p:nvSpPr>
        <p:spPr>
          <a:xfrm>
            <a:off x="5440680" y="213055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Investment bank / Big-4 analyst</a:t>
            </a:r>
            <a:endParaRPr lang="en-US" sz="900" dirty="0"/>
          </a:p>
        </p:txBody>
      </p:sp>
      <p:sp>
        <p:nvSpPr>
          <p:cNvPr id="46" name="Shape 39"/>
          <p:cNvSpPr/>
          <p:nvPr/>
        </p:nvSpPr>
        <p:spPr>
          <a:xfrm>
            <a:off x="4937760" y="2487168"/>
            <a:ext cx="411480" cy="27432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47" name="Text 40"/>
          <p:cNvSpPr/>
          <p:nvPr/>
        </p:nvSpPr>
        <p:spPr>
          <a:xfrm>
            <a:off x="4937760" y="248716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B+</a:t>
            </a:r>
            <a:endParaRPr lang="en-US" sz="900" dirty="0"/>
          </a:p>
        </p:txBody>
      </p:sp>
      <p:sp>
        <p:nvSpPr>
          <p:cNvPr id="48" name="Text 41"/>
          <p:cNvSpPr/>
          <p:nvPr/>
        </p:nvSpPr>
        <p:spPr>
          <a:xfrm>
            <a:off x="5440680" y="248716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industry analyst</a:t>
            </a:r>
            <a:endParaRPr lang="en-US" sz="900" dirty="0"/>
          </a:p>
        </p:txBody>
      </p:sp>
      <p:sp>
        <p:nvSpPr>
          <p:cNvPr id="49" name="Shape 42"/>
          <p:cNvSpPr/>
          <p:nvPr/>
        </p:nvSpPr>
        <p:spPr>
          <a:xfrm>
            <a:off x="4937760" y="2843784"/>
            <a:ext cx="411480" cy="27432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50" name="Text 43"/>
          <p:cNvSpPr/>
          <p:nvPr/>
        </p:nvSpPr>
        <p:spPr>
          <a:xfrm>
            <a:off x="4937760" y="284378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900" dirty="0"/>
          </a:p>
        </p:txBody>
      </p:sp>
      <p:sp>
        <p:nvSpPr>
          <p:cNvPr id="51" name="Text 44"/>
          <p:cNvSpPr/>
          <p:nvPr/>
        </p:nvSpPr>
        <p:spPr>
          <a:xfrm>
            <a:off x="544068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Trade press / industry media</a:t>
            </a:r>
            <a:endParaRPr lang="en-US" sz="900" dirty="0"/>
          </a:p>
        </p:txBody>
      </p:sp>
      <p:sp>
        <p:nvSpPr>
          <p:cNvPr id="52" name="Shape 45"/>
          <p:cNvSpPr/>
          <p:nvPr/>
        </p:nvSpPr>
        <p:spPr>
          <a:xfrm>
            <a:off x="4937760" y="3200400"/>
            <a:ext cx="411480" cy="274320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53" name="Text 46"/>
          <p:cNvSpPr/>
          <p:nvPr/>
        </p:nvSpPr>
        <p:spPr>
          <a:xfrm>
            <a:off x="4937760" y="32004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B–</a:t>
            </a:r>
            <a:endParaRPr lang="en-US" sz="900" dirty="0"/>
          </a:p>
        </p:txBody>
      </p:sp>
      <p:sp>
        <p:nvSpPr>
          <p:cNvPr id="54" name="Text 47"/>
          <p:cNvSpPr/>
          <p:nvPr/>
        </p:nvSpPr>
        <p:spPr>
          <a:xfrm>
            <a:off x="5440680" y="32004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Company / PR source</a:t>
            </a:r>
            <a:endParaRPr lang="en-US" sz="900" dirty="0"/>
          </a:p>
        </p:txBody>
      </p:sp>
      <p:sp>
        <p:nvSpPr>
          <p:cNvPr id="55" name="Shape 48"/>
          <p:cNvSpPr/>
          <p:nvPr/>
        </p:nvSpPr>
        <p:spPr>
          <a:xfrm>
            <a:off x="4937760" y="3557016"/>
            <a:ext cx="411480" cy="27432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56" name="Text 49"/>
          <p:cNvSpPr/>
          <p:nvPr/>
        </p:nvSpPr>
        <p:spPr>
          <a:xfrm>
            <a:off x="4937760" y="35570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Text 50"/>
          <p:cNvSpPr/>
          <p:nvPr/>
        </p:nvSpPr>
        <p:spPr>
          <a:xfrm>
            <a:off x="5440680" y="355701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General press</a:t>
            </a:r>
            <a:endParaRPr lang="en-US" sz="900" dirty="0"/>
          </a:p>
        </p:txBody>
      </p:sp>
      <p:sp>
        <p:nvSpPr>
          <p:cNvPr id="58" name="Shape 51"/>
          <p:cNvSpPr/>
          <p:nvPr/>
        </p:nvSpPr>
        <p:spPr>
          <a:xfrm>
            <a:off x="4937760" y="3913632"/>
            <a:ext cx="411480" cy="27432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9" name="Text 52"/>
          <p:cNvSpPr/>
          <p:nvPr/>
        </p:nvSpPr>
        <p:spPr>
          <a:xfrm>
            <a:off x="4937760" y="391363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900" dirty="0"/>
          </a:p>
        </p:txBody>
      </p:sp>
      <p:sp>
        <p:nvSpPr>
          <p:cNvPr id="60" name="Text 53"/>
          <p:cNvSpPr/>
          <p:nvPr/>
        </p:nvSpPr>
        <p:spPr>
          <a:xfrm>
            <a:off x="5440680" y="391363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Aggregator / blog</a:t>
            </a:r>
            <a:endParaRPr lang="en-US" sz="900" dirty="0"/>
          </a:p>
        </p:txBody>
      </p:sp>
      <p:sp>
        <p:nvSpPr>
          <p:cNvPr id="61" name="Shape 54"/>
          <p:cNvSpPr/>
          <p:nvPr/>
        </p:nvSpPr>
        <p:spPr>
          <a:xfrm>
            <a:off x="4937760" y="4270248"/>
            <a:ext cx="411480" cy="2743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62" name="Text 55"/>
          <p:cNvSpPr/>
          <p:nvPr/>
        </p:nvSpPr>
        <p:spPr>
          <a:xfrm>
            <a:off x="4937760" y="427024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900" dirty="0"/>
          </a:p>
        </p:txBody>
      </p:sp>
      <p:sp>
        <p:nvSpPr>
          <p:cNvPr id="63" name="Text 56"/>
          <p:cNvSpPr/>
          <p:nvPr/>
        </p:nvSpPr>
        <p:spPr>
          <a:xfrm>
            <a:off x="5440680" y="427024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Unverified (weak signal only)</a:t>
            </a:r>
            <a:endParaRPr lang="en-US" sz="900" dirty="0"/>
          </a:p>
        </p:txBody>
      </p:sp>
      <p:sp>
        <p:nvSpPr>
          <p:cNvPr id="64" name="Shape 57"/>
          <p:cNvSpPr/>
          <p:nvPr/>
        </p:nvSpPr>
        <p:spPr>
          <a:xfrm>
            <a:off x="4800600" y="4617720"/>
            <a:ext cx="3794760" cy="3200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5" name="Text 58"/>
          <p:cNvSpPr/>
          <p:nvPr/>
        </p:nvSpPr>
        <p:spPr>
          <a:xfrm>
            <a:off x="4937760" y="463600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 trends  ·  220 sources  ·  All rated  ·  Color-coded in War Room</a:t>
            </a:r>
            <a:endParaRPr lang="en-US" sz="800" dirty="0"/>
          </a:p>
        </p:txBody>
      </p:sp>
      <p:sp>
        <p:nvSpPr>
          <p:cNvPr id="66" name="Text 59"/>
          <p:cNvSpPr/>
          <p:nvPr/>
        </p:nvSpPr>
        <p:spPr>
          <a:xfrm>
            <a:off x="457200" y="4800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67" name="Text 60"/>
          <p:cNvSpPr/>
          <p:nvPr/>
        </p:nvSpPr>
        <p:spPr>
          <a:xfrm>
            <a:off x="841248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1000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BENEFITS &amp; HOW TO GET STARTED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clear path from today’s Excel model to an enterprise-grade simulation platform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BENEFITS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965960" cy="192024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7" name="Shape 5"/>
          <p:cNvSpPr/>
          <p:nvPr/>
        </p:nvSpPr>
        <p:spPr>
          <a:xfrm>
            <a:off x="1051560" y="14173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55448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2920" y="21488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2–3 yr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502920" y="2468880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 time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548640" y="26974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structural profit pool shifts before they appear in the P&amp;L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560320" y="1325880"/>
            <a:ext cx="1965960" cy="192024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3" name="Shape 10"/>
          <p:cNvSpPr/>
          <p:nvPr/>
        </p:nvSpPr>
        <p:spPr>
          <a:xfrm>
            <a:off x="3200400" y="14173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55448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651760" y="21488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10,000+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2651760" y="2468880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simulations</a:t>
            </a:r>
            <a:endParaRPr lang="en-US" sz="750" dirty="0"/>
          </a:p>
        </p:txBody>
      </p:sp>
      <p:sp>
        <p:nvSpPr>
          <p:cNvPr id="17" name="Text 13"/>
          <p:cNvSpPr/>
          <p:nvPr/>
        </p:nvSpPr>
        <p:spPr>
          <a:xfrm>
            <a:off x="2697480" y="26974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point estimates with full probability distributions and confidence intervals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4709160" y="1325880"/>
            <a:ext cx="1965960" cy="192024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9" name="Shape 15"/>
          <p:cNvSpPr/>
          <p:nvPr/>
        </p:nvSpPr>
        <p:spPr>
          <a:xfrm>
            <a:off x="5349240" y="14173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5544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800600" y="21488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2400" dirty="0"/>
          </a:p>
        </p:txBody>
      </p:sp>
      <p:sp>
        <p:nvSpPr>
          <p:cNvPr id="22" name="Text 17"/>
          <p:cNvSpPr/>
          <p:nvPr/>
        </p:nvSpPr>
        <p:spPr>
          <a:xfrm>
            <a:off x="4800600" y="2468880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causal links</a:t>
            </a:r>
            <a:endParaRPr lang="en-US" sz="750" dirty="0"/>
          </a:p>
        </p:txBody>
      </p:sp>
      <p:sp>
        <p:nvSpPr>
          <p:cNvPr id="23" name="Text 18"/>
          <p:cNvSpPr/>
          <p:nvPr/>
        </p:nvSpPr>
        <p:spPr>
          <a:xfrm>
            <a:off x="4846320" y="26974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Understand how a regulatory shock cascades through all 6 forces to every category</a:t>
            </a:r>
            <a:endParaRPr lang="en-US" sz="850" dirty="0"/>
          </a:p>
        </p:txBody>
      </p:sp>
      <p:sp>
        <p:nvSpPr>
          <p:cNvPr id="24" name="Shape 19"/>
          <p:cNvSpPr/>
          <p:nvPr/>
        </p:nvSpPr>
        <p:spPr>
          <a:xfrm>
            <a:off x="6858000" y="1325880"/>
            <a:ext cx="1965960" cy="192024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5" name="Shape 20"/>
          <p:cNvSpPr/>
          <p:nvPr/>
        </p:nvSpPr>
        <p:spPr>
          <a:xfrm>
            <a:off x="7498080" y="14173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1554480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6949440" y="21488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€0</a:t>
            </a:r>
            <a:endParaRPr lang="en-US" sz="2400" dirty="0"/>
          </a:p>
        </p:txBody>
      </p:sp>
      <p:sp>
        <p:nvSpPr>
          <p:cNvPr id="28" name="Text 22"/>
          <p:cNvSpPr/>
          <p:nvPr/>
        </p:nvSpPr>
        <p:spPr>
          <a:xfrm>
            <a:off x="6949440" y="2468880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 cost</a:t>
            </a:r>
            <a:endParaRPr lang="en-US" sz="750" dirty="0"/>
          </a:p>
        </p:txBody>
      </p:sp>
      <p:sp>
        <p:nvSpPr>
          <p:cNvPr id="29" name="Text 23"/>
          <p:cNvSpPr/>
          <p:nvPr/>
        </p:nvSpPr>
        <p:spPr>
          <a:xfrm>
            <a:off x="6995160" y="26974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Enterprise-grade platform built on free APIs with zero annual licensing fees</a:t>
            </a:r>
            <a:endParaRPr lang="en-US" sz="850" dirty="0"/>
          </a:p>
        </p:txBody>
      </p:sp>
      <p:sp>
        <p:nvSpPr>
          <p:cNvPr id="30" name="Text 24"/>
          <p:cNvSpPr/>
          <p:nvPr/>
        </p:nvSpPr>
        <p:spPr>
          <a:xfrm>
            <a:off x="548640" y="34290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756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GET STARTED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548640" y="3840480"/>
            <a:ext cx="8046720" cy="4572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32" name="Shape 26"/>
          <p:cNvSpPr/>
          <p:nvPr/>
        </p:nvSpPr>
        <p:spPr>
          <a:xfrm>
            <a:off x="1600200" y="3749040"/>
            <a:ext cx="219456" cy="219456"/>
          </a:xfrm>
          <a:prstGeom prst="ellipse">
            <a:avLst/>
          </a:prstGeom>
          <a:solidFill>
            <a:srgbClr val="E1000F"/>
          </a:solidFill>
          <a:ln/>
        </p:spPr>
      </p:sp>
      <p:sp>
        <p:nvSpPr>
          <p:cNvPr id="33" name="Text 27"/>
          <p:cNvSpPr/>
          <p:nvPr/>
        </p:nvSpPr>
        <p:spPr>
          <a:xfrm>
            <a:off x="822960" y="361188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April 2026</a:t>
            </a:r>
            <a:endParaRPr lang="en-US" sz="800" dirty="0"/>
          </a:p>
        </p:txBody>
      </p:sp>
      <p:sp>
        <p:nvSpPr>
          <p:cNvPr id="34" name="Shape 28"/>
          <p:cNvSpPr/>
          <p:nvPr/>
        </p:nvSpPr>
        <p:spPr>
          <a:xfrm>
            <a:off x="548640" y="4069080"/>
            <a:ext cx="2560320" cy="822960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160520"/>
            <a:ext cx="274320" cy="274320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1051560" y="41148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Approve Phase 1</a:t>
            </a:r>
            <a:endParaRPr lang="en-US" sz="1100" dirty="0"/>
          </a:p>
        </p:txBody>
      </p:sp>
      <p:sp>
        <p:nvSpPr>
          <p:cNvPr id="37" name="Text 30"/>
          <p:cNvSpPr/>
          <p:nvPr/>
        </p:nvSpPr>
        <p:spPr>
          <a:xfrm>
            <a:off x="1051560" y="4389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Bayesian engine build with V12 integration</a:t>
            </a:r>
            <a:endParaRPr lang="en-US" sz="850" dirty="0"/>
          </a:p>
        </p:txBody>
      </p:sp>
      <p:sp>
        <p:nvSpPr>
          <p:cNvPr id="38" name="Shape 31"/>
          <p:cNvSpPr/>
          <p:nvPr/>
        </p:nvSpPr>
        <p:spPr>
          <a:xfrm>
            <a:off x="4434840" y="3749040"/>
            <a:ext cx="219456" cy="219456"/>
          </a:xfrm>
          <a:prstGeom prst="ellipse">
            <a:avLst/>
          </a:prstGeom>
          <a:solidFill>
            <a:srgbClr val="374151"/>
          </a:solidFill>
          <a:ln/>
        </p:spPr>
      </p:sp>
      <p:sp>
        <p:nvSpPr>
          <p:cNvPr id="39" name="Text 32"/>
          <p:cNvSpPr/>
          <p:nvPr/>
        </p:nvSpPr>
        <p:spPr>
          <a:xfrm>
            <a:off x="3657600" y="361188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 2026</a:t>
            </a:r>
            <a:endParaRPr lang="en-US" sz="800" dirty="0"/>
          </a:p>
        </p:txBody>
      </p:sp>
      <p:sp>
        <p:nvSpPr>
          <p:cNvPr id="40" name="Shape 33"/>
          <p:cNvSpPr/>
          <p:nvPr/>
        </p:nvSpPr>
        <p:spPr>
          <a:xfrm>
            <a:off x="3383280" y="4069080"/>
            <a:ext cx="2560320" cy="822960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0440" y="4160520"/>
            <a:ext cx="274320" cy="274320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3886200" y="41148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Designate Delphi Panel</a:t>
            </a:r>
            <a:endParaRPr lang="en-US" sz="1100" dirty="0"/>
          </a:p>
        </p:txBody>
      </p:sp>
      <p:sp>
        <p:nvSpPr>
          <p:cNvPr id="43" name="Text 35"/>
          <p:cNvSpPr/>
          <p:nvPr/>
        </p:nvSpPr>
        <p:spPr>
          <a:xfrm>
            <a:off x="3886200" y="4389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5–8 category experts for scoring rounds</a:t>
            </a:r>
            <a:endParaRPr lang="en-US" sz="850" dirty="0"/>
          </a:p>
        </p:txBody>
      </p:sp>
      <p:sp>
        <p:nvSpPr>
          <p:cNvPr id="44" name="Shape 36"/>
          <p:cNvSpPr/>
          <p:nvPr/>
        </p:nvSpPr>
        <p:spPr>
          <a:xfrm>
            <a:off x="7269480" y="3749040"/>
            <a:ext cx="219456" cy="219456"/>
          </a:xfrm>
          <a:prstGeom prst="ellipse">
            <a:avLst/>
          </a:prstGeom>
          <a:solidFill>
            <a:srgbClr val="374151"/>
          </a:solidFill>
          <a:ln/>
        </p:spPr>
      </p:sp>
      <p:sp>
        <p:nvSpPr>
          <p:cNvPr id="45" name="Text 37"/>
          <p:cNvSpPr/>
          <p:nvPr/>
        </p:nvSpPr>
        <p:spPr>
          <a:xfrm>
            <a:off x="6492240" y="361188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 2026</a:t>
            </a:r>
            <a:endParaRPr lang="en-US" sz="800" dirty="0"/>
          </a:p>
        </p:txBody>
      </p:sp>
      <p:sp>
        <p:nvSpPr>
          <p:cNvPr id="46" name="Shape 38"/>
          <p:cNvSpPr/>
          <p:nvPr/>
        </p:nvSpPr>
        <p:spPr>
          <a:xfrm>
            <a:off x="6217920" y="4069080"/>
            <a:ext cx="2560320" cy="822960"/>
          </a:xfrm>
          <a:prstGeom prst="rect">
            <a:avLst/>
          </a:prstGeom>
          <a:solidFill>
            <a:srgbClr val="F3F4F6"/>
          </a:solidFill>
          <a:ln/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4160520"/>
            <a:ext cx="274320" cy="274320"/>
          </a:xfrm>
          <a:prstGeom prst="rect">
            <a:avLst/>
          </a:prstGeom>
        </p:spPr>
      </p:pic>
      <p:sp>
        <p:nvSpPr>
          <p:cNvPr id="48" name="Text 39"/>
          <p:cNvSpPr/>
          <p:nvPr/>
        </p:nvSpPr>
        <p:spPr>
          <a:xfrm>
            <a:off x="6720840" y="41148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Provide Historical Data</a:t>
            </a:r>
            <a:endParaRPr lang="en-US" sz="1100" dirty="0"/>
          </a:p>
        </p:txBody>
      </p:sp>
      <p:sp>
        <p:nvSpPr>
          <p:cNvPr id="49" name="Text 40"/>
          <p:cNvSpPr/>
          <p:nvPr/>
        </p:nvSpPr>
        <p:spPr>
          <a:xfrm>
            <a:off x="6720840" y="4389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V1–V11 enables backtesting &amp; calibration</a:t>
            </a:r>
            <a:endParaRPr lang="en-US" sz="850" dirty="0"/>
          </a:p>
        </p:txBody>
      </p:sp>
      <p:sp>
        <p:nvSpPr>
          <p:cNvPr id="50" name="Text 41"/>
          <p:cNvSpPr/>
          <p:nvPr/>
        </p:nvSpPr>
        <p:spPr>
          <a:xfrm>
            <a:off x="457200" y="4800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51" name="Text 42"/>
          <p:cNvSpPr/>
          <p:nvPr/>
        </p:nvSpPr>
        <p:spPr>
          <a:xfrm>
            <a:off x="841248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1000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804672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9784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941832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Profit pools are shifting structurally — static Excel cannot capture the causal interdependencies between the 6 forces reshaping our 12 categories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673352"/>
            <a:ext cx="804672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783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746504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transforms the V12 assessment into a living, probabilistic simulation engine with Bayesian Monte Carlo, causal propagation, and a 5-year continuous path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478024"/>
            <a:ext cx="804672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5877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2551176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AI suggestion requires human review, every score change is audited, and the Delphi protocol ensures calibrated expert consensus — enterprise-grade governance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804672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3924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3355848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Three-phase rollout delivers standalone value at each stage: Bayesian engine (Q2), War Room dashboard (Q3), AI intelligence layer (Q4) — all at zero running cost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087368"/>
            <a:ext cx="804672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1970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100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416052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Shift Matrix integrates seamlessly with Excel and Power BI — strategy teams see relative %, ExCo sees absolute €M impact. Same truth, two lenses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" y="4800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841248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10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28600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77724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630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35331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Approve Phase 1 development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280160" y="171907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Bayesian engine build with V12 integration — deliverable in Q2 2026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2240280"/>
            <a:ext cx="8046720" cy="77724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231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231343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Designate Delphi scoring panel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280160" y="267919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5-8 category experts for structured scoring rounds during strategy week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48640" y="3200400"/>
            <a:ext cx="8046720" cy="77724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38328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327355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Provide historical V1-V11 data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280160" y="363931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Enables backtesting and empirical calibration of model parameters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0" y="4160520"/>
            <a:ext cx="9144000" cy="982980"/>
          </a:xfrm>
          <a:prstGeom prst="rect">
            <a:avLst/>
          </a:prstGeom>
          <a:solidFill>
            <a:srgbClr val="000000">
              <a:alpha val="80000"/>
            </a:srgbClr>
          </a:solidFill>
          <a:ln/>
        </p:spPr>
      </p:sp>
      <p:sp>
        <p:nvSpPr>
          <p:cNvPr id="17" name="Text 12"/>
          <p:cNvSpPr/>
          <p:nvPr/>
        </p:nvSpPr>
        <p:spPr>
          <a:xfrm>
            <a:off x="548640" y="420624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D4A8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BENEFITS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548640" y="4389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10,000+</a:t>
            </a:r>
            <a:endParaRPr lang="en-US" sz="2400" dirty="0"/>
          </a:p>
        </p:txBody>
      </p:sp>
      <p:sp>
        <p:nvSpPr>
          <p:cNvPr id="19" name="Text 14"/>
          <p:cNvSpPr/>
          <p:nvPr/>
        </p:nvSpPr>
        <p:spPr>
          <a:xfrm>
            <a:off x="548640" y="46817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 iterations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scenario</a:t>
            </a:r>
            <a:endParaRPr lang="en-US" sz="800" dirty="0"/>
          </a:p>
        </p:txBody>
      </p:sp>
      <p:sp>
        <p:nvSpPr>
          <p:cNvPr id="20" name="Text 15"/>
          <p:cNvSpPr/>
          <p:nvPr/>
        </p:nvSpPr>
        <p:spPr>
          <a:xfrm>
            <a:off x="2697480" y="4389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2697480" y="46817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categories with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causal linking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4846320" y="4389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5-year</a:t>
            </a:r>
            <a:endParaRPr lang="en-US" sz="2400" dirty="0"/>
          </a:p>
        </p:txBody>
      </p:sp>
      <p:sp>
        <p:nvSpPr>
          <p:cNvPr id="23" name="Text 18"/>
          <p:cNvSpPr/>
          <p:nvPr/>
        </p:nvSpPr>
        <p:spPr>
          <a:xfrm>
            <a:off x="4846320" y="46817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path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projections</a:t>
            </a:r>
            <a:endParaRPr lang="en-US" sz="800" dirty="0"/>
          </a:p>
        </p:txBody>
      </p:sp>
      <p:sp>
        <p:nvSpPr>
          <p:cNvPr id="24" name="Text 19"/>
          <p:cNvSpPr/>
          <p:nvPr/>
        </p:nvSpPr>
        <p:spPr>
          <a:xfrm>
            <a:off x="6995160" y="4389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€0</a:t>
            </a:r>
            <a:endParaRPr lang="en-US" sz="2400" dirty="0"/>
          </a:p>
        </p:txBody>
      </p:sp>
      <p:sp>
        <p:nvSpPr>
          <p:cNvPr id="25" name="Text 20"/>
          <p:cNvSpPr/>
          <p:nvPr/>
        </p:nvSpPr>
        <p:spPr>
          <a:xfrm>
            <a:off x="6995160" y="46817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running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457200" y="4800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27" name="Text 22"/>
          <p:cNvSpPr/>
          <p:nvPr/>
        </p:nvSpPr>
        <p:spPr>
          <a:xfrm>
            <a:off x="8412480" y="48006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PULSE — CEO Strategy Briefing</dc:title>
  <dc:subject>PptxGenJS Presentation</dc:subject>
  <dc:creator>Bain &amp; Company</dc:creator>
  <cp:lastModifiedBy>Bain &amp; Company</cp:lastModifiedBy>
  <cp:revision>1</cp:revision>
  <dcterms:created xsi:type="dcterms:W3CDTF">2026-03-31T12:22:06Z</dcterms:created>
  <dcterms:modified xsi:type="dcterms:W3CDTF">2026-03-31T12:22:06Z</dcterms:modified>
</cp:coreProperties>
</file>