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Laker" userId="ad3d7c146f36b1e1" providerId="LiveId" clId="{4298EE5C-C7CC-5B41-9524-4E936B811383}"/>
    <pc:docChg chg="modSld">
      <pc:chgData name="Alexander Laker" userId="ad3d7c146f36b1e1" providerId="LiveId" clId="{4298EE5C-C7CC-5B41-9524-4E936B811383}" dt="2026-03-30T09:01:20.418" v="5" actId="20577"/>
      <pc:docMkLst>
        <pc:docMk/>
      </pc:docMkLst>
      <pc:sldChg chg="modSp mod">
        <pc:chgData name="Alexander Laker" userId="ad3d7c146f36b1e1" providerId="LiveId" clId="{4298EE5C-C7CC-5B41-9524-4E936B811383}" dt="2026-03-30T09:01:20.418" v="5" actId="20577"/>
        <pc:sldMkLst>
          <pc:docMk/>
          <pc:sldMk cId="0" sldId="256"/>
        </pc:sldMkLst>
        <pc:spChg chg="mod">
          <ac:chgData name="Alexander Laker" userId="ad3d7c146f36b1e1" providerId="LiveId" clId="{4298EE5C-C7CC-5B41-9524-4E936B811383}" dt="2026-03-30T09:01:20.418" v="5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736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6.png"/><Relationship Id="rId10" Type="http://schemas.openxmlformats.org/officeDocument/2006/relationships/image" Target="../media/image5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10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 Simulation Engine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286000" cy="0"/>
          </a:xfrm>
          <a:prstGeom prst="line">
            <a:avLst/>
          </a:prstGeom>
          <a:noFill/>
          <a:ln w="3175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CEO Strategy Briefing  |  Henkel Consumer Brands  |  March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Claude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PROFIT POOL THINKING?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share alone no longer predicts value creation in FMCG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474720" cy="34747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growth masks margin erosion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34440" y="1892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label captures 2-3pp of profit pool annually in core European markets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interact causally, not independently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234440" y="29443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Regulation drives reformulation cost, which shifts shelf price, which changes consumer behavior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49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models miss structural shifts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234440" y="3995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Excel-based assessment lacks probabilistic rigor and causal propagation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20624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5120640" y="1097280"/>
            <a:ext cx="34747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3"/>
          <p:cNvSpPr/>
          <p:nvPr/>
        </p:nvSpPr>
        <p:spPr>
          <a:xfrm>
            <a:off x="5303520" y="1234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ANSWER: PULSE</a:t>
            </a:r>
            <a:endParaRPr lang="en-US" sz="9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16459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0644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where profit migrates — before the P&amp;L shows it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806440" y="1892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Probabilistic simulation gives 2-3 year lead time on structural shifts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69748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806440" y="2651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propagation models real-world interdependencies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806440" y="29443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regulatory shock cascades through technology, cost, and consumer behavior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9240" y="374904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80644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Allocate resources to highest-value pools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5806440" y="3995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Optimizer recommends where to invest, defend, or harvest across 12 categories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9" name="Text 21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PROFIT POOL ENGINE DELIVERS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living decision platform, not a static report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566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417320" y="1234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10,000+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 iterations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hierarchical model with copula dependencies produces probability distributions — not point estimates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83280" y="1051560"/>
            <a:ext cx="2560320" cy="3566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4251960" y="1234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4173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6616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3566160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edges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61188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propagate through directed causal paths with lag structures — a regulatory shock ripples through the entire system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17920" y="1051560"/>
            <a:ext cx="2560320" cy="3566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6"/>
          <p:cNvSpPr/>
          <p:nvPr/>
        </p:nvSpPr>
        <p:spPr>
          <a:xfrm>
            <a:off x="7086600" y="12344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4173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0080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6400800" y="3063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optimized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446520" y="33832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allocation optimizer produces invest / defend / harvest recommendations based on expected pool shifts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FORCES RESHAPING PROFIT POOLS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force is causally linked — a shock in one propagates through the system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beauty, premiumization,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sustainability consciousness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83280" y="105156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6052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1188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consolidation, private label,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 channel shift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17920" y="105156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280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9516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4652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personalization, biotech ingredients,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Product Passport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48640" y="301752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461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7724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Green Deal, REACH/CLP,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CSRD, microplastics ban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383280" y="301752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24612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6052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Environmental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61188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Climate regulation, water scarcity,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circular economy mandates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217920" y="3017520"/>
            <a:ext cx="2560320" cy="1737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24612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44652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P&amp;G premiumization, Unilever M&amp;A,</a:t>
            </a:r>
            <a:endParaRPr lang="en-US" sz="9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indie brand disruption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548640" y="4663440"/>
            <a:ext cx="822960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470916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22960" y="47091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Forces are connected via a Causal DAG — 16 directed edges with propagation weights and lag structures</a:t>
            </a:r>
            <a:endParaRPr lang="en-US" sz="800" dirty="0"/>
          </a:p>
        </p:txBody>
      </p:sp>
      <p:sp>
        <p:nvSpPr>
          <p:cNvPr id="32" name="Text 23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33" name="Text 24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LENSES, ONE TRUTH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Shift Matrix, two purpose-built interfaces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794760" cy="3566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War Room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web dashboard for the strategy team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11680"/>
            <a:ext cx="137160" cy="137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re-simulation on score changes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377440"/>
            <a:ext cx="137160" cy="1371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heatmap with drill-down panels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43200"/>
            <a:ext cx="137160" cy="1371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flow visualization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08960"/>
            <a:ext cx="137160" cy="1371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 distributions + tornado charts</a:t>
            </a:r>
            <a:endParaRPr lang="en-US" sz="9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74720"/>
            <a:ext cx="137160" cy="1371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comparison engine</a:t>
            </a:r>
            <a:endParaRPr lang="en-US" sz="9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40480"/>
            <a:ext cx="137160" cy="1371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058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 + chat interface</a:t>
            </a:r>
            <a:endParaRPr lang="en-US" sz="950" dirty="0"/>
          </a:p>
        </p:txBody>
      </p:sp>
      <p:sp>
        <p:nvSpPr>
          <p:cNvPr id="21" name="Shape 12"/>
          <p:cNvSpPr/>
          <p:nvPr/>
        </p:nvSpPr>
        <p:spPr>
          <a:xfrm>
            <a:off x="548640" y="4251960"/>
            <a:ext cx="3794760" cy="3657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3"/>
          <p:cNvSpPr/>
          <p:nvPr/>
        </p:nvSpPr>
        <p:spPr>
          <a:xfrm>
            <a:off x="777240" y="4270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Format: Relative %  |  Audience: Strategy Team</a:t>
            </a:r>
            <a:endParaRPr lang="en-US" sz="800" dirty="0"/>
          </a:p>
        </p:txBody>
      </p:sp>
      <p:sp>
        <p:nvSpPr>
          <p:cNvPr id="23" name="Shape 14"/>
          <p:cNvSpPr/>
          <p:nvPr/>
        </p:nvSpPr>
        <p:spPr>
          <a:xfrm>
            <a:off x="4800600" y="1051560"/>
            <a:ext cx="3794760" cy="3566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34440"/>
            <a:ext cx="320040" cy="3200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44068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Reporting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5029200" y="1645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 + Power BI for ExCo and Finance</a:t>
            </a:r>
            <a:endParaRPr lang="en-US" sz="9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011680"/>
            <a:ext cx="137160" cy="13716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5780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executive narrative deck</a:t>
            </a:r>
            <a:endParaRPr lang="en-US" sz="9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377440"/>
            <a:ext cx="137160" cy="13716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25780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dashboard with actual €M financials</a:t>
            </a:r>
            <a:endParaRPr lang="en-US" sz="9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743200"/>
            <a:ext cx="137160" cy="13716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257800" y="2743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applied to GP1 (absolute terms)</a:t>
            </a:r>
            <a:endParaRPr lang="en-US" sz="9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108960"/>
            <a:ext cx="137160" cy="13716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25780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Board-ready scenario comparison</a:t>
            </a:r>
            <a:endParaRPr lang="en-US" sz="95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474720"/>
            <a:ext cx="137160" cy="137160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25780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Backtesting accuracy report</a:t>
            </a:r>
            <a:endParaRPr lang="en-US" sz="95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40480"/>
            <a:ext cx="137160" cy="13716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525780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export from War Room</a:t>
            </a:r>
            <a:endParaRPr lang="en-US" sz="950" dirty="0"/>
          </a:p>
        </p:txBody>
      </p:sp>
      <p:sp>
        <p:nvSpPr>
          <p:cNvPr id="39" name="Shape 23"/>
          <p:cNvSpPr/>
          <p:nvPr/>
        </p:nvSpPr>
        <p:spPr>
          <a:xfrm>
            <a:off x="4800600" y="4251960"/>
            <a:ext cx="3794760" cy="365760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Text 24"/>
          <p:cNvSpPr/>
          <p:nvPr/>
        </p:nvSpPr>
        <p:spPr>
          <a:xfrm>
            <a:off x="5029200" y="4270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Format: Absolute €M  |  Audience: ExCo / Finance</a:t>
            </a:r>
            <a:endParaRPr lang="en-US" sz="800" dirty="0"/>
          </a:p>
        </p:txBody>
      </p:sp>
      <p:sp>
        <p:nvSpPr>
          <p:cNvPr id="41" name="Text 25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2" name="Text 26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MODEL WORKS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Four-step methodology from trend identification to profit pool impact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88720" y="1600200"/>
            <a:ext cx="676656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09728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54680"/>
            <a:ext cx="109728" cy="1097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data APIs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66160"/>
            <a:ext cx="109728" cy="1097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+ news + patents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109728" cy="1097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signal digest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324612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4173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8056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283464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283464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 Expert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274320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154680"/>
            <a:ext cx="109728" cy="1097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01752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1: Blind scoring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56616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01752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2: Calibrated re-score</a:t>
            </a:r>
            <a:endParaRPr lang="en-US" sz="9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977640"/>
            <a:ext cx="109728" cy="10972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01752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Round 3: Consensus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539496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1417320"/>
            <a:ext cx="365760" cy="36576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629400" y="13716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498348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34" name="Text 23"/>
          <p:cNvSpPr/>
          <p:nvPr/>
        </p:nvSpPr>
        <p:spPr>
          <a:xfrm>
            <a:off x="498348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Monte Carlo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489204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54680"/>
            <a:ext cx="109728" cy="10972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16636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hierarchical</a:t>
            </a:r>
            <a:endParaRPr lang="en-US" sz="9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661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16636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Copula dependencies</a:t>
            </a:r>
            <a:endParaRPr lang="en-US" sz="9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77640"/>
            <a:ext cx="109728" cy="10972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16636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DAG propagation</a:t>
            </a:r>
            <a:endParaRPr lang="en-US" sz="900" dirty="0"/>
          </a:p>
        </p:txBody>
      </p:sp>
      <p:sp>
        <p:nvSpPr>
          <p:cNvPr id="42" name="Shape 28"/>
          <p:cNvSpPr/>
          <p:nvPr/>
        </p:nvSpPr>
        <p:spPr>
          <a:xfrm>
            <a:off x="7543800" y="1280160"/>
            <a:ext cx="640080" cy="640080"/>
          </a:xfrm>
          <a:prstGeom prst="ellipse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417320"/>
            <a:ext cx="365760" cy="36576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7132320" y="21031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Text 30"/>
          <p:cNvSpPr/>
          <p:nvPr/>
        </p:nvSpPr>
        <p:spPr>
          <a:xfrm>
            <a:off x="7132320" y="2331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300" dirty="0"/>
          </a:p>
        </p:txBody>
      </p:sp>
      <p:sp>
        <p:nvSpPr>
          <p:cNvPr id="46" name="Shape 31"/>
          <p:cNvSpPr/>
          <p:nvPr/>
        </p:nvSpPr>
        <p:spPr>
          <a:xfrm>
            <a:off x="7040880" y="3017520"/>
            <a:ext cx="1645920" cy="146304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15468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7315200" y="31089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output</a:t>
            </a:r>
            <a:endParaRPr lang="en-US" sz="900" dirty="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566160"/>
            <a:ext cx="109728" cy="109728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7315200" y="3520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continuous paths</a:t>
            </a:r>
            <a:endParaRPr lang="en-US" sz="900" dirty="0"/>
          </a:p>
        </p:txBody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977640"/>
            <a:ext cx="109728" cy="109728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7315200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Allocation optimizer</a:t>
            </a:r>
            <a:endParaRPr lang="en-US" sz="900" dirty="0"/>
          </a:p>
        </p:txBody>
      </p:sp>
      <p:sp>
        <p:nvSpPr>
          <p:cNvPr id="53" name="Text 35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4" name="Text 36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DIMENSIONS OF IMPACT ASSESSMENT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trend is scored across multiple axes to capture the full economic picture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Impact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Color, Care, Styling, Body, FCN, FCA, FFI, LAD, HDW, ADW, HSC, IC — each scored 0-5 per trend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6032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256032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0896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21945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Lens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69748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Europe, North America, Emerging Markets — tailored force weightings by market context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0916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470916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VC steps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25780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1945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57784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Chain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4632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Materials through After-Sales — where in the chain does each trend hit hardest?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858000" y="10972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2-25%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6858000" y="17373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GP1 cap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7406640" y="2011680"/>
            <a:ext cx="868680" cy="0"/>
          </a:xfrm>
          <a:prstGeom prst="line">
            <a:avLst/>
          </a:prstGeom>
          <a:noFill/>
          <a:ln w="19050">
            <a:solidFill>
              <a:srgbClr val="E1000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219456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2668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of GP1 Affected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995160" y="26060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anchor: each trend can only touch a bounded fraction of a category’s profit pool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DETAIL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trend is scored, validated, and mapped to categories with full transparency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896112"/>
            <a:ext cx="8266176" cy="3968496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/sessions/compassionate-sweet-ride/screenshot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— UNIFIED COMMAND 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screen tells the complete story: KPIs, heatmap, path projections, and causal flow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896112"/>
            <a:ext cx="8266176" cy="3968496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/sessions/compassionate-sweet-ride/screenshot_war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× FORCE SHIFT MATRIX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Percentage shift in category profit pool by strategic force — the core analytical output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38912" y="896112"/>
            <a:ext cx="8266176" cy="3968496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6" name="Image 0" descr="/sessions/compassionate-sweet-ride/screenshot_categor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Enterprise-grade, deployed within Henkel cloud — zero running cost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52044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 Engine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23444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3.11+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" y="1783080"/>
            <a:ext cx="2103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65960"/>
            <a:ext cx="109728" cy="109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REST server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68880"/>
            <a:ext cx="109728" cy="1097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MC (SciPy/NumPy)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71800"/>
            <a:ext cx="109728" cy="1097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NetworkX Causal DAG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74720"/>
            <a:ext cx="109728" cy="10972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local data store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77640"/>
            <a:ext cx="109728" cy="10972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012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Copula dependency model</a:t>
            </a:r>
            <a:endParaRPr lang="en-US" sz="950" dirty="0"/>
          </a:p>
        </p:txBody>
      </p:sp>
      <p:sp>
        <p:nvSpPr>
          <p:cNvPr id="20" name="Shape 12"/>
          <p:cNvSpPr/>
          <p:nvPr/>
        </p:nvSpPr>
        <p:spPr>
          <a:xfrm>
            <a:off x="3383280" y="1051560"/>
            <a:ext cx="2560320" cy="352044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1234440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06908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Dashboard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406908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</a:t>
            </a:r>
            <a:endParaRPr lang="en-US" sz="900" dirty="0"/>
          </a:p>
        </p:txBody>
      </p:sp>
      <p:sp>
        <p:nvSpPr>
          <p:cNvPr id="24" name="Shape 15"/>
          <p:cNvSpPr/>
          <p:nvPr/>
        </p:nvSpPr>
        <p:spPr>
          <a:xfrm>
            <a:off x="3611880" y="1783080"/>
            <a:ext cx="2103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965960"/>
            <a:ext cx="109728" cy="10972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7947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D3.js / Recharts visualization</a:t>
            </a:r>
            <a:endParaRPr lang="en-US" sz="9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468880"/>
            <a:ext cx="109728" cy="10972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7947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TailwindCSS dark mode</a:t>
            </a:r>
            <a:endParaRPr lang="en-US" sz="9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971800"/>
            <a:ext cx="109728" cy="10972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79476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Framer Motion animations</a:t>
            </a:r>
            <a:endParaRPr lang="en-US" sz="95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474720"/>
            <a:ext cx="109728" cy="109728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79476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Zustand + TanStack Query</a:t>
            </a:r>
            <a:endParaRPr lang="en-US" sz="950" dirty="0"/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3977640"/>
            <a:ext cx="109728" cy="109728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379476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60fps Apple-grade UX</a:t>
            </a:r>
            <a:endParaRPr lang="en-US" sz="950" dirty="0"/>
          </a:p>
        </p:txBody>
      </p:sp>
      <p:sp>
        <p:nvSpPr>
          <p:cNvPr id="35" name="Shape 21"/>
          <p:cNvSpPr/>
          <p:nvPr/>
        </p:nvSpPr>
        <p:spPr>
          <a:xfrm>
            <a:off x="6217920" y="1051560"/>
            <a:ext cx="2560320" cy="352044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234440"/>
            <a:ext cx="365760" cy="36576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903720" y="1234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Integration</a:t>
            </a:r>
            <a:endParaRPr lang="en-US" sz="1200" dirty="0"/>
          </a:p>
        </p:txBody>
      </p:sp>
      <p:sp>
        <p:nvSpPr>
          <p:cNvPr id="38" name="Text 23"/>
          <p:cNvSpPr/>
          <p:nvPr/>
        </p:nvSpPr>
        <p:spPr>
          <a:xfrm>
            <a:off x="6903720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Provider-agnostic</a:t>
            </a:r>
            <a:endParaRPr lang="en-US" sz="900" dirty="0"/>
          </a:p>
        </p:txBody>
      </p:sp>
      <p:sp>
        <p:nvSpPr>
          <p:cNvPr id="39" name="Shape 24"/>
          <p:cNvSpPr/>
          <p:nvPr/>
        </p:nvSpPr>
        <p:spPr>
          <a:xfrm>
            <a:off x="6446520" y="1783080"/>
            <a:ext cx="210312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965960"/>
            <a:ext cx="109728" cy="109728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6294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API → Azure OpenAI</a:t>
            </a:r>
            <a:endParaRPr lang="en-US" sz="95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468880"/>
            <a:ext cx="109728" cy="109728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62940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free external data APIs</a:t>
            </a:r>
            <a:endParaRPr lang="en-US" sz="950" dirty="0"/>
          </a:p>
        </p:txBody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971800"/>
            <a:ext cx="109728" cy="109728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629400" y="2926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Shift Matrix export</a:t>
            </a:r>
            <a:endParaRPr lang="en-US" sz="95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474720"/>
            <a:ext cx="109728" cy="109728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62940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bidirectional bridge</a:t>
            </a:r>
            <a:endParaRPr lang="en-US" sz="950" dirty="0"/>
          </a:p>
        </p:txBody>
      </p:sp>
      <p:pic>
        <p:nvPicPr>
          <p:cNvPr id="48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977640"/>
            <a:ext cx="109728" cy="109728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662940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€0/year running cost</a:t>
            </a:r>
            <a:endParaRPr lang="en-US" sz="950" dirty="0"/>
          </a:p>
        </p:txBody>
      </p:sp>
      <p:sp>
        <p:nvSpPr>
          <p:cNvPr id="50" name="Text 30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51" name="Text 31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— MVP TO ENTERPRISE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phases, each delivering standalone value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54864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600200" y="1399032"/>
            <a:ext cx="274320" cy="274320"/>
          </a:xfrm>
          <a:prstGeom prst="ellipse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377440" cy="2743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Engine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8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06040"/>
            <a:ext cx="109728" cy="1097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reads V12 Excel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63240"/>
            <a:ext cx="109728" cy="1097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MC + causal DAG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20440"/>
            <a:ext cx="109728" cy="1097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Continuous-path Shift Matrix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77640"/>
            <a:ext cx="109728" cy="1097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44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V12 parity validation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343400" y="139903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4"/>
          <p:cNvSpPr/>
          <p:nvPr/>
        </p:nvSpPr>
        <p:spPr>
          <a:xfrm>
            <a:off x="374904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2026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3291840" y="1874520"/>
            <a:ext cx="2377440" cy="2743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01168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8620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 Room Dashboard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8862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60604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6576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SPA with heatmap</a:t>
            </a:r>
            <a:endParaRPr lang="en-US" sz="9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063240"/>
            <a:ext cx="109728" cy="10972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36576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flow animation</a:t>
            </a:r>
            <a:endParaRPr lang="en-US" sz="9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520440"/>
            <a:ext cx="109728" cy="10972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6576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comparison</a:t>
            </a:r>
            <a:endParaRPr lang="en-US" sz="95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977640"/>
            <a:ext cx="109728" cy="10972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6576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center (PPT/PDF/XLS)</a:t>
            </a:r>
            <a:endParaRPr lang="en-US" sz="950" dirty="0"/>
          </a:p>
        </p:txBody>
      </p:sp>
      <p:sp>
        <p:nvSpPr>
          <p:cNvPr id="34" name="Shape 22"/>
          <p:cNvSpPr/>
          <p:nvPr/>
        </p:nvSpPr>
        <p:spPr>
          <a:xfrm>
            <a:off x="7086600" y="1399032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23"/>
          <p:cNvSpPr/>
          <p:nvPr/>
        </p:nvSpPr>
        <p:spPr>
          <a:xfrm>
            <a:off x="6492240" y="1143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 2026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6035040" y="1874520"/>
            <a:ext cx="2377440" cy="27432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011680"/>
            <a:ext cx="320040" cy="32004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629400" y="20116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+ Power BI</a:t>
            </a:r>
            <a:endParaRPr lang="en-US" sz="1200" dirty="0"/>
          </a:p>
        </p:txBody>
      </p:sp>
      <p:sp>
        <p:nvSpPr>
          <p:cNvPr id="39" name="Text 26"/>
          <p:cNvSpPr/>
          <p:nvPr/>
        </p:nvSpPr>
        <p:spPr>
          <a:xfrm>
            <a:off x="6629400" y="22402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</a:t>
            </a:r>
            <a:endParaRPr lang="en-US" sz="8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606040"/>
            <a:ext cx="109728" cy="10972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4008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</a:t>
            </a:r>
            <a:endParaRPr lang="en-US" sz="95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063240"/>
            <a:ext cx="109728" cy="10972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4008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 workflow integration</a:t>
            </a:r>
            <a:endParaRPr lang="en-US" sz="950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520440"/>
            <a:ext cx="109728" cy="109728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64008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 chat interface</a:t>
            </a:r>
            <a:endParaRPr lang="en-US" sz="950" dirty="0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977640"/>
            <a:ext cx="109728" cy="109728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640080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Power BI sync</a:t>
            </a:r>
            <a:endParaRPr lang="en-US" sz="950" dirty="0"/>
          </a:p>
        </p:txBody>
      </p:sp>
      <p:sp>
        <p:nvSpPr>
          <p:cNvPr id="48" name="Text 31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9" name="Text 3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RHYTHM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embeds into the existing annual planning cycle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DEEP DIVES (1-2x PER YEAR)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676656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00584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002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scanner refreshes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 database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5468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600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83464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Delphi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83464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3-round expert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 protocol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30352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6002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8348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98348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98348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50,000 iterations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causal DAG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452360" y="1463040"/>
            <a:ext cx="640080" cy="640080"/>
          </a:xfrm>
          <a:prstGeom prst="ellipse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6002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2240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Q2-Q4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13232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3232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ExCo + Power BI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11480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48640" y="3703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756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MONITORING (ALWAYS ON)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050792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Trend Scanner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05156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signal digest</a:t>
            </a:r>
            <a:endParaRPr lang="en-US" sz="8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4050792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06324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Early-Warning Triggers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306324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 alerts</a:t>
            </a:r>
            <a:endParaRPr lang="en-US" sz="8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4050792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07492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Velocity Tracking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507492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speed monitoring</a:t>
            </a:r>
            <a:endParaRPr lang="en-US" sz="8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0" y="4050792"/>
            <a:ext cx="228600" cy="2286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086600" y="4023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Refresh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7086600" y="4251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10K iter. on demand</a:t>
            </a:r>
            <a:endParaRPr lang="en-US" sz="800" dirty="0"/>
          </a:p>
        </p:txBody>
      </p:sp>
      <p:sp>
        <p:nvSpPr>
          <p:cNvPr id="42" name="Text 32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43" name="Text 33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1000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48640" y="978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94183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pools are shifting structurally — static Excel cannot capture the causal interdependencies between the 6 forces reshaping our 12 categories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4650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PULSE transforms the V12 assessment into a living, probabilistic simulation engine with Bayesian Monte Carlo, causal propagation, and a 5-year continuous path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5117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AI suggestion requires human review, every score change is audited, and the Delphi protocol ensures calibrated expert consensus — enterprise-grade governance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4864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35584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Three-phase rollout delivers standalone value at each stage: Bayesian engine (Q2), War Room dashboard (Q3), AI intelligence layer (Q4) — all at zero running cost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80467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48640" y="4197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100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Matrix integrates seamlessly with Excel and Power BI — strategy teams see relative %, ExCo sees absolute €M impact. Same truth, two lenses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100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53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Phase 1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7190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Bayesian engine build with V12 integration — deliverable in Q2 2026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804672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313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Designate Delphi scoring panel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0160" y="26791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5-8 category experts for structured scoring rounds during strategy week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804672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83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273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historical V1-V11 data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80160" y="36393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backtesting and empirical calibration of model parameters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2"/>
          <p:cNvSpPr/>
          <p:nvPr/>
        </p:nvSpPr>
        <p:spPr>
          <a:xfrm>
            <a:off x="548640" y="42062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4A8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486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10,000+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54864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 iterations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scenario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69748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269748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 with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causal linking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84632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484632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path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projections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99516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€0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99516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running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57200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841248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1180</Words>
  <Application>Microsoft Macintosh PowerPoint</Application>
  <PresentationFormat>Bildschirmpräsentation (16:9)</PresentationFormat>
  <Paragraphs>284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8" baseType="lpstr">
      <vt:lpstr>Arial</vt:lpstr>
      <vt:lpstr>Segoe UI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CEO Strategy Briefing</dc:title>
  <dc:subject>PptxGenJS Presentation</dc:subject>
  <dc:creator>Bain &amp; Company</dc:creator>
  <cp:lastModifiedBy>Alexander Laker</cp:lastModifiedBy>
  <cp:revision>1</cp:revision>
  <dcterms:created xsi:type="dcterms:W3CDTF">2026-03-30T08:05:15Z</dcterms:created>
  <dcterms:modified xsi:type="dcterms:W3CDTF">2026-03-30T09:01:29Z</dcterms:modified>
</cp:coreProperties>
</file>