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40">
                <a:solidFill>
                  <a:srgbClr val="FFFFFF"/>
                </a:solidFill>
                <a:latin typeface="Calibri"/>
              </a:rPr>
              <a:t>HENKEL CONSUMER BRANDS  ·  STRATEGY  ·  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Competitor Intelligence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Foundation for the PRISM Wargaming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Calibri"/>
              </a:rPr>
              <a:t>42 archetypes  ·  5 threat-types  ·  10 priority dimensions per profile  ·  wargaming priors calibrated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competitors profiled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6749.166666667" y="3749040"/>
            <a:ext cx="0.0" cy="91440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36749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6749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threat types (A–E)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16298.333333334" y="3749040"/>
            <a:ext cx="0.0" cy="91440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16298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6298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Tier 1 core rivals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.5" y="3749040"/>
            <a:ext cx="0.0" cy="91440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5847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Tier 2 adjacent threats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75396.666666667" y="3749040"/>
            <a:ext cx="0.0" cy="91440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75396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5396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Tier 3 monitor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54945.833333334" y="3749040"/>
            <a:ext cx="0.0" cy="91440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854945" y="3840480"/>
            <a:ext cx="187954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$2.7T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4945" y="4370832"/>
            <a:ext cx="18795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100">
                <a:solidFill>
                  <a:srgbClr val="555555"/>
                </a:solidFill>
                <a:latin typeface="Calibri"/>
              </a:rPr>
              <a:t>combined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1277295" cy="1188720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93792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1000F"/>
                </a:solidFill>
                <a:latin typeface="Calibri"/>
              </a:rPr>
              <a:t>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13248"/>
            <a:ext cx="1072865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Each profile aggregates: latest 10-K / 20-F / annual report; investor day decks; Q1–Q4 earnings transcripts; CAGNY presentations; patent filings (USPTO + EPO); CVC databases (Crunchbase, Pitchbook); category-trade press (BeautyMatter, Just-Drinks, IRI, Nielsen); strategic literature (Bain CPG Year-End, McKinsey CG Practice).  </a:t>
            </a:r>
            <a:r>
              <a:rPr sz="950" b="0" i="1">
                <a:solidFill>
                  <a:srgbClr val="333333"/>
                </a:solidFill>
                <a:latin typeface="Calibri"/>
              </a:rPr>
              <a:t>Wargaming priors (move-set probabilities, response speed) calibrated against 5-year strategic move history and updated as new evidence arrives.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80">
                <a:solidFill>
                  <a:srgbClr val="888888"/>
                </a:solidFill>
                <a:latin typeface="Calibri"/>
              </a:rPr>
              <a:t>PREPARED FOR:  HCB OPERATIONAL EXCELLENCE  ·  PRISM v3.4 SUPPORTING 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295" y="640080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180">
                <a:solidFill>
                  <a:srgbClr val="888888"/>
                </a:solidFill>
                <a:latin typeface="Calibri"/>
              </a:rPr>
              <a:t>APRIL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EXECUTIVE SUMMARY  ·  3 TAKE-AWAYS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Three structural conclusions about the competitive 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9728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4632" y="1353312"/>
            <a:ext cx="3637178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3717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4864" cy="411480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32256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1000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2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Unconventional &gt; Traditional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2256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Of the 10 highest-threat competitors, 6 are NOT FMCG: Amazon (84), Dyson (78), Walmart (78), ByteDance (80), Samsung (66), Google (68). The most dangerous moves shrink Henkel's playable pool — they don't fight on share.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4690" y="1353312"/>
            <a:ext cx="3637178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7258" y="1325880"/>
            <a:ext cx="363717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7258" y="1325880"/>
            <a:ext cx="54864" cy="411480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5858" y="1508760"/>
            <a:ext cx="32256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89B00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858" y="1920240"/>
            <a:ext cx="322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Innovation cadence asymmetry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5858" y="2697480"/>
            <a:ext cx="32256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Tech platforms ship 4–6× faster than FMCG (4–6mo TtM vs 22–26mo). DTC adjacency invaders (K18, Olaplex, Function) ship 12–18mo. Henkel must compress to 14–16mo for the moves the model says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4748" y="1353312"/>
            <a:ext cx="3637178" cy="41148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1325880"/>
            <a:ext cx="3637178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1325880"/>
            <a:ext cx="54864" cy="4114800"/>
          </a:xfrm>
          <a:prstGeom prst="rect">
            <a:avLst/>
          </a:prstGeom>
          <a:solidFill>
            <a:srgbClr val="22A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5916" y="1508760"/>
            <a:ext cx="322569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2A56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5916" y="1920240"/>
            <a:ext cx="322569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Acquisition pipeline as competitor advantage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5916" y="2697480"/>
            <a:ext cx="3225698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Unilever (K18, Nutrafol, Living Proof), P&amp;G (Mielle), L'Oréal (Aēsop, Skinceuticals), Beiersdorf (Chantecaille) are converting the Tier-2 adjacency map directly into Tier-1 capability. Watch the bolt-on pipeline.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23560"/>
            <a:ext cx="11277295" cy="5029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687568"/>
            <a:ext cx="1072865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1000F"/>
                </a:solidFill>
                <a:latin typeface="Calibri"/>
              </a:rPr>
              <a:t>FROM REPOSITORY → WARGAMING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70448"/>
            <a:ext cx="107286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Each profile carries 5 calibrated move-set priors, response-speed prior, and HCB-category exposure. PRISM ingests these as Bayesian priors per archetype — refresh quarterly.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EXECUTIVE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 / 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METHODOLOGY  ·  THREAT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Five threat types — each calls for a different defensive playbook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9728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325880"/>
            <a:ext cx="1127729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9601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48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1732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40">
                <a:solidFill>
                  <a:srgbClr val="1A1A1A"/>
                </a:solidFill>
                <a:latin typeface="Calibri"/>
              </a:rPr>
              <a:t>SAME-AXIS RIVAL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1848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Fights Henkel on the same battlefield (price tier, distribution, ad spend, claim wars). Behaviour forecastable from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4173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1848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P&amp;G, Unilever, L'Oréal, Reckitt, Kao, Colgate-Palmolive, Beiersdorf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5695" y="1600200"/>
            <a:ext cx="1691640" cy="27432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5695" y="160020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40">
                <a:solidFill>
                  <a:srgbClr val="FFFFFF"/>
                </a:solidFill>
                <a:latin typeface="Calibri"/>
              </a:rPr>
              <a:t>MANAGEABLE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1127729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31720"/>
            <a:ext cx="548640" cy="96012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548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231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40">
                <a:solidFill>
                  <a:srgbClr val="1A1A1A"/>
                </a:solidFill>
                <a:latin typeface="Calibri"/>
              </a:rPr>
              <a:t>FORMAT / CHANNEL DISRUPTOR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62432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Bypasses Henkel's format or channel strength. Pool migrates, not shrinks.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4231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62432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Tru Earth, Earth Breeze, Blueland, BASF (forward-integration risk)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5695" y="2606040"/>
            <a:ext cx="1691640" cy="274320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5695" y="260604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40">
                <a:solidFill>
                  <a:srgbClr val="FFFFFF"/>
                </a:solidFill>
                <a:latin typeface="Calibri"/>
              </a:rPr>
              <a:t>POOL MIGRATES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1127729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37560"/>
            <a:ext cx="548640" cy="96012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37560"/>
            <a:ext cx="548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4290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40">
                <a:solidFill>
                  <a:srgbClr val="1A1A1A"/>
                </a:solidFill>
                <a:latin typeface="Calibri"/>
              </a:rPr>
              <a:t>JOB SUBSTITUTE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63016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Removes the need for the consumable entirely. Pool actually shrinks.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42900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EXAMPLES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63016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Dyson, Samsung Bespoke, LG Styler, BSH eco-cycles, SharkNinja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05695" y="3611880"/>
            <a:ext cx="1691640" cy="27432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05695" y="361188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40">
                <a:solidFill>
                  <a:srgbClr val="FFFFFF"/>
                </a:solidFill>
                <a:latin typeface="Calibri"/>
              </a:rPr>
              <a:t>POOL SHRINKS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43400"/>
            <a:ext cx="1127729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343400"/>
            <a:ext cx="54864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43400"/>
            <a:ext cx="548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44348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40">
                <a:solidFill>
                  <a:srgbClr val="1A1A1A"/>
                </a:solidFill>
                <a:latin typeface="Calibri"/>
              </a:rPr>
              <a:t>DISCOVERY / ACCESS DISRUPTOR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463600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Reshapes how brands are found and who controls shelf access. Brand-distinctiveness is monetized.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EXAMPLES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463600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Amazon Rufus, Walmart Connect, ByteDance, Alibaba, OpenAI, Google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05695" y="4617720"/>
            <a:ext cx="1691640" cy="274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05695" y="46177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40">
                <a:solidFill>
                  <a:srgbClr val="FFFFFF"/>
                </a:solidFill>
                <a:latin typeface="Calibri"/>
              </a:rPr>
              <a:t>ACCESS TAX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11277295" cy="96012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349240"/>
            <a:ext cx="548640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349240"/>
            <a:ext cx="5486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44068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40">
                <a:solidFill>
                  <a:srgbClr val="1A1A1A"/>
                </a:solidFill>
                <a:latin typeface="Calibri"/>
              </a:rPr>
              <a:t>ADJACENCY INVADER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564184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Comes from outside FMCG (DTC, pro, clinical, wellness). Eats premium pool.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44068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EXAMPLES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5641848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Olaplex, K18, Function of Beauty, Prose, Nutrafol, Hims, Living Proof, Mielle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05695" y="5623560"/>
            <a:ext cx="1691640" cy="2743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05695" y="562356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spc="140">
                <a:solidFill>
                  <a:srgbClr val="FFFFFF"/>
                </a:solidFill>
                <a:latin typeface="Calibri"/>
              </a:rPr>
              <a:t>PREMIUM EROSION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THREAT TAXONOMY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 / 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UNIVERSE OVERVIEW  ·  THREAT-SCORE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Top 15 priority threats — composite asymmetric-threat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Score weights: HCB-overlap (30%), financial firepower (20%), trend tailwind (20%), channel/discovery access (15%), AI/agentic edge (15%)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50876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Procter &amp; Gamble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591056"/>
            <a:ext cx="365760" cy="16459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91056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0876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FMCG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545336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4960" y="1545336"/>
            <a:ext cx="4374489" cy="2560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7215" y="150876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92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3794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83794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Unilever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1920240"/>
            <a:ext cx="365760" cy="16459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92024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83794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FMCG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60" y="1874520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94960" y="1874520"/>
            <a:ext cx="4279392" cy="2560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37215" y="183794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90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6712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16712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L'Oréal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2249424"/>
            <a:ext cx="365760" cy="16459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24942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167128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FMCG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2203704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94960" y="2203704"/>
            <a:ext cx="4041648" cy="2560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37215" y="21671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85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49631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49631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Amazon (Retail + Rufus)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578608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57860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249631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Platform/Retailer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2532888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94960" y="2532888"/>
            <a:ext cx="3994099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37215" y="249631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84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282549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282549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ByteDance / TikTok Shop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0" y="2907792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29077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282549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60" y="2862072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94960" y="2862072"/>
            <a:ext cx="3803904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37215" y="282549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80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15468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3154680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Dyson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74720" y="3236976"/>
            <a:ext cx="365760" cy="16459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3236976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315468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3191256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94960" y="3191256"/>
            <a:ext cx="3708806" cy="25603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637215" y="315468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78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348386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348386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Walmart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3566160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0" y="356616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31920" y="348386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Platform/Retailer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60" y="3520440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94960" y="3520440"/>
            <a:ext cx="370880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637215" y="348386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78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381304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381304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Reckitt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74720" y="3895344"/>
            <a:ext cx="365760" cy="16459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389534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3813048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FMCG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60" y="3849624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394960" y="3849624"/>
            <a:ext cx="3613708" cy="2560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37215" y="381304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76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14223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09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414223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Aldi (Süd + Nord)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74720" y="4224528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0" y="422452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31920" y="414223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Retailer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94960" y="4178808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94960" y="4178808"/>
            <a:ext cx="3423513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637215" y="414223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72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447141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47141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Alibaba Group (Tmall + Taobao)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0" y="4553712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455371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31920" y="447141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60" y="4507992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394960" y="4507992"/>
            <a:ext cx="332841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637215" y="447141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70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800600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" y="4800600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OpenAI (Agentic Commerce)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74720" y="4882896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74720" y="4882896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31920" y="4800600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94960" y="4837176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394960" y="4837176"/>
            <a:ext cx="3328416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37215" y="480060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70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5129784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4400" y="512978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Google / Alphabet (AI Shopping)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474720" y="5212080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474720" y="52120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0" y="5129784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394960" y="5166360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394960" y="5166360"/>
            <a:ext cx="3233318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637215" y="5129784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68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5458968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545896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Samsung Electronics — Home Appliances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474720" y="5541264"/>
            <a:ext cx="365760" cy="16459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74720" y="554126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31920" y="5458968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Device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94960" y="5495544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394960" y="5495544"/>
            <a:ext cx="3138220" cy="25603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637215" y="545896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66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7200" y="5788152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5788152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Kao Corporation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74720" y="5870448"/>
            <a:ext cx="365760" cy="16459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474720" y="587044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931920" y="5788152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FMCG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394960" y="5824728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394960" y="5824728"/>
            <a:ext cx="3043123" cy="256032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637215" y="5788152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64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6117336"/>
            <a:ext cx="365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14400" y="611733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Meta Platforms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474720" y="6199632"/>
            <a:ext cx="365760" cy="16459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474720" y="619963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931920" y="6117336"/>
            <a:ext cx="13716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Platform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94960" y="6153912"/>
            <a:ext cx="4754880" cy="2560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394960" y="6153912"/>
            <a:ext cx="3043123" cy="2560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637215" y="611733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 i="0">
                <a:solidFill>
                  <a:srgbClr val="1A1A1A"/>
                </a:solidFill>
                <a:latin typeface="Calibri"/>
              </a:rPr>
              <a:t>64</a:t>
            </a:r>
            <a:r>
              <a:rPr sz="800" b="0" i="0">
                <a:solidFill>
                  <a:srgbClr val="888888"/>
                </a:solidFill>
                <a:latin typeface="Calibri"/>
              </a:rPr>
              <a:t> /100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UNIVERSE OVERVIEW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 / 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INNOVATION PATTERNS  ·  CADENCE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Innovation cadence × time-to-market by archetype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How fast they ship, how often, and through which bias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554480" y="1508760"/>
            <a:ext cx="8808415" cy="4389120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005840" cy="438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 spc="140">
                <a:solidFill>
                  <a:srgbClr val="888888"/>
                </a:solidFill>
                <a:latin typeface="Calibri"/>
              </a:rPr>
              <a:t>TIME-TO-MARKET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5989320"/>
            <a:ext cx="8808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 spc="140">
                <a:solidFill>
                  <a:srgbClr val="888888"/>
                </a:solidFill>
                <a:latin typeface="Calibri"/>
              </a:rPr>
              <a:t>INNOVATION CADENCE  (launches per year)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3560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60mo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1508760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2313432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48mo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2386584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" y="3191256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36mo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54480" y="3264408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" y="4069080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24mo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4142232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4946904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12mo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54480" y="5020056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97280" y="5385816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Calibri"/>
              </a:rPr>
              <a:t>6mo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5458968.0"/>
            <a:ext cx="8808415" cy="0.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54480.0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72365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355245.0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73512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556392.5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75425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50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58305.0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77337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75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560217.5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379250" y="5916168"/>
            <a:ext cx="365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88888"/>
                </a:solidFill>
                <a:latin typeface="Calibri"/>
              </a:rPr>
              <a:t>100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62130.0" y="1508760"/>
            <a:ext cx="0.0" cy="4389120"/>
          </a:xfrm>
          <a:prstGeom prst="line">
            <a:avLst/>
          </a:prstGeom>
          <a:ln w="5080">
            <a:solidFill>
              <a:srgbClr val="E8E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284005" y="4069080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23470" y="4215384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85153" y="4507992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22705" y="4361688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43011" y="3630168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82858" y="4069080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762552" y="3922776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442246" y="4507992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285918" y="4361688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883623" y="4215384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243011" y="3922776"/>
            <a:ext cx="146304" cy="14630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01634" y="1435608"/>
            <a:ext cx="146304" cy="14630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22705" y="4069080"/>
            <a:ext cx="146304" cy="14630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602399" y="3922776"/>
            <a:ext cx="146304" cy="14630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82093" y="3191256"/>
            <a:ext cx="146304" cy="14630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84005" y="4800600"/>
            <a:ext cx="146304" cy="146304"/>
          </a:xfrm>
          <a:prstGeom prst="ellipse">
            <a:avLst/>
          </a:prstGeom>
          <a:solidFill>
            <a:srgbClr val="E1000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488978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285918" y="5166360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684388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483240" y="4946904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85153" y="5532120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83623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801634" y="4507992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881710" y="4800600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121940" y="4946904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61787" y="4946904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961787" y="4507992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21940" y="5166360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81710" y="4215384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2246" y="4800600"/>
            <a:ext cx="146304" cy="146304"/>
          </a:xfrm>
          <a:prstGeom prst="ellipse">
            <a:avLst/>
          </a:prstGeom>
          <a:solidFill>
            <a:srgbClr val="8E44A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01634" y="494690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81710" y="5093208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61787" y="4800600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922705" y="421538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883623" y="3191256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485153" y="4069080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684388" y="4215384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883623" y="4069080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082858" y="3630168"/>
            <a:ext cx="146304" cy="146304"/>
          </a:xfrm>
          <a:prstGeom prst="ellipse">
            <a:avLst/>
          </a:prstGeom>
          <a:solidFill>
            <a:srgbClr val="E89B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442246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285918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684388" y="5385816"/>
            <a:ext cx="146304" cy="146304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06350" y="4233672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555555"/>
                </a:solidFill>
                <a:latin typeface="Calibri"/>
              </a:rPr>
              <a:t>Unilever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8033" y="452628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555555"/>
                </a:solidFill>
                <a:latin typeface="Calibri"/>
              </a:rPr>
              <a:t>L'Oréal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4514" y="1453896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E1000F"/>
                </a:solidFill>
                <a:latin typeface="Calibri"/>
              </a:rPr>
              <a:t>Dyson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05585" y="408736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E1000F"/>
                </a:solidFill>
                <a:latin typeface="Calibri"/>
              </a:rPr>
              <a:t>Samsung Electronics — Home Appliances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66885" y="481888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E1000F"/>
                </a:solidFill>
                <a:latin typeface="Calibri"/>
              </a:rPr>
              <a:t>SharkNinja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71858" y="540410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F3A5F"/>
                </a:solidFill>
                <a:latin typeface="Calibri"/>
              </a:rPr>
              <a:t>Amazon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8798" y="518464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F3A5F"/>
                </a:solidFill>
                <a:latin typeface="Calibri"/>
              </a:rPr>
              <a:t>Walmart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8033" y="555040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F3A5F"/>
                </a:solidFill>
                <a:latin typeface="Calibri"/>
              </a:rPr>
              <a:t>ByteDance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84514" y="452628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E44AD"/>
                </a:solidFill>
                <a:latin typeface="Calibri"/>
              </a:rPr>
              <a:t>Olaplex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64590" y="4818888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8E44AD"/>
                </a:solidFill>
                <a:latin typeface="Calibri"/>
              </a:rPr>
              <a:t>K18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66503" y="320954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E89B00"/>
                </a:solidFill>
                <a:latin typeface="Calibri"/>
              </a:rPr>
              <a:t>BASF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25126" y="540410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1F3A5F"/>
                </a:solidFill>
                <a:latin typeface="Calibri"/>
              </a:rPr>
              <a:t>OpenAI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54335" y="1691640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40">
                <a:solidFill>
                  <a:srgbClr val="888888"/>
                </a:solidFill>
                <a:latin typeface="Calibri"/>
              </a:rPr>
              <a:t>THREAT TYPE</a:t>
            </a:r>
          </a:p>
        </p:txBody>
      </p:sp>
      <p:sp>
        <p:nvSpPr>
          <p:cNvPr id="89" name="Oval 88"/>
          <p:cNvSpPr/>
          <p:nvPr/>
        </p:nvSpPr>
        <p:spPr>
          <a:xfrm>
            <a:off x="10454335" y="1920240"/>
            <a:ext cx="128016" cy="128016"/>
          </a:xfrm>
          <a:prstGeom prst="ellips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637215" y="190195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Same-axis</a:t>
            </a:r>
          </a:p>
        </p:txBody>
      </p:sp>
      <p:sp>
        <p:nvSpPr>
          <p:cNvPr id="91" name="Oval 90"/>
          <p:cNvSpPr/>
          <p:nvPr/>
        </p:nvSpPr>
        <p:spPr>
          <a:xfrm>
            <a:off x="10454335" y="2121408"/>
            <a:ext cx="128016" cy="128016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637215" y="210312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Format</a:t>
            </a:r>
          </a:p>
        </p:txBody>
      </p:sp>
      <p:sp>
        <p:nvSpPr>
          <p:cNvPr id="93" name="Oval 92"/>
          <p:cNvSpPr/>
          <p:nvPr/>
        </p:nvSpPr>
        <p:spPr>
          <a:xfrm>
            <a:off x="10454335" y="2322576"/>
            <a:ext cx="128016" cy="128016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37215" y="230428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Substitute</a:t>
            </a:r>
          </a:p>
        </p:txBody>
      </p:sp>
      <p:sp>
        <p:nvSpPr>
          <p:cNvPr id="95" name="Oval 94"/>
          <p:cNvSpPr/>
          <p:nvPr/>
        </p:nvSpPr>
        <p:spPr>
          <a:xfrm>
            <a:off x="10454335" y="252374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37215" y="250545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Discovery</a:t>
            </a:r>
          </a:p>
        </p:txBody>
      </p:sp>
      <p:sp>
        <p:nvSpPr>
          <p:cNvPr id="97" name="Oval 96"/>
          <p:cNvSpPr/>
          <p:nvPr/>
        </p:nvSpPr>
        <p:spPr>
          <a:xfrm>
            <a:off x="10454335" y="2724912"/>
            <a:ext cx="128016" cy="128016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637215" y="270662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Adjacency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45920" y="16002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AAAAAA"/>
                </a:solidFill>
                <a:latin typeface="Calibri"/>
              </a:rPr>
              <a:t>SLOW &amp; STEADY  (FMCG legacy)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76895" y="160020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1">
                <a:solidFill>
                  <a:srgbClr val="AAAAAA"/>
                </a:solidFill>
                <a:latin typeface="Calibri"/>
              </a:rPr>
              <a:t>FAST &amp; PROLIFIC  (platforms)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76895" y="56235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 i="1">
                <a:solidFill>
                  <a:srgbClr val="AAAAAA"/>
                </a:solidFill>
                <a:latin typeface="Calibri"/>
              </a:rPr>
              <a:t>FAST &amp; FREQUENT  (DTC + retail)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5920" y="562356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>
                <a:solidFill>
                  <a:srgbClr val="AAAAAA"/>
                </a:solidFill>
                <a:latin typeface="Calibri"/>
              </a:rPr>
              <a:t>RARE &amp; RAPID  (devices)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INNOVATION LANDSCAPE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5 / 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40">
                <a:solidFill>
                  <a:srgbClr val="E1000F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Tier 1  ·  Core FMCG rivals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Same-axis competitors (Type A) — direct portfolio overlap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40">
                <a:solidFill>
                  <a:srgbClr val="888888"/>
                </a:solidFill>
                <a:latin typeface="Calibri"/>
              </a:rPr>
              <a:t>P&amp;G  ·  Unilever  ·  L'Oréal  ·  Reckitt  ·  Kao  ·  Colgate-Palmolive  ·  Beiersdorf  ·  Church &amp; Dwight  ·  Estée Lauder  ·  Coty  ·  Kenvue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140">
                <a:solidFill>
                  <a:srgbClr val="888888"/>
                </a:solidFill>
                <a:latin typeface="Calibri"/>
              </a:rPr>
              <a:t>PAGE 6 /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Procter &amp; Gamble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Global #1 FMCG. Direct rival across HCB's full portfolio. Highest brand-warfare risk; deepest pockets for advertising and superiority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92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9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Cincinnati,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1837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$84.0B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2.7%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15798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185416"/>
            <a:ext cx="5706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157984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35000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Asia-Pacific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377440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377440"/>
            <a:ext cx="248130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350008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542032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569464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569464"/>
            <a:ext cx="223317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542032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734056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Greater China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3511" y="2761488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3511" y="2761488"/>
            <a:ext cx="173691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0631" y="273405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Modern Trade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403854"/>
            <a:ext cx="3542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Drug/Pharma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598164"/>
            <a:ext cx="236151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Club/Mass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23511" y="3792474"/>
            <a:ext cx="15743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Tide / Ariel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$13B+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Pantene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Head &amp; Shoulders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Olay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Gillette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Grooming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$6B+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Pampers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Baby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$8B+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Crest / Oral-B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Oral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$5B+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100" name="Oval 99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103" name="Oval 102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6" name="Oval 105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88%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2990088"/>
            <a:ext cx="583670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163824"/>
            <a:ext cx="38911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044455" y="3337560"/>
            <a:ext cx="84307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44455" y="3511296"/>
            <a:ext cx="324261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Productivity &amp; continuous cost-out (60+ bps annually)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Brand superiority strategy — claim-led across all 5 vectors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Premiumization in core categories (Tide Hygienic, Pantene Pro-V)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Retail-media + DTC partnership programs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China structural recovery + India scale-up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35/yr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24mo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1100/yr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65%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069992" y="4882896"/>
            <a:ext cx="67396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069992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claim-led superiority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5-vector superiority (product, package, brand comm, retail execution, value) — never launches without a measurable, claimable benefit vs. closest competitor.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Mielle Organics (~$300M est, textured hair)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2021: Farmacy Beauty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2018: Merck Consumer Health (€3.4B, regional focus)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P&amp;G Ventures — 5 internal start-up incubator brands (Native, Olay Skin Advisor)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M·A·T·C·H accelerator — partnerships with start-ups for hair/skin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Connect+Develop external partnership network (~50% of innovations)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Mason OH · Kobe · Singapore · Brussels · Beijing · São Paulo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Connect+Develop platform — ~50% of innovations from external partners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(Cincinnati DMA), Mexico, Poland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72% renov  ·  28% new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615" y="5413248"/>
            <a:ext cx="19410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(88% prior)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PROCTER &amp; GAMBLE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7 / 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Unilever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ULVR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Closest portfolio overlap with HCB outside of US. Pivoting to 30 Power Brands; aggressive premiumization through prestige beauty acquisitions.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90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11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London, 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1929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$65.5B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+2.5%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652228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923990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Asia/Pacific/Africa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Modern Trade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General Trade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502215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36524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DTC/Prestige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18262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Dove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Personal Care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€8B+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Sunsilk / TRESemmé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€3B+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OMO / Persil(UK)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€3B+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Domestos / Cif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Home Care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€2B+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Vaseline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€2B+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Magnum / Ben &amp; Jerry's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Ice Cream (spin-off)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(acq 2024)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$0.2B+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8" name="Oval 97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78%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2990088"/>
            <a:ext cx="51216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163824"/>
            <a:ext cx="95116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3337560"/>
            <a:ext cx="73166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511296"/>
            <a:ext cx="6584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Growth Action Plan (GAP): 30 Power Brands = 75% of turnover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Ice cream spin-off (2025) — capital reallocation to FMCG core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Prestige Beauty as separate operating segment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— Unilever Compass 2030 reset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Productivity program (€800M cost-out by FY26)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28/yr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22mo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750/yr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purpose + premium-positioning hybrid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Acquires premium/prestige challengers, scales globally through Unilever distribution machine. Bias toward purpose-led claims and naturals.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K18 (~$1.5B, prestige hair-bond)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Yasso (frozen Greek yogurt)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Nutrafol (majority stake from acquired Wellbeing portfolio)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Unilever Ventures — €400M fund; investments in Nutrafol, True Botanicals, Olly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Unilever Foundry — start-up partnership platform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Major biotech investments (Geno, Solugen, Genomatica) for sustainable surfactants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Port Sunlight UK · Bangalore · Shanghai · Trumbull CT · Vlaardingen NL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Unilever Foundry / Ventures — heavy CVC + biotech partnership stance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UK, Brazil, India (massive emerging-market test bed)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65% renov  ·  35% new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9038615" y="5413248"/>
            <a:ext cx="175232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(78% prior)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UNILEVER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8 / 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L'Oréal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OR.PA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World #1 beauty pure-play. Owns the credential-led premiumization of hair (Kérastase, CeraVe, La Roche-Posay). Direct threat to Schwarzkopf premium credential.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85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Clichy, France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$45.3B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+7.5%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3.4%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15798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157984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35000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Asia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377440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377440"/>
            <a:ext cx="887755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350008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542032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SAPMENA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569464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569464"/>
            <a:ext cx="676385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542032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734056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3511" y="2761488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3511" y="2761488"/>
            <a:ext cx="380466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0631" y="273405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Department/Premium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Mass/Drug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403854"/>
            <a:ext cx="76093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598164"/>
            <a:ext cx="887755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Salon Pro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23511" y="3792474"/>
            <a:ext cx="25364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L'Oréal Paris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Mass Beauty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€7B+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Garnier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Mass Beauty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€3B+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Maybelline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Make-up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€3B+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Lancôme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€4B+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Kiehl's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€1.5B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Kérastase / Redken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Pro Hair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€2B+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CeraVe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Derm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€2B+ (acq 2017)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100" name="Oval 99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Hair (Schwarzkopf Pro)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103" name="Oval 102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6" name="Oval 105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Color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92%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2990088"/>
            <a:ext cx="248130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163824"/>
            <a:ext cx="86845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044455" y="3337560"/>
            <a:ext cx="744391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044455" y="3511296"/>
            <a:ext cx="372195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Beauty Tech leadership — Modiface AR, ColorSonic, Cell BioPrint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Active Cosmetics (CeraVe, La Roche-Posay) — fastest-growing division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China premium recovery + India build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&amp; green sciences (15% sales from biotech ingredients by 2030)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Hair-loss / wellness + tele-derm DTC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50/yr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18mo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600/yr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4665610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665610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ingredient-led + tech-led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Ingredient credentialing engine — owns 17 R&amp;D centers; first-to-market on derm-grade hero molecules, then mass extension. Beauty tech as differentiator.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Aēsop ($2.5B) — luxury botanical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Migu Cosmetics (Korean), Skinceuticals expansion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Gjosa partnership (water-saving showerheads)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BOLD (Business Opportunities for L'Oréal Development) — corporate VC fund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Investments: Functional of Beauty (early), Sila Nano, Lucasmeyer Cosmetics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Stationary partnerships with Verily (alphabet) and Microsoft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Saint-Ouen FR · Aulnay FR · Pudong CN · Clark NJ · Mumbai · Tokyo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Big Bang accelerator + ~60 venture partnerships annually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France, China, US, Korea (beauty tech)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(92% prior)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L'ORÉAL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9 / 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Reckitt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RKT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Hygiene-fortress strategy. Direct overlap in dish (Finish), surface (Dettol/Lysol), home freshness (Air Wick). Aggressive Power Brand pricing.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Slough, 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$18.8B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+1.5%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1.6%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86300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779492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Developing Markets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Modern Trade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Drug/Pharmacy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31129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General Trade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2075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Lysol / Dettol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Disinfectant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£3B+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Finish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Auto-Dish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£2B+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Air Wick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Air Care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£1.5B+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Vanish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Stain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£1B+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Calgon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 Aux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£0.5B+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Mucinex / Strepsils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OTC Health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Mead Johnson — Enfamil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Nutrition (under review)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£1.5B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Air Care / Toilet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8" name="Oval 97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Aux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2990088"/>
            <a:ext cx="9657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163824"/>
            <a:ext cx="3511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3337560"/>
            <a:ext cx="7901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511296"/>
            <a:ext cx="6145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Powerbrands strategy — top 17 brands = ~80% revenue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Strategic review of Mead Johnson nutrition unit (2024)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Productivity ('Fuel for Growth' program: ~£1B by FY26)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Premiumization in hygiene (Finish Quantum Ultimate, Lysol Pro)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Health platform expansion (cough/cold; sexual wellness)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18/yr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20mo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200/yr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3317671" y="4882896"/>
            <a:ext cx="188711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17671" y="4882896"/>
            <a:ext cx="188711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204786" y="4882896"/>
            <a:ext cx="67396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204786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performance-claim led (efficacy-tested)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Iterative efficacy upgrades to Power Brands — 'kills 99.99% of...' claim escalation. Hygiene-credentialing through hospital partnerships.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Strategic review of nutrition unit + Essential Home spin-off announced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Mead Johnson ($16.6B, under strategic review)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Frequent small bolt-ons in OTC and hygiene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Reckitt Ventures — health &amp; hygiene start-ups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Partnerships: Imperial College London (microbiome research)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Hull UK · Montvale NJ · Singapore · Shanghai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Reckitt Ventures; partnerships with hospital systems for hygiene IP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UK, US, Brazil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78% renov  ·  21% new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038615" y="5413248"/>
            <a:ext cx="2102786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(65% prior)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RECKITT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10 /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Kao Corporation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4452.T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Japanese hygiene/beauty incumbent with strong APAC moat and emerging premium-skin presence (Kanebo, Curél). Slow but technically excellent. Significant in hair care professional channel.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Tokyo, 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1887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$10.4B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1000F"/>
                </a:solidFill>
                <a:latin typeface="Calibri"/>
              </a:rPr>
              <a:t>-0.5%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Japan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 ex-JP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348223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25149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EMEA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93457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Modern Trade JP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 Stores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63411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 (incl. China)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Pro Salon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202915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Attack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 JP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¥120B+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Magica / CuCute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Dish JP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¥60B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Bioré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Skin/Cleansing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¥80B+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Asience / Liese / Essential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JP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¥100B+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Kanebo / Sensai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Skin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¥80B+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Curél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Sensitive Skin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¥40B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John Frieda / Goldwell / KMS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Pro/Premium Hair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$0.8B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(Asia)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6" name="Oval 95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Hair (Pro)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9" name="Oval 98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(Asia)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2" name="Oval 101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2990088"/>
            <a:ext cx="415054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3163824"/>
            <a:ext cx="622581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337560"/>
            <a:ext cx="726345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044455" y="3511296"/>
            <a:ext cx="830108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K27 mid-term plan — recovery to growth + margin restoration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 skincare (Kanebo, Sensai) global push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Cosmetics business reset (loss-making segment under restructuring)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Bio IOS technology — 100% biodegradable detergent platform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Asia ex-JP growth (China premium recovery)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22/yr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30mo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400/yr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ingredient/technology-led (long R&amp;D cycles)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Deep biotech &amp; polymer science (Bio IOS, fine fiber technology). Long pipeline cycles; first-in-class technical proofs but slow international rollout.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Oribe Hair Care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2021: Bondi Sands (Australian sun care, $450M)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Frequent license deals, limited M&amp;A appetite vs. peers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public CVC; strategic equity stakes in Asian beauty start-ups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Partnerships with ACT Group (Africa) for emerging markets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Wakayama JP · Tochigi JP · Cincinnati OH · Frankfurt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Limited external — strong internal R&amp;D culture; some university partnerships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Japan (Kanto region first), Taiwan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62% renov  ·  38% new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615" y="5413248"/>
            <a:ext cx="167144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KAO CORPORATION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11 / 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Colgate-Palmolive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Oral-care fortress + meaningful Home Care (Palmolive, Ajax) and Hill's pet. Limited HCB hair overlap. Threat is highest in dish + emerging-market laundry.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$20.1B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1.8%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845481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15798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157984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35000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377440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377440"/>
            <a:ext cx="634110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350008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542032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569464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569464"/>
            <a:ext cx="676385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542032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734056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Africa/Eurasia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3511" y="2761488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3511" y="2761488"/>
            <a:ext cx="295918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0631" y="273405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Modern Trade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Drug/Mass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598164"/>
            <a:ext cx="31129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GT / Other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23511" y="3792474"/>
            <a:ext cx="2075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78143" y="178308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Colgate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178308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Oral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178308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$11B+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2138172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Palmolive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2138172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Dish/Body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2138172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143" y="2493264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Ajax / Fabuloso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0877" y="2493264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Surface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9641" y="2493264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$1B+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8143" y="2848356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Suavitel / Soupline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0877" y="2848356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Fabric Cond.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9641" y="2848356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8143" y="3203448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Sanex / Irish Spring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60877" y="3203448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Body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69641" y="3203448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$0.6B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78143" y="355854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Hill's Pet Nutrition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660877" y="355854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Pet Food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469641" y="355854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Oval 93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 (LatAm)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7" name="Oval 96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 (LatAm)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0" name="Oval 99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3" name="Oval 102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Aux (LatAm)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2990088"/>
            <a:ext cx="76093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044455" y="3163824"/>
            <a:ext cx="47558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044455" y="3337560"/>
            <a:ext cx="76093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044455" y="3511296"/>
            <a:ext cx="5706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2030 strategy: revenue reach + premiumization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Emerging-market growth (Latam, Africa)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Hill's Pet — high-margin growth engine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 toothpaste (Optic White, Total) — sensitivity / whitening innovation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Skin Health (Filorga, Eltamd, PCA) bolt-on portfolio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20/yr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24mo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220/yr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317671" y="4882896"/>
            <a:ext cx="188711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317671" y="4882896"/>
            <a:ext cx="188711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70%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204786" y="4882896"/>
            <a:ext cx="67396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204786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claim-led (efficacy + dental)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Methodical Power Brand renovation cycle; ~3-year refresh on flagship lines. Strong moat in emerging markets through GT distribution.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2019: Filorga ($1.7B, French derm skincare)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PCA Skin, EltaMD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large M&amp;A; tuck-ins continue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CP Ventures — Future Lab investments in oral health tech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University Partnerships (NYU dental, Tufts)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Piscataway NJ · São Paulo · Mumbai · Guangzhou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Dental school partnerships globally; CP Ventures small VC arm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Brazil, Mexico, India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75% renov  ·  25% new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615" y="5413248"/>
            <a:ext cx="202190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(60% prior)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COLGATE-PALMOLIVE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12 / 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Beiersdorf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BEI.DE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Consumer Brands division (NIVEA, Eucerin) is direct adjacency to HCB body care and emerging-segment derm. Aggressive premiumization through Eucerin and La Prairie.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Hamburg, 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1882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$10.3B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+6.5%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479387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Africa/Asia/Australia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662011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Mass/Drug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Pharmacy/Derm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269785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Travel/Luxe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14526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NIVEA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Body/Face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€6.5B+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138172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Eucerin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138172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Derm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138172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€1.5B+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493264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Aquaphor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493264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Therapeutic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493264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€0.7B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848356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La Prairie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848356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848356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€1B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203448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Chantecaille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203448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 (acq 2022)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203448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€0.2B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55854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Tesa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55854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Adhesives (B2B)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55854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€1.7B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9" name="Oval 88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Derm/Premium Skin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Sun Care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4455" y="2990088"/>
            <a:ext cx="407642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3163824"/>
            <a:ext cx="733756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3337560"/>
            <a:ext cx="815285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044455" y="3511296"/>
            <a:ext cx="489171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C.A.R.E.+ strategy — focus, premiumize, accelerate, lead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Eucerin/Aquaphor derm category — fastest growing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China &amp; Travel Retail recovery (La Prairie)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Skin biology platform — Thiamidol (anti-pigmentation hero ingredient)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— refillable &amp; decarbonized formulas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16/yr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26mo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280/yr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ingredient-credentialed (Thiamidol, Q10, Hyaluron)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Hero-ingredient strategy — invests heavily in single molecules (Thiamidol, Epicelline) and rolls them across NIVEA → Eucerin pyramid.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Chantecaille ($590M, luxe clean beauty)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2019: Coppertone (sun care, $550M)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Active in derm bolt-ons; recently passed on La Roche-Posay scale assets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Beiersdorf Ventures €100M fund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Investments: Routinely (DTC), KSI Beauty, S'Able Labs, hyperskin tech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Hamburg · São Paulo · Wuhan · Mumbai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Beiersdorf Ventures; dermatology research network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Germany, Brazil, Mexico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70% renov  ·  30% new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038615" y="5413248"/>
            <a:ext cx="188711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(70% prior)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BEIERSDORF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13 /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Church &amp; Dwight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CHD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Mid-tier US laundry / personal care challenger. Arm &amp; Hammer is the value/baking-soda specialist. Disproportionate threat to HCB Purex/all in US value laundry.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55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Ewing NJ,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$5.9B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International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201423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Mass/Club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03854"/>
            <a:ext cx="31129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92474"/>
            <a:ext cx="2075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Arm &amp; Hammer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Laundry/Multi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OxiClean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 Booster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$0.6B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Trojan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Sexual Wellness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Vitafusion / L'il Critters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Vitamins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$0.5B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Hero / Mighty Patch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Acne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$0.2B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Therabreath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Oral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$0.3B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Waterpik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Oral Devices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US Value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8" name="Oval 87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Boosters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1" name="Oval 90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4" name="Oval 93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Oral Care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44455" y="2816352"/>
            <a:ext cx="8779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3163824"/>
            <a:ext cx="8779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337560"/>
            <a:ext cx="702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3511296"/>
            <a:ext cx="3511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Value-tier laundry leadership (Arm &amp; Hammer + Xtra)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 consumer health bolt-on strategy (Hero, Therabreath, Waterpik)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Brand-extending Arm &amp; Hammer into adjacencies (Cat Litter, Dental)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 (limited but growing)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12/yr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18mo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60/yr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317671" y="4882896"/>
            <a:ext cx="202190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317671" y="4882896"/>
            <a:ext cx="202190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75%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339580" y="4882896"/>
            <a:ext cx="539175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339580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format-led (single-dose, scent layering)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Acquire-then-scale playbook. Strong at format-tier extensions (Power Paks, Plus OxiClean variants). Disproportionate ROI from acquired brands.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Touchland (premium hand sanitizer DTC, ~$700M)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Hero Cosmetics (~$630M)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2021: Therabreath (~$580M)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Limited; instead, active corporate development pipeline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Princeton NJ · York PA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Acquisitive — buys innovation rather than builds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Northeast, Texas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80% renov  ·  19% new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038615" y="5413248"/>
            <a:ext cx="215670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Price war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(65% prior)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CHURCH &amp; DWIGHT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14 / 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Estée Lauder Companies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Prestige beauty pure-play. Limited HCB direct overlap, but Aveda + Bumble and bumble compete with Schwarzkopf Pro. China downturn currently structural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42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$15.6B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1000F"/>
                </a:solidFill>
                <a:latin typeface="Calibri"/>
              </a:rPr>
              <a:t>-4.0%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91311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EMEA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79897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Department/Specialty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Travel Retail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45655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77044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Specialty/Multi-brand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34241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Estée Lauder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Skin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Clinique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Skin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$2B+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Make-up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$2B+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La Mer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 Skin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$2B+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Bobbi Brown / Tom Ford / Jo Malone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Luxe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Aveda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Pro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$0.5B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Bumble and bumble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Pro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$0.2B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Body Care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Pro Salon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4455" y="2990088"/>
            <a:ext cx="134282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3163824"/>
            <a:ext cx="671411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3337560"/>
            <a:ext cx="738552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044455" y="3511296"/>
            <a:ext cx="268564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Profit Recovery &amp; Growth Plan (PRGP) — $1.1B+ savings by FY26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China prestige reset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Travel Retail rebalancing (Hainan governance changes)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Beauty Re-Imagined transformation program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Innovation pipeline acceleration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60/yr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20mo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150/yr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530816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530816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luxury-credentialed + ingredient-led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Multi-brand launch waves — each house has own innovation cadence; relies on prestige distribution and limited-edition drops for momentum.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Tom Ford Beauty in-house ($2.8B)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Too Faced, BECCA (since shut)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DECIEM majority stake (full ownership 2024)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New Incubation Ventures (NIV) — Adwoa Beauty, Have &amp; Be (Dr. Jart+)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Alpha-H, Lyma Life invested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Melville NY · Shanghai · Tokyo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New Incubation Ventures (NIV) — incubator + minority stakes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Korea, China T1 cities, US Department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ESTÉE LAUDER COMPANIES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15 /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Coty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COTY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Mass + prestige beauty conglomerate post P&amp;G Beauty carve-out. Holds Wella legacy stakes (37% partnership). Direct competition for hair color &amp; professional channel.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$6.1B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+10.0%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EMEA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1114855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398162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Department/Specialty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978342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E-com/DTC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652228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Travel Retail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32611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CoverGirl / Rimmel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Mass Color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138172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Sally Hansen / Max Factor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138172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Mass Color/Nail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138172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$0.7B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493264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Gucci Beauty / Burberry / Hugo Boss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493264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Prestige Fragrance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493264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$2B+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848356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Chloé / Marc Jacobs / Calvin Klein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848356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Prestige Fragrance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848356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203448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Kylie Cosmetics / Skin (51% stake)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203448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Prestige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203448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$0.3B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55854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Wella Co. (KKR — 37% Coty stake)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55854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Pro Hair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55854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Color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89" name="Oval 88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 (via Wella)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44455" y="2990088"/>
            <a:ext cx="30437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044455" y="3163824"/>
            <a:ext cx="45655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044455" y="3337560"/>
            <a:ext cx="68483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044455" y="3511296"/>
            <a:ext cx="304373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All-in Strategy: 5-year transformation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Prestige Fragrance growth + premium make-up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Skincare expansion (Lancaster, Philosophy)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Fragrance innovation pipeline + brand licensing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Wella partnership monetization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30/yr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22mo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60/yr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celebrity/license-led + fragrance science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License-and-launch model; celebrity partnerships drive prestige fragrance volume. Limited proprietary R&amp;D depth.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2020: Kylie Cosmetics 51% (~$600M)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2020: KKR Wella divestiture (retains 25.9% stake)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Frequent license refreshes, modest M&amp;A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Coty Ventures — limited public footprint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Morris Plains NJ · Granollers ES · Paris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Heavy reliance on celebrity/licensee partnerships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Department + UK Multi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60% renov  ·  40% new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9038615" y="5413248"/>
            <a:ext cx="1617527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(75% prior)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COTY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16 /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1  ·  FMCG  ·  TYPE A · same-axis rival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Kenvue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KVUE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Spun off from J&amp;J in 2023. World #1 consumer health pure-play. Indirect HCB threat through Aveeno (skin/hair derm) and Neutrogena.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A · same-axis rival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Skillman NJ,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$15.5B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EMEA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489171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41928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279526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Drug/Pharmacy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85604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5706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28534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Tylenol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OTC Pain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Listerine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Oral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Neutrogena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Skin/Hair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$3B+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Aveeno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Skin/Hair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Johnson's Baby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Baby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Band-Aid / Zyrtec / Benadryl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OTC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Nicorette / Nicotinell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Nicotine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 (US)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6" name="Oval 95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(Aveeno)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9" name="Oval 98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Baby Care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2" name="Oval 101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Sun Care (Neutrogena)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2990088"/>
            <a:ext cx="518818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044455" y="3163824"/>
            <a:ext cx="415054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044455" y="3337560"/>
            <a:ext cx="830108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044455" y="3511296"/>
            <a:ext cx="933872" cy="82296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Post-spin growth acceleration (margin recovery)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Skin Health &amp; Beauty turnaround (Neutrogena, Aveeno, Clean &amp; Clear)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Productivity program — $350M cost-out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Innovation reinvestment (skincare especially)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22/yr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26mo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180/yr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17671" y="4882896"/>
            <a:ext cx="1617527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317671" y="4882896"/>
            <a:ext cx="161752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35198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935198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clinical/derm-credential led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Clinical-credential first — derm/pediatrician recommendation. Slower cycle but with regulatory legitimacy. Aveeno hair as quiet scaling threat.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M&amp;A post-spin; focused on integration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Strategic review of select non-core brands ongoing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JLABS legacy (J&amp;J Innovation) — Kenvue retained access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Partnerships with academic dermatology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Skillman NJ · Singapore · São Paulo · Mumbai · Shanghai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Pharma-derived heritage; partnerships with derm institutions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(East Coast), Brazil, Korea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70% renov  ·  30% new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615" y="5413248"/>
            <a:ext cx="188711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55555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1  ·  KENVUE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17 / 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40">
                <a:solidFill>
                  <a:srgbClr val="E1000F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Tier 2  ·  Adjacent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Job-substitutes, channel disruptors, and adjacency invaders (Types C, D, 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40">
                <a:solidFill>
                  <a:srgbClr val="888888"/>
                </a:solidFill>
                <a:latin typeface="Calibri"/>
              </a:rPr>
              <a:t>Devices  ·  Retail platforms  ·  DTC / pro-mass crossover  ·  19 archetypes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140">
                <a:solidFill>
                  <a:srgbClr val="888888"/>
                </a:solidFill>
                <a:latin typeface="Calibri"/>
              </a:rPr>
              <a:t>PAGE 18 / 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DEVICE  ·  TYPE C · job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Dyson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Engineering-led premium device player. Hair tools (Supersonic, Airwrap, Corrale) cannibalize need for HCB styling products. Adjacent push into care liquids likely.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C · job substitute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36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Singapore (HQ moved 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1991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$8.2B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+10.0%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UK &amp; Ireland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300368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750920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81099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Direct (Dyson.com + stores)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Premium Multi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518818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Department/Specialty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31129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10376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Dyson Supersonic / Airwrap / Corrale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Devices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£1.5B+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V-series Vacuums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Floor Care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£3B+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Air Purifiers + Hot+Cool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Air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£1B+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Lighting / Robotics / Headphones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Adjacencies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Styling (Schwarzkopf got2b)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7" name="Oval 86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Pro Premium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0" name="Oval 89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Future: hair care liquids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44455" y="2816352"/>
            <a:ext cx="79897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44455" y="2990088"/>
            <a:ext cx="11413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3163824"/>
            <a:ext cx="22827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511296"/>
            <a:ext cx="22827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Premium-tier expansion across personal care (Airwrap iD, Airstrait)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Robotics + autonomous platform (vacuum, future categories)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Direct-to-consumer dominance + Dyson Demo stores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Battery technology platform (post-EV programme cancellation)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Asia-Pacific scale-up (now 38% of revenue)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4/yr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60mo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350/yr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856846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856846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665609" y="4882896"/>
            <a:ext cx="1347939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665609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engineering breakthrough-led (motors, fluid dynamics)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5-year+ R&amp;D cycles; launches transformational products that redefine category. Cross-funds R&amp;D from vacuum profits into hair, then re-applies hair tech back to other categories. Premium pricing as moat.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major M&amp;A; growth organic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2019: HQ relocation Singapore (manufacturing &amp; supply chain optimization)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Dyson Investments (private) — battery tech, advanced materials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Dyson Institute of Engineering (university partnership)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Malmesbury UK · Singapore · Philippines · Shanghai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Strict closed innovation; in-house R&amp;D dominance; some uni partnerships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UK + Singapore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30% renov  ·  70% new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038615" y="5413248"/>
            <a:ext cx="80876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(50% prior)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DYSON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19 / 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DEVICE  ·  TYPE C · job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Samsung Electronics — Home Appliances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005930.KS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Bespoke AI ecosystem + AirDresser steam closets reduce wash frequency + freshen between washes. Direct attack on Persil load count and Vernel-adjacent occasions.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C · job substitute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Suwon, South Korea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1969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$200.0B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+3.0%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Korea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361907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779492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501102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 ex-K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41%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Big-box Retail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63411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Direct Stores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Bespoke (Washer+Dryer, Refrigerator)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Connected Appliances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AirDresser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Garment Steam Closet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Galaxy ecosystem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Mobile + Wearable + Smart Home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SmartThings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IoT Platform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(load count)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7" name="Oval 86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Vernel/Refresh (freshness)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0" name="Oval 89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44455" y="2990088"/>
            <a:ext cx="263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3163824"/>
            <a:ext cx="3511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3337560"/>
            <a:ext cx="702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511296"/>
            <a:ext cx="3511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AI-integrated home ecosystem (Bespoke AI suite)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— EcoBubble cold-wash + low-water cycles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 home appliances margin expansion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Connected home platform (SmartThings + Galaxy AI)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B2B home appliance partnerships (homebuilders, hospitality)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18/yr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24mo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8000/yr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530816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530816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platform/ecosystem-led + AI integration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Annual CES platform refresh; bundles appliances into 'connected home' narrative. Each refresh adds AI/IoT features that subtly reduce consumable usage (cold-wash, less water, freshness without rewash).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Harman International ($8B, audio)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Steady tuck-ins in AI/semiconductor companies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Samsung NEXT (start-ups), Samsung Catalyst Fund, Samsung Strategy Fund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Active investments in IoT, smart home, advanced materials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Suwon · Silicon Valley · Bangalore · Tel Aviv · Cambridge UK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Samsung NEXT (CVC ~$1B+); supplier-partnership R&amp;D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Korea, US (CES launches), then EU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(65% prior)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SAMSUNG ELECTRONICS — HOME APPLIANCES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20 / 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DEVICE  ·  TYPE C · job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LG Electronics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066570.KS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Pioneer of garment-care closet (Styler) + ThinQ AI ecosystem + premium washer dryer dominance. Same job-substitute threat as Samsung; arguably stronger styler franchise.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C · job substitute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20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Seoul, South Korea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1958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Korea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671411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53712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 ex-K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007117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Big-box Retail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45655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LG Brand Stores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34241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34241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LG Styler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Garment Steam Closet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LG WashTower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Washer/Dryer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LG ThinQ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Smart Home Platform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LG SIGNATURE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(refresh + frequency)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7" name="Oval 86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Vernel/Lenor competing freshness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0" name="Oval 89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Air Care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44455" y="2990088"/>
            <a:ext cx="380466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44455" y="3163824"/>
            <a:ext cx="475583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044455" y="3337560"/>
            <a:ext cx="665816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44455" y="3511296"/>
            <a:ext cx="380466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Smart Life Solutions strategy — services + content + appliances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B2B expansion (50% of revenue target by 2030)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Styler global expansion (currently Korea-heavy)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Sustainability: refurbishment / appliance-as-service business model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in appliances (ThinQ Up + on-device AI)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14/yr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26mo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7000/yr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premium/feature-led + B2B subscription transformation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Style-as-a-service: subscription appliance models (Korea piloting). Each appliance launch tries to eat 1-2 consumable categories (Styler eats refresh sprays + reduces wash loads).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2018: ZKW Group (auto lighting, $1.4B)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Strategic stakes in EV charging + IoT platforms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LG Technology Ventures ($425M fund)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LG NOVA (North America innovation center, open-call partnerships)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Seoul · Pyeongtaek · San Jose CA · Toronto · Bangalore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LG NOVA — North America innovation centre + open-call program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Korea → US → EU sequence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60% renov  ·  40% new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9038615" y="5413248"/>
            <a:ext cx="1617527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(60% prior)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LG ELECTRONICS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21 / 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DEVICE  ·  TYPE C · job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BSH Hausgeräte (Bosch / Siemens)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European home-appliance leader. Strong dishwasher + laundry footprint. Push into Home Connect + Eco40 cycles directly reduces detergent dose volume.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C · job substitute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24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Munich, 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1967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$16.5B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+2.0%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Western 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15798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Eastern 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185416"/>
            <a:ext cx="207527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157984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35000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377440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377440"/>
            <a:ext cx="207527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350008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542032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569464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569464"/>
            <a:ext cx="415054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542032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734056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3511" y="2761488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3511" y="2761488"/>
            <a:ext cx="103763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0631" y="273405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Big-box / Trade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BSH Direct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598164"/>
            <a:ext cx="2075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 (homebuilders)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23511" y="3792474"/>
            <a:ext cx="31129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78143" y="178308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Bosch (Premium-Mid)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178308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Appliances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178308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220919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Siemens (Premium)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220919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Appliances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220919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78143" y="263530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Neff (Premium)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60877" y="263530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Cooking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69641" y="263530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8143" y="306141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Gaggenau (Luxe)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60877" y="306141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Appliances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69641" y="306141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8143" y="348752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Thermador (NA Luxe)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60877" y="348752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Appliances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69641" y="348752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Auto Dish (dose reduction)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4" name="Oval 93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(Eco cycles)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7" name="Oval 96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888888"/>
                </a:solidFill>
                <a:latin typeface="Calibri"/>
              </a:rPr>
              <a:t>LOW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2816352"/>
            <a:ext cx="933872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2990088"/>
            <a:ext cx="207527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044455" y="3163824"/>
            <a:ext cx="311290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44455" y="3337560"/>
            <a:ext cx="622581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Home Connect open-API platform (incl. Bosch Smart Home)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— repairable appliance design, EU EcoLabel leadership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Eco-cycle leadership (low-water dishwashers, cold-cycle laundry)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Premiumization (Gaggenau growth, design partnerships)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Service &amp; subscription model pilots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10/yr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36mo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800/yr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65%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069992" y="4882896"/>
            <a:ext cx="67396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069992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engineering reliability + sustainability efficacy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Multi-decade reliability ethos; slower cycles. Pushes detergent-saving cycles (Eco40) actively partnered with detergent makers — but the partnership terms shift consumer toward less detergent.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2014: Bosch full ownership (bought out Siemens 50%, €3B)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Joined as JV partner Smart Home with Eve Systems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Bosch Ventures (Robert Bosch Venture Capital, €600M)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Investments in IoT, smart home, sustainable materials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Berlin · Stuttgart · Munich · Nanjing · New Bern NC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Bosch Group ecosystem; partnerships with Würth, ifm, EU consortia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DACH first, then Western Europe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70% renov  ·  30% new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9038615" y="5413248"/>
            <a:ext cx="188711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Regulatory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BSH HAUSGERÄTE (BOSCH / SIEMENS)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22 / 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DEVICE  ·  TYPE C · job substitute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SharkNinja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Fast-cycle innovator dominating mid-tier home appliances. Hair care entry (FlexStyle, SpeedStyle) directly competes with Dyson Airwrap at half the price.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C · job substitute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63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Needham MA,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$5.5B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63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58533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Big-box / Mass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01457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 (Amazon dominant)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/ Brand Sites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25364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126822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Shark (Vacuums + Hair)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Cleaning + Beauty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Ninja (Kitchen)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Small Appliance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Shark FlexStyle / SpeedStyle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Devices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$0.5B+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Styling Premium (Schwarzkopf got2b)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0" name="Oval 79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Pro Tools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44455" y="2990088"/>
            <a:ext cx="402846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4455" y="3163824"/>
            <a:ext cx="134282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44455" y="3337560"/>
            <a:ext cx="738552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44455" y="3511296"/>
            <a:ext cx="134282" cy="82296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Hair tools 2.0 launches (FlexStyle improvements + new formats)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 (Europe + Asia)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Cross-category extension into outdoor, beauty, wellness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Direct-to-consumer growth (Amazon-led but adding DTC)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Speed-of-iteration culture (3 launches per quarter target)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tangle 108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35/yr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14mo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200/yr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speed + value engineering; reverse-innovate from leaders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'Fast-follower premium-democratizer' — observes Dyson/Apple breakthroughs, ships within 12-18 months at 40-50% lower price. Aggressive Amazon dominance + influencer marketing.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SharkNinja itself sold to JS Global (China)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IPO'd as standalone SharkNinja (NYSE)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public CVC; speed-driven internal innovation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Needham MA · Shenzhen · Marlborough MA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Heavy Asian supply-chain partnerships; rapid prototyping in China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(Amazon-first), then UK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45% renov  ·  55% new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038615" y="5413248"/>
            <a:ext cx="121314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SHARKNINJA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23 / 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PLATFORM/RETAILER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Amazon (Retail + Rufus)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AMZN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Dual threat: (1) Private-label growth (Amazon Basics, Solimo, Belei) capturing value-tier; (2) Rufus + agentic commerce restructuring brand discovery. Existential channel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84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Seattle WA,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1994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$638.0B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+10.0%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15.5%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International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423422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276145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Online Stores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3P Seller Services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68483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42802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Advertising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25681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Amazon Basics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Mass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138172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Solimo / Presto / Mama Bear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138172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CPG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138172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493264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Belei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493264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Skin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493264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848356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Rufus AI Shopping Assistant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848356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Agentic Commerce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848356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203448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Whole Foods 365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203448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Premium-Natural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203448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55854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Prime Video / Music / Subscriptions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55854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Bundle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55854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(PL + discovery)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9" name="Oval 88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(PL pressure)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Discovery / brand visibility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2816352"/>
            <a:ext cx="1007117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4455" y="2990088"/>
            <a:ext cx="60427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3163824"/>
            <a:ext cx="268564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044455" y="3511296"/>
            <a:ext cx="671411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Retail-media network growth ($50B+ ad business now)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shopping (Rufus) as default product-discovery layer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Same-day &amp; sub-1hr delivery expansion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Private-label profitability + Amazon Saver / Aware sub-brands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recovery (especially India, Brazil)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100/yr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2200/yr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data-led + customer-obsession Rapid Iteration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PFIDs (Press-Release-Driven Development) + relentless data-led optimization. PL launches based on category profitability gaps. Rufus learns brand preferences and quietly defaults to private label or sponsored product.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iRobot deal terminated (regulatory)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1Life/One Medical ($3.9B)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Steady tuck-ins; growing FTC scrutiny constrains M&amp;A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Alexa Fund ($200M); Climate Pledge Fund ($2B)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AWS Activate / Amazon Industrial Innovation Fund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Seattle · Hyderabad · Bangalore · Cambridge UK · Tel Aviv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Amazon Accelerator (PL incubation), AWS Marketplace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first; rapid global rollout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AMAZON (RETAIL + RUFUS)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24 / 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PLATFORM/RETAILER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Walmart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WMT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Vertical manufacturing strategy (per PRISM trend competitive_r13) + Great Value + Marketside PL squeeze. Walmart Connect retail-media extracts margin from brands.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Bentonville AR,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1962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(FY25 (Jan-end))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$681.0B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International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9775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Sam's Club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21504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Stores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68624"/>
            <a:ext cx="178773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(Ads + Member)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27704"/>
            <a:ext cx="55007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Great Value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Grocery + HBA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$25B+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138172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Marketside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138172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Premium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138172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$5B+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2493264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Equate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2493264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Health/Beauty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2493264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$5B+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8143" y="2848356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Bettergoods (2024 launch)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0877" y="2848356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Premium-Food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9641" y="2848356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8143" y="3203448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Walmart Connect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3203448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Retail Media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3203448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78143" y="3558540"/>
            <a:ext cx="148273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Sam's Club Member's Mark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60877" y="3558540"/>
            <a:ext cx="808763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Club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69641" y="3558540"/>
            <a:ext cx="404381" cy="355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US Mid-tier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5" name="Oval 84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US Mass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8" name="Oval 87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 US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1" name="Oval 90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All categories: retail-media tax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44455" y="2816352"/>
            <a:ext cx="939976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4455" y="3163824"/>
            <a:ext cx="402846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3337560"/>
            <a:ext cx="107425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3511296"/>
            <a:ext cx="53712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Vertical manufacturing in apparel and consumables (per PRISM trend)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Walmart Connect — $4B+ retail-media business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E-com profitability + Walmart+ subscription growth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Bettergoods — premium PL line as margin engine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Automation in stores + supply chain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60/yr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9mo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350/yr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665610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665610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price-led + supply-chain innovation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Category-by-category PL squeeze: identifies branded GP1 pool &gt;20%, develops vertical-or-near-vertical PL clone within 18 months at -25 to -30% price. Uses retail media to amplify PL while taxing branded SKUs.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Vizio ($2.3B, advertising tech for Walmart Connect)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Tiger Global TikTok deal (failed regulatory)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2018: Flipkart majority ($16B)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Store No 8 (incubator), Walmart Ventures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Investments in delivery, robotics, AR/VR shopping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Bentonville · Sunnyvale CA (Walmart Labs) · Bangalore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Walmart Sparkbrand Tech Accelerator; Store No 8 (innovation lab)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Texas, Bentonville HQ stores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Price war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WALMART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25 / 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RETAILER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Aldi (Süd + Nord)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European hard-discounter with 90%+ private-label SKU mix. Sustained pressure on branded volumes in DACH, UK, ANZ. Now scaling in US via Aldi Süd + Trader Joe's.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Mülheim, 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1946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$130.0B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+8.0%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Germany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978342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157984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185416"/>
            <a:ext cx="1141399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157984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350008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UK &amp; Ireland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377440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377440"/>
            <a:ext cx="423948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350008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542032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569464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569464"/>
            <a:ext cx="587005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542032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734056"/>
            <a:ext cx="10058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Australia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3511" y="2761488"/>
            <a:ext cx="1141399" cy="10058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23511" y="2761488"/>
            <a:ext cx="130445" cy="10058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10631" y="2734056"/>
            <a:ext cx="50292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Discount Stores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Aldi PL — multiple sub-brands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Grocery + HBA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Trader Joe's (Aldi Nord)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PL US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$22B+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Specially Selected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PL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Mamia / Beautiful / Lacura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HBA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EU Mass/Discount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9" name="Oval 78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EU Mass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2" name="Oval 81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5" name="Oval 84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2816352"/>
            <a:ext cx="841031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3163824"/>
            <a:ext cx="30036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3337560"/>
            <a:ext cx="66081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511296"/>
            <a:ext cx="240294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US store expansion (target: 800+ new by 2028)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Premium PL tier (Specially Selected) as gateway up-trade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claims on PL (recycled packaging, no palm oil)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Click-and-collect rollout (limited)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Trader Joe's continued US growth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40/yr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0/yr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17671" y="4882896"/>
            <a:ext cx="2291497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882896"/>
            <a:ext cx="229149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09168" y="4882896"/>
            <a:ext cx="26958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09168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rapid copycat + cost-leader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ALDI-Test approach: reads top-selling branded SKUs in any category, sources near-clone within 6 months from contract manufacturers, places at -30 to -40%. Limited assortment (~1,500 SKUs vs Walmart 100,000).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Acquired ~400 Winn-Dixie / Harvey's stores (US, $400M)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Steady real-estate driven expansion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Effectively none — execution-focused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Mülheim (HQ) · regional category teams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PL co-manufacturing partnerships (incl. some Henkel co-pack arrangements historically)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Germany, UK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30% renov  ·  70% new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038615" y="5413248"/>
            <a:ext cx="80876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Price war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(95% prior)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ALDI (SÜD + NORD)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26 / 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RETAILER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Costco (Kirkland Signature)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Membership-warehouse model with Kirkland Signature PL = ~$80B+ standalone equivalent. Premium-tier PL squeezes branded margins; powerful customer loyalty (90%+ renewal).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Issaquah WA,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$254.0B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+10.0%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0051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Int'l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20051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Warehouse Stores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68624"/>
            <a:ext cx="86845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27704"/>
            <a:ext cx="12406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Kirkland Signature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PL across all categories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$80B+ (est)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Mid+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0" name="Oval 69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Body/Hair Care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3" name="Oval 72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2990088"/>
            <a:ext cx="1037636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3163824"/>
            <a:ext cx="103763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337560"/>
            <a:ext cx="622581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3511296"/>
            <a:ext cx="311290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Membership growth (130M+ members; 90%+ renewal)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Kirkland PL share gain (already 33% of revenue)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store expansion (China, Japan focus)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E-com modernization (slowest among peers)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Treasure-hunt assortment differentiation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25/yr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12mo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0/yr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317671" y="4882896"/>
            <a:ext cx="1617527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17671" y="4882896"/>
            <a:ext cx="161752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935198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935198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premium-PL + scale-driven cost-out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Kirkland is positioned as 'as-good-or-better than national brand at lower price' — investments in QC/specs are higher than typical PL. Strong word-of-mouth differentiation.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M&amp;A; organic growth focus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2020: Innovel Solutions (logistics, $1B)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Effectively none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Issaquah HQ category teams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Co-manufacturing partnerships (some with branded manufacturers themselves)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Pacific Northwest stores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COSTCO (KIRKLAND SIGNATURE)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27 / 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PLATFORM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ByteDance / TikTok 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Per PRISM trend customer_r10. Live-commerce platform bypassing traditional retail. TikTok Shop GMV $33B+ globally (2024); Douyin $500B GMV. Disintermediates Henkel-retailer relationship.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80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Beijing, China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(FY23 (private))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$110.0B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US/UK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760933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45655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77551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Advertising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Live Commerce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68624"/>
            <a:ext cx="726345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27704"/>
            <a:ext cx="207527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TikTok / Douyin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Short-form Video + Commerce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TikTok Shop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Live Commerce + Marketplace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$33B+ GMV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CapCut / Lemon8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Adjacencies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Doubao (AI assistant)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Generative AI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Oval 79"/>
          <p:cNvSpPr/>
          <p:nvPr/>
        </p:nvSpPr>
        <p:spPr>
          <a:xfrm>
            <a:off x="9038615" y="183451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21495" y="178308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(esp. mass)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02975" y="178308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3" name="Oval 82"/>
          <p:cNvSpPr/>
          <p:nvPr/>
        </p:nvSpPr>
        <p:spPr>
          <a:xfrm>
            <a:off x="9038615" y="202882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21495" y="197739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02975" y="197739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6" name="Oval 85"/>
          <p:cNvSpPr/>
          <p:nvPr/>
        </p:nvSpPr>
        <p:spPr>
          <a:xfrm>
            <a:off x="9038615" y="2223135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1495" y="217170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Discovery / brand visibility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217170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9" name="Oval 88"/>
          <p:cNvSpPr/>
          <p:nvPr/>
        </p:nvSpPr>
        <p:spPr>
          <a:xfrm>
            <a:off x="9038615" y="2417445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2366010"/>
            <a:ext cx="1781479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Color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2366010"/>
            <a:ext cx="731520" cy="194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2816352"/>
            <a:ext cx="10779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2990088"/>
            <a:ext cx="380466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3163824"/>
            <a:ext cx="190233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044455" y="3511296"/>
            <a:ext cx="10779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TikTok Shop scaling globally (despite US regulatory pressure)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Live commerce operations + creator economy investment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integration (Doubao + Cici) in shopping flow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SEA market dominance (already #1 in TH, ID, VN)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US/EU regulatory navigation + brand-safety improvements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50/yr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4mo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1500/yr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126434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126434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204785" y="4882896"/>
            <a:ext cx="80876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204785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algorithm-led + creator-economy-led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Algorithm-driven discovery + live-commerce funnel collapses awareness → consideration → purchase to &lt;60 seconds. Brands that succeed adapt content velocity; brands that don't lose discoverability entirely.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Multiple cancellations under US regulatory pressure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2021: Limited acquisitions, mostly internal builds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ByteDance Ventures (limited public footprint)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Active partnerships with creators + influencer agencies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Beijing · Shanghai · Mountain View CA · Singapore · London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Open creator ecosystem; brand collaborations; some VC arm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China (Douyin first), then SEA, then US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(90% prior)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BYTEDANCE / TIKTOK SHOP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28 /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PLATFORM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Alibaba Group (Tmall + Taobao)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BABA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Dominant China e-commerce platform; Tmall Global is the primary entry-point for premium beauty into China. Sets pricing/promotional rhythms for Schwarzkopf &amp; Persil in China.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Hangzhou, China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$138.0B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International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201423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Taobao + Tmall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03854"/>
            <a:ext cx="28534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International (Lazada, Aliexpress)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28534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Cainiao Logistics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92474"/>
            <a:ext cx="28534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Tmall (B2C)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China premium online channel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20919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Taobao (C2C)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20919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Mass marketplace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20919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263530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Tmall Global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263530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Cross-border imports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263530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8143" y="306141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Lazada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0877" y="306141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SEA marketplace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9641" y="306141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8143" y="348752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AliExpress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348752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Global cross-border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348752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China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2" name="Oval 81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Beauty China entry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5" name="Oval 84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Body Care China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2816352"/>
            <a:ext cx="927387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2990088"/>
            <a:ext cx="642037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3163824"/>
            <a:ext cx="28534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511296"/>
            <a:ext cx="998724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Re-acceleration after regulatory reset (2021-23)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integration (Tongyi Qianwen, Quark) in shopping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e-com (Lazada, Aliexpress) as growth engine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Cloud business profitability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Live commerce defending vs. Douyin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30/yr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1800/yr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530816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530816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ecosystem + AI-led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Festival-driven commerce (618, Double 11) shapes brand promotional calendars. Tmall's data-share with brands creates dependency. Live-commerce monetization re-accelerating post-Douyin pressure.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Heavy divestitures post-2021 regulatory reset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Sun Art (Hi-Mart) sale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Refocusing on core e-com + cloud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Alibaba Capital Partners (large historical CVC)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DAMO Academy ($15B research budget over 3 years)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Hangzhou · Beijing · Singapore · Bay Area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Alibaba DAMO Academy (research), AliExpress Global creator program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China, then SEA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(80% prior)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ALIBABA GROUP (TMALL + TAOBAO)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29 / 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DTC/PRO-MASS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Olaplex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OLPX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Invented and owns 'bond repair' mental availability. Pro→mass crossover; sales recovery underway after 2022-23 trough. Direct threat to Gliss / Schwarzkopf Pro repair credentials.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Santa Barbara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$420M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1000F"/>
                </a:solidFill>
                <a:latin typeface="Calibri"/>
              </a:rPr>
              <a:t>-20.0%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8534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58527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Specialty (Sephora, Ulta)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Pro Salon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76093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 / DTC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Retail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25364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Olaplex No.0–11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Bond Repair Hair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$0.42B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Repair / Treatment (Gliss)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4" name="Oval 73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 (BC Bonacure)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7" name="Oval 76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Mass Hair Premium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2990088"/>
            <a:ext cx="5267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163824"/>
            <a:ext cx="7901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3337560"/>
            <a:ext cx="9657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3511296"/>
            <a:ext cx="702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Brand turnaround (new CEO Amanda Baldwin, 2023)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Innovation pipeline broadening (No.10/No.11 launches)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 salon channel re-engagement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growth (Europe, Asia)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Litigation resolution (consumer suits regarding hair damage)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4/yr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18mo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8/yr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396022" y="4882896"/>
            <a:ext cx="1213145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96022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pro-credentialed claim-led + patent-protected molecule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Hero-molecule (bis-aminopropyl diglycol dimaleate) defended by 100+ patents. System-selling — 11 numbered SKUs locked together. Pro→mass funnel via stylist endorsement.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2020: Acquired by Advent International ($1.4B)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2021: IPO (NYSE)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CVC; Advent + private equity history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Santa Barbara CA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In-house chemistry; defensive patent portfolio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salons, Sephora exclusives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(65% prior)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OLAPLEX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30 / 56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DTC/PRO-MASS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K18 (Unilever)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Bioactive peptide-based hair-bond rival to Olaplex. Acquired by Unilever 2024 (~$1.5B). Now scaling globally with Unilever distribution machine. Threat is doubling.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Los Angeles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+65.0%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3511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263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Pro Salon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Specialty (Sephora)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68483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34241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11413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K18 Leave-In Mask + Peptide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Bond Repair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$0.2B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Repair (Gliss)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4" name="Oval 73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 Bond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7" name="Oval 76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Treatment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2990088"/>
            <a:ext cx="28534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163824"/>
            <a:ext cx="14267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3337560"/>
            <a:ext cx="99872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3511296"/>
            <a:ext cx="28534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Global expansion under Unilever Prestige umbrella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Channel breadth (mass entry possible)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narrative (biotech ingredient)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Adjacency: scalp + scalp-bond products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5/yr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14mo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12/yr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biotech-credentialed + influencer-amplified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Bioscience storytelling (AI-discovered peptide) + influencer-led hair-tutorial content. 4-minute miracle claim. Now under Unilever's prestige beauty engine for 5x scale by 2027.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Acquired by Unilever (~$1.5B)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Pre-acquisition: Series A from L'Oréal-adjacent VCs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 + Unilever Prestige R&amp;D access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AI-discovered peptide (proprietary tech); Unilever post-acquisition R&amp;D access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salons, then Sephora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45% renov  ·  55% new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038615" y="5413248"/>
            <a:ext cx="121314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(80% prior)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K18 (UNILEVER)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31 / 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Function of Beauty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Mass-personalization haircare DTC. ~$200M+ revenue with omni-channel push (Target launch 2021). Fragmenting hair-care value into individual formulations.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42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 NY,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UK + Aus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134282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67141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(Functionofbeauty.com)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Target (mass)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68624"/>
            <a:ext cx="622581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Sephora + others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27704"/>
            <a:ext cx="311290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Function of Beauty (DTC custom)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Personalised Hair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Function of Beauty Pro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Salon Customization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Function of Beauty Skin (2022)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Personalised Skin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Premium Mass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6" name="Oval 75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Premium Pro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9" name="Oval 78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Personalisation as category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044455" y="2990088"/>
            <a:ext cx="726345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44455" y="3163824"/>
            <a:ext cx="1037636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44455" y="3337560"/>
            <a:ext cx="1037636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3511296"/>
            <a:ext cx="207527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Profitability path (post-Target deceleration in 2023)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rollout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AI-driven recommendation algorithm refinement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Adjacency push (skincare, body)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Pro salon program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8/yr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12mo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6/yr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technology + algorithmic personalization-led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Quiz → algorithm → custom formula → bottle with name. Owns 'individual formula' mental position. Target launch normalized mass-personalization but cratered DTC margins.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2018: GV (Google Ventures) led $20M+ rounds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GV, Bessemer, Bain Capital Ventures, Gwyneth Paltrow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Total raised: ~$170M+ pre-2024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Long Island City NY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Algorithm + co-manufacturing partnerships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DTC, then Target retail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FUNCTION OF BEAUTY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32 /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Prose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Premium-tier custom haircare DTC. Higher AOV than Function of Beauty; clean-beauty positioning. Owns ~50 ingredients × ~80M permutations narrative.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 NY,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$150M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+20.0%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142674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 + Aus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42674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2971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2971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(limited)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2971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60073" cy="2971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Prose Haircare (custom)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DTC Personalised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$0.15B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3" y="2848356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Prose Skin (2023)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0877" y="2848356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Personalised Skin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9641" y="2848356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Premium DTC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69" name="Oval 68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 Premium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44455" y="2816352"/>
            <a:ext cx="1037636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44455" y="2990088"/>
            <a:ext cx="41505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3337560"/>
            <a:ext cx="830108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511296"/>
            <a:ext cx="311290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Clean Beauty + sustainability narrative reinforcement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 (EU launched 2022)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Skin extension scale-up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Subscription retention improvement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6/yr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12mo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4/yr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17671" y="4882896"/>
            <a:ext cx="943557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17671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261228" y="4882896"/>
            <a:ext cx="1213145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261228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ingredient-led + clean-beauty positioning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Premium analog to Function — higher-end positioning, environmental focus, French co-founder (Arnaud Plas) French-beauty cachet. ~$48 starting bottle vs Function ~$15.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M&amp;A; remains independent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Felix Capital, Forerunner, Bain Capital Ventures, GV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Total raised: ~$100M+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NYC + Mexico City production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Ingredient-supplier partnerships; in-house formulation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DTC only initially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45% renov  ·  55% new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038615" y="5413248"/>
            <a:ext cx="121314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M&amp;A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PROSE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33 /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DTC/WELLNESS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Nutrafol (Unilever)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DTC hair-loss supplement now Unilever subsidiary. Beauty-as-medicine vector — drug-derm-channel hair growth claims. Threatens 'thinning hair' jobs across Schwarzkopf range.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 NY,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$400M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 + UK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99252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(Subscription)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Derm/MD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Sephora + Specialty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92474"/>
            <a:ext cx="10376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Nutrafol Men + Women + Postpartum + Menopause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Wellness Supplements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848356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Nutrafol Stress Adaptogen + Hairbiotic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848356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Adjacency Stack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848356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Loss / Thinning (white-spot for Henkel)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3" name="Oval 72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Density / Volume claims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2990088"/>
            <a:ext cx="32611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3163824"/>
            <a:ext cx="163057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337560"/>
            <a:ext cx="978342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3511296"/>
            <a:ext cx="733756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Unilever channel expansion (mass entry possible)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Clinical trial publication acceleration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Categories adjacent (skin from within, gut)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6/yr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18mo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8/yr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17671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530816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30816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clinical + nutraceutical-credentialed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Clinical-trial credentialing + dermatologist endorsement → DTC subscription-driven retention. Each life-stage subset (postpartum, menopause) is a separately formulated SKU = high price point + perceived authority.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Unilever majority stake; 2024: full acquisition rumoured (now subsidiary)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Pre-Unilever: Tengram Capital + L Catterton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NYC; Unilever Wellness collab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Trichology research partnerships; Unilever Health post-acquisition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derm offices, then DTC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(70% prior)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NUTRAFOL (UNILEVER)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34 / 56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DTC/WELLNESS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Hims &amp; Hers Health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HIMS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Tele-pharma DTC; hair-loss is one of multiple verticals (mental health, sexual, weight). Combines Rx (finasteride) + supplements + grooming. High brand-equity + 2.0M+ subscribers.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San Francisco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+65.0%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9235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8686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9235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Subscription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78143" y="1783080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Hims (Men)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0877" y="1783080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Hair Loss / Sexual / MH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9641" y="1783080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8143" y="2315718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Hers (Women)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60877" y="2315718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Skincare / Mental / Weight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9641" y="2315718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8143" y="2848356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MedMatch Personalisation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0877" y="2848356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Custom Rx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9641" y="2848356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8143" y="3380994"/>
            <a:ext cx="148273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Weight loss (GLP-1 compounding)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60877" y="3380994"/>
            <a:ext cx="808763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Adjacent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69641" y="3380994"/>
            <a:ext cx="404381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Loss Male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63" name="Oval 62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Male Grooming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6" name="Oval 65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Skincare DTC adjacency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44455" y="2990088"/>
            <a:ext cx="201423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455" y="3163824"/>
            <a:ext cx="402846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4455" y="3337560"/>
            <a:ext cx="738552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GLP-1 weight-loss expansion (off-label compounded versions)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Mental health vertical scaling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Personalized Rx products (custom formulations)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B2B / employer-channel push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 (UK launched)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8/yr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9mo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4/yr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26434" y="4882896"/>
            <a:ext cx="1213145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26434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39579" y="4882896"/>
            <a:ext cx="673969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39579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Rx-anchored claim + subscription-funnel led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Rx-as-acquisition: hair-loss visit → cross-sell skincare, supplements, weight loss. Combines telemedicine convenience with consumer brand. Re-defines 'haircare' as part of male wellness stack.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Acquired Trybe Labs (compounding facility)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PlushCare partnership scaled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Pre-IPO: A16z, Forerunner, Founders Fund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Post-IPO: limited CVC; partnerships with compounding pharma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SF + Trybe Labs Ohio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Tele-pharma backbone; partnerships with compounding pharmacies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(FTC scrutiny ongoing for compounding)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HIMS &amp; HERS HEALTH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35 / 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PRO-PREMIUM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Living Proof (Unilever)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MIT-derived science-led premium haircare. Slower growth post-Unilever but strong professional credentials. Threatens Schwarzkopf Pro positioning.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Cambridge MA,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 + UK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2827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5218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Sephora + Specialty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Pro Salon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03854"/>
            <a:ext cx="760933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59816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92474"/>
            <a:ext cx="25364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Living Proof (full hair range)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Premium Hair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$0.2B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Schwarzkopf Pro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4" name="Oval 73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Premium Hair Pro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4455" y="2990088"/>
            <a:ext cx="28534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44455" y="3163824"/>
            <a:ext cx="142674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44455" y="3511296"/>
            <a:ext cx="28534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Innovation cadence ramp post-Unilever investment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 (slow vs. peers)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Sephora + Sephora-equivalent international expansion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rebrand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5/yr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22mo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14/yr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65610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65610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743961" y="4882896"/>
            <a:ext cx="26958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polymer-science-led (PolyfluoroEster, Healthy Hair Molecule)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Patented polymer hero molecules with technical narratives (Frizz No More, Volume + Texture). MIT-credentialing as moat. But cadence has slowed under Unilever ownership.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Acquired by Unilever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Pre-Unilever: Polaris Partners + L Catterton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Cambridge MA + Unilever Trumbull access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MIT scientific founder roots; Unilever R&amp;D access post-2017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Sephora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(40% prior)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LIVING PROOF (UNILEVER)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36 / 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2  ·  PRO-PREMIUM/DTC  ·  TYPE E · adjacency invader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Mielle Organics (P&amp;G)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P&amp;G-acquired textured-hair specialist. Owns the 'natural hair' segment + emerging multicultural premium pool. Now P&amp;G channel-scale = high HCB threat in textured-hair white-space.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E · adjacency invader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50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Atlanta GA,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$300M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 + UK + Caribbean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201423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 (Walmart, Target)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Specialty (Ulta)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03854"/>
            <a:ext cx="634110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Pro Salon Black-owned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+ 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92474"/>
            <a:ext cx="380466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Mielle (multiple sub-lines)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Textured/Natural Hair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$0.3B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Pomegranate &amp; Honey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Hero Range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Rosemary Mint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Hero Range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Textured Hair (white-spot)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6" name="Oval 75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Hair Care Premium Mass 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44455" y="2990088"/>
            <a:ext cx="304373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44455" y="3163824"/>
            <a:ext cx="76093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4455" y="3337560"/>
            <a:ext cx="989213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65%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044455" y="3511296"/>
            <a:ext cx="228279" cy="82296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P&amp;G integration + global expansion (UK, Brazil, Africa)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Channel breadth into new geographies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Innovation cadence increase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Multicultural insight leadership defense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12/yr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14mo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6/yr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65610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665610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ingredient + community-credential led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Founder Monique Rodriguez (community-influencer origin); Pomegranate &amp; Honey built via TikTok virality. Now leveraging P&amp;G channel scale + global footprint.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Acquired by P&amp;G (~$300M est)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Pre-P&amp;G: Berkshire Partners minority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Atlanta + P&amp;G Mason OH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P&amp;G post-acquisition R&amp;D access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(community influencer-led launches)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(75% prior)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2  ·  MIELLE ORGANICS (P&amp;G)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37 / 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240">
                <a:solidFill>
                  <a:srgbClr val="E1000F"/>
                </a:solidFill>
                <a:latin typeface="Calibri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Tier 3  · 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Format disruptors, upstream players, AI/agentic platforms (Types B,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140">
                <a:solidFill>
                  <a:srgbClr val="888888"/>
                </a:solidFill>
                <a:latin typeface="Calibri"/>
              </a:rPr>
              <a:t>Refill / sheets  ·  Ingredient houses  ·  Biotech  ·  AI platforms  ·  12 archetypes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40080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140">
                <a:solidFill>
                  <a:srgbClr val="888888"/>
                </a:solidFill>
                <a:latin typeface="Calibri"/>
              </a:rPr>
              <a:t>PAGE 38 / 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DTC/FORMAT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Tru Earth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Laundry-strip pioneer. ~$50M+ revenue. Owns '0% plastic, 1B loads saved' narrative. Format-shift threat to Persil liquid pool.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Vancouver BC, Canada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$60M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22827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APAC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15218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Amazon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68624"/>
            <a:ext cx="622581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Retail (Walmart, Costco)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27704"/>
            <a:ext cx="311290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Tru Earth Eco-Strips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Laundry/Multi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$60M+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Sustainability-led segment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0" name="Oval 69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Persil Refill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44455" y="2816352"/>
            <a:ext cx="91311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455" y="2990088"/>
            <a:ext cx="68483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4455" y="3163824"/>
            <a:ext cx="68483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044455" y="3511296"/>
            <a:ext cx="45655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Retail expansion (mass and club channels)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Adjacency push (dish strips, multi-purpose)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storytelling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4/yr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12mo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1/yr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format-led + sustainability narrative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Format-revolution narrative — strip-as-better-than-pod. Dependency on sustainability narrative; vulnerable to performance counter-claims.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significant M&amp;A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Privately held; limited funding history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Vancouver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Co-manufacturing partnerships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Canada DTC, then US Amazon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(50% prior)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TRU EARTH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39 / 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DTC/FORMAT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Earth Breeze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Laundry-sheet competitor to Tru Earth. Aggressive subscribe-and-save funnel + 'WE GIVE 10 LOADS' donation narrative. Pure DTC growth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28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Ashland OR,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$100M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+80.0%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 + UK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201423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 Subscribe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Amazon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68624"/>
            <a:ext cx="407642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727704"/>
            <a:ext cx="81528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Earth Breeze Eco Sheets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Laundry/Adjacent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$100M+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Laundry Sustainability segment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66" name="Oval 65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DTC laundry channel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4455" y="2816352"/>
            <a:ext cx="1037636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44455" y="2990088"/>
            <a:ext cx="1037636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455" y="3163824"/>
            <a:ext cx="41505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44455" y="3511296"/>
            <a:ext cx="311290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Retail expansion (initial Target placement 2024)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Adjacency: dish, dryer sheets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Subscription retention (~25-30% churn challenge)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5/yr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10mo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0/yr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17671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26434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purpose-led DTC; rapid iteration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Donation-led marketing (matching loads donated). Aggressive Facebook/Meta ad spend. Vulnerable to organic growth slowdown.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M&amp;A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Bootstrapped; limited VC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Ashland OR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Co-pack partnerships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DTC + Amazon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EARTH BREEZE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40 / 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DTC/FORMAT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Blueland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Refill-tablet pioneer (Shark Tank cult). Multi-category (cleaning, soap, dish). Premium positioning; threatens Henkel home-care + dish refill propositions.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26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New York NY,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$80M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446020"/>
            <a:ext cx="100584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Canada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473452"/>
            <a:ext cx="1141399" cy="3886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473452"/>
            <a:ext cx="99252" cy="3886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446020"/>
            <a:ext cx="502920" cy="4434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DTC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 (Target)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468624"/>
            <a:ext cx="622581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727704"/>
            <a:ext cx="311290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Blueland (multi-category tablets)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Home Care + Soap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$80M+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6" name="Oval 65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Dish Care DTC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044455" y="2816352"/>
            <a:ext cx="1037636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44455" y="2990088"/>
            <a:ext cx="41505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044455" y="3163824"/>
            <a:ext cx="933872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044455" y="3511296"/>
            <a:ext cx="311290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Mass retail expansion (Target, Whole Foods)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International expansion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Format extension into laundry strips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6/yr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14mo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3/yr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17671" y="4882896"/>
            <a:ext cx="943557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317671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61228" y="4882896"/>
            <a:ext cx="1213145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61228" y="4882896"/>
            <a:ext cx="121314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format + sustainability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Founder Sarah Paiji Yoo built clean-beauty playbook into home care. 'Just add water' narrative. Strong PR moat (Shark Tank, RBG Foundation board).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No M&amp;A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Series A from Maveron, Mark Cuban (Shark Tank)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NYC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Independent + co-pack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DTC, Target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40% renov  ·  60% new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038615" y="5413248"/>
            <a:ext cx="1078351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Channel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BLUELAND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41 / 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FMCG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S.C. Johnson (Method/Mrs Meyer's)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Family-owned $14B home-care + air-care. Owns Method (eco-premium) and Mrs Meyer's (botanical). Direct rivals to Henkel air-care + sustainability-positioned home brands.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48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Racine WI,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1886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$14.5B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+2.5%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18%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41505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37354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4526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Mass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E-com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68624"/>
            <a:ext cx="37354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Drug + 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27704"/>
            <a:ext cx="560323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Glade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Air Care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087444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Raid / Off!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087444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Pest Control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087444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$2B+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391809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Windex / Pledge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391809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Surface Care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391809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$1.5B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2696173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Ziploc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2696173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Storage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2696173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$1B+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000538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Method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000538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Eco-Premium Home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000538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8143" y="3304902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Mrs Meyer's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0877" y="3304902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Botanical Home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69641" y="3304902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$0.4B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78143" y="3609267"/>
            <a:ext cx="148273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Babyganics / Ecover (some markets)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60877" y="3609267"/>
            <a:ext cx="808763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Sustainability Tier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69641" y="3609267"/>
            <a:ext cx="404381" cy="3043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Air Care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2" name="Oval 91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Surface Care Eco-Premium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5" name="Oval 94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Pest Control (white-space)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044455" y="2990088"/>
            <a:ext cx="622581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44455" y="3163824"/>
            <a:ext cx="41505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044455" y="3337560"/>
            <a:ext cx="830108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044455" y="3511296"/>
            <a:ext cx="622581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+ 'Family Company' brand purpose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Method and Mrs Meyer's premium scale-up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Pest control growth (climate change tailwind)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Africa &amp; SEA expansion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18/yr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22mo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200/yr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317671" y="4882896"/>
            <a:ext cx="175232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65%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069992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69992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878755" y="4882896"/>
            <a:ext cx="134793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purpose-led + sustainability messaging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Slow but steady; family-owned long-term horizon. Method/Mrs Meyer's bolt-ons gave them eco-credibility moat. Innovation cadence below P&amp;G/Unilever.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2017: Method + Mrs Meyer's via Ecover ($600M est)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external M&amp;A; family-owned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Effectively none — family-owned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Racine WI; small global labs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Family-owned culture; limited external partnerships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Midwest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70% renov  ·  30% new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038615" y="5413248"/>
            <a:ext cx="1887115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S.C. JOHNSON (METHOD/MRS MEYER'S)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42 / 56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UPSTREAM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BASF (Care Chemicals)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BAS.DE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World's largest chemical company. Care Chemicals division supplies surfactants, conditioning polymers, hair-care actives. Could integrate forward via brand JV; biotech route currently main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40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30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Ludwigshafen, 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1865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$70.0B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1000F"/>
                </a:solidFill>
                <a:latin typeface="Calibri"/>
              </a:rPr>
              <a:t>-2.0%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13%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67940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733756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South America/Africa/Mid-East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63057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Care Chemicals (surfactants, polymers)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 Beauty + Home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€7B+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Nutrition &amp;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Materials / Chemicals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Surfactant supply (cost + IP)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2" name="Oval 71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Conditioning polymers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5" name="Oval 74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Forward-integration 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044455" y="2816352"/>
            <a:ext cx="622581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044455" y="2990088"/>
            <a:ext cx="518818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044455" y="3163824"/>
            <a:ext cx="518818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044455" y="3337560"/>
            <a:ext cx="207527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Verbund integration + restructuring (China + Europe)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Bio-based / sustainable surfactants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Personalization-enabling polymers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Decarbonization pathway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30/yr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36mo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1100/yr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17671" y="4882896"/>
            <a:ext cx="148273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55%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800404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molecule + process science; long horizon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Decade-long ingredient development cycles. Provides core to brand competitors. Forward-integration possible but unlikely culturally; bio-based ingredient supply is the leverage point.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Argentinian polyurethane + Wintershall Dea separation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Strategic divestitures ongoing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BASF Venture Capital ($350M+ AUM)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Investments in biotech, AgTech, materials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Ludwigshafen · Shanghai · Mumbai · Florham Park NJ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BASF Venture Capital + university R&amp;D + biotech partnerships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B2B technical labs, then customer trial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Regulatory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(55% prior)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BASF (CARE CHEMICALS)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43 / 56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UPSTREAM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DSM-Firmenich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DSFIR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Merged in 2023; world #2 fragrance + flavor + nutrition + biotech. Owns ingredient pipeline that defines next-gen Henkel formulas. Forward-integration unlikely; supply cost is the lever.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28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Heerlen NL / Geneva 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$13.5B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+4.0%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Americas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91311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APAC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79897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 (perfumery, flavor, ingredients)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Firmenich Perfumery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Fine + Functional Fragrance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DSM Nutrition + Health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Vitamins, biotech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Taste &amp; Beyond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Flavor B2B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Fragrance ingredient supply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68" name="Oval 67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Functional ingredient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044455" y="2816352"/>
            <a:ext cx="85604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44455" y="2990088"/>
            <a:ext cx="71337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44455" y="3337560"/>
            <a:ext cx="28534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Merger synergies execution ($350M target)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Bioscience + biotech ingredient leadership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/ carbon-footprint ingredient pipeline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Animal nutrition divestiture (announced 2024)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50/yr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24mo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600/yr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biotech + sensory science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Sensory science + biotech production routes (e.g., Clearwood replacing patchouli oil). Long ingredient-discovery cycles balanced by aggressive biotech bolt-ons.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Firmenich-DSM merger (€38B EV combined)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Amyris consumer-business divest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DSM Venturing ($200M+); Firmenich Ventures legacy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Geneva · Heerlen NL · Shanghai · NJ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Open Innovation Hubs; multiple biotech partnerships (Amyris)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B2B sensory panels in Geneva, NJ, Singapore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M&amp;A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(40% prior)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DSM-FIRMENICH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44 / 56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UPSTREAM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Givaudan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GIVN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World #1 fragrance + flavor. Critical supplier to all FMCG; owns rare oil sources. Forward-integration via Active Beauty division (acquired Indena, Soliance, Naturex).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32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26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Vernier, Switzerland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1895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$7.7B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E89B00"/>
                </a:solidFill>
                <a:latin typeface="Calibri"/>
              </a:rPr>
              <a:t>+2.5%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8.5%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Europe/Africa/M-East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978342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815285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32611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 fragrance + flavor + active beauty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Givaudan Fragrance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Fine + Functional Frag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3" y="2493264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Givaudan Active Beauty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0877" y="2493264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Cosmetic Actives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9641" y="2493264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3203448"/>
            <a:ext cx="148273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Givaudan Taste &amp; Wellbeing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60877" y="3203448"/>
            <a:ext cx="808763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Flavors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69641" y="3203448"/>
            <a:ext cx="404381" cy="710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Fragrance ingredient supply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72" name="Oval 71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Cosmetic active ingredients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44455" y="2816352"/>
            <a:ext cx="760933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44455" y="2990088"/>
            <a:ext cx="25364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44455" y="3337560"/>
            <a:ext cx="25364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4455" y="3511296"/>
            <a:ext cx="760933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Active Beauty acquisitions/scaling (skin-derm)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Biotech ingredient pipeline (Custos)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— Sourcing 4 Good initiative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AI-driven scent design (Carto, MyMicrofor)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40/yr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22mo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250/yr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396022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96022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39579" y="4882896"/>
            <a:ext cx="673969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339579" y="4882896"/>
            <a:ext cx="67396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olfactive science + AI-augmented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AI-led scent design (Carto platform) + biotech-derived molecules. High-margin business protecting moat through ingredient IP. Active Beauty as future growth engine.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Vollment (Brazilian flavor)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B Kolormakeup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Custos (skin biotech), Indena partnership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Givaudan Innovation Center; minority biotech stakes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Vernier CH · NJ · Singapore · Shanghai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Givaudan Innovation; partnerships with biotech (Manus Bio, Allylix)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B2B sensory + global consumer panels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M&amp;A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(45% prior)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GIVAUDAN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45 / 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UPSTREAM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Symrise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SY1.DE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World #4 fragrance + flavor. Stronger ties to German FMCG (incl. Henkel). Growing Cosmetic Ingredients segment. Mid-size aggressive acquirer.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28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24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Holzminden, 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$5.1B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6.0%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North America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978342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815285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Latam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32611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6858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Scent &amp; Care (Fragrance + Cosmetic Ingredients)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€2B+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3" y="2848356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Taste, Nutrition &amp; Health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0877" y="2848356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9641" y="2848356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038615" y="193167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178308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Fragrance supply (Persil/Vernel)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178308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69" name="Oval 68"/>
          <p:cNvSpPr/>
          <p:nvPr/>
        </p:nvSpPr>
        <p:spPr>
          <a:xfrm>
            <a:off x="9038615" y="232029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21495" y="2171700"/>
            <a:ext cx="1781479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Cosmetic actives (Schwarzkopf)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2171700"/>
            <a:ext cx="731520" cy="388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44455" y="2816352"/>
            <a:ext cx="68483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44455" y="2990088"/>
            <a:ext cx="45655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44455" y="3337560"/>
            <a:ext cx="34241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3511296"/>
            <a:ext cx="68483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Active ingredients growth (cosmetics + nutraceutical)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Aroma molecule biotech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Sustainability claims (incl. carbon-neutral fragrance)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Pet food ingredients (high-growth)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30/yr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24mo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220/yr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665610" y="4882896"/>
            <a:ext cx="943557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65610" y="4882896"/>
            <a:ext cx="943557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09167" y="4882896"/>
            <a:ext cx="40438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natural + biotech-led molecules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Strong sustainability narrative + closer-to-customer collaborative model than larger peers. Important German-FMCG partner (Henkel-adjacent).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2023: Schaffelaarbos (animal feed)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Probi minority + various small bolt-ons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Symrise Ventures; Probi partnership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Holzminden DE · Singapore · Teterboro NJ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Symrise Ventures; collaboration with Probi (probiotics)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B2B labs + consumer household tests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M&amp;A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(50% prior)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SYMRISE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46 / 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UPSTREAM/BIOTECH  ·  TYPE B · format/channel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Ginkgo Bioworks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Synthetic biology platform engineering microbial production of cosmetic actives, fragrances, surfactants. Could disintermediate fragrance majors + traditional ingredients via fermentation.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B · format/channel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22A560"/>
                </a:solidFill>
                <a:latin typeface="Calibri"/>
              </a:rPr>
              <a:t>26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30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Boston MA,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$250M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+5.0%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-50%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40.0%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134282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67141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B2B Foundry-as-a-Service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2971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2971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570732"/>
            <a:ext cx="100584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Equity in customers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598164"/>
            <a:ext cx="1141399" cy="2971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598164"/>
            <a:ext cx="201423" cy="29718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570732"/>
            <a:ext cx="502920" cy="3520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178143" y="1783080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Ginkgo Foundry (cell engineering platform)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60877" y="1783080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 Bio Manufacturing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9641" y="1783080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8143" y="2848356"/>
            <a:ext cx="148273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Ginkgo Bioworks for Beauty (Joyn JV exit)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60877" y="2848356"/>
            <a:ext cx="808763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Beauty Actives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69641" y="2848356"/>
            <a:ext cx="404381" cy="10652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Future bio-fragrance pipeline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69" name="Oval 68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Bio-surfactant cost curve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2" name="Oval 71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Bio-ingredient platform IP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044455" y="2816352"/>
            <a:ext cx="99872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35%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44455" y="2990088"/>
            <a:ext cx="85604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44455" y="3337560"/>
            <a:ext cx="428024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15%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4455" y="3511296"/>
            <a:ext cx="856049" cy="82296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Path to profitability (currently loss-making)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Biosecurity / Concentric pivot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AI-driven cell engineering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Customer base diversification post-COVID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20/yr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30mo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150/yr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56846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856846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935197" y="4882896"/>
            <a:ext cx="107835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35197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synthetic biology + AI-augmented design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'Programmer for cells' — multi-partner platform model. Risk: financial fragility could stall ecosystem; opportunity: bio-route to fragrance + surfactant cost-down by 2030.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Zymergen (~$300M)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Reverie Labs (AI drug discovery)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Multiple smaller biotech consolidations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Public; partnerships with Bayer, Roche, multiple beauty brands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Boston · Bay Area · RTP NC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Foundry-as-Service platform with multiple biotech partners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Customer pilot programs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30% renov  ·  70% new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038615" y="5413248"/>
            <a:ext cx="80876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89B00"/>
                </a:solidFill>
                <a:latin typeface="Calibri"/>
              </a:rPr>
              <a:t>M&amp;A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(40% prior)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GINKGO BIOWORKS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47 / 56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PLATFORM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OpenAI (Agentic Commerce)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Agentic commerce gateway. ChatGPT becoming default product-discovery layer; brand visibility filtered through model preferences. Henkel must influence training data + retrieval.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1000F"/>
                </a:solidFill>
                <a:latin typeface="Calibri"/>
              </a:rPr>
              <a:t>70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San Francisco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 est)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$4.0B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+300.0%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-50%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8600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31343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313432"/>
            <a:ext cx="38046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8600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606040"/>
            <a:ext cx="100584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APAC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633472"/>
            <a:ext cx="1141399" cy="2286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633472"/>
            <a:ext cx="380466" cy="2286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606040"/>
            <a:ext cx="5029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ChatGPT Plus + Pro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API/Enterprise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468624"/>
            <a:ext cx="830108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727704"/>
            <a:ext cx="103763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178143" y="178308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ChatGPT (consumer)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60877" y="178308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Conversational 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9641" y="178308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143" y="220919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GPT-4o / o1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60877" y="220919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Models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9641" y="220919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263530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Operator + Agentic mode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60877" y="263530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Agentic Commerce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69641" y="263530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8143" y="306141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Sora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60877" y="306141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Video Gen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69641" y="306141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78143" y="348752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API platform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60877" y="348752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B2B AI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9641" y="348752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Discovery / brand visibility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2" name="Oval 81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Product recommendation defaults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5" name="Oval 84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Brand-as-AI-context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95%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2990088"/>
            <a:ext cx="48058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3163824"/>
            <a:ext cx="360442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3337560"/>
            <a:ext cx="1021252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511296"/>
            <a:ext cx="1021252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Operator + agentic shopping at scale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Path to profitability (large compute losses)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Enterprise ChatGPT + custom GPTs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Microsoft partnership monetization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Agent ecosystem (browsers, retailers integration)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12/yr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30/yr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317671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856846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856846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935197" y="4882896"/>
            <a:ext cx="1078351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935197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model-capability led + agentic-commerce experimentation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Capability releases drive ecosystem behavior. Brand visibility increasingly filtered through model rankings. Operator/agentic mode = new commerce channel.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Multi.AI acquisition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2024: Rockset (real-time search) acquisition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OpenAI Startup Fund ($175M+); Microsoft strategic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SF + London + Tokyo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API ecosystem + GPT Store + Microsoft co-development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first; rapid global with usage-based pricing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30% renov  ·  70% new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038615" y="5413248"/>
            <a:ext cx="80876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Launch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(95% prior)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OPENAI (AGENTIC COMMERCE)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48 / 56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PLATFORM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Google / Alphabet (AI Shopping)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GOOG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Search + Gemini shopping mode + AI Overviews changing shopping discovery. Google Shopping defaults shape Henkel SEO/SEM dependency. Disruption to ad spend allocation logic.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68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Mountain View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1998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$350.0B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+10.0%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31%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13.0%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EMEA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744391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APAC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446634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 Americas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148878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Search Ads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55%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37642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YouTube + Network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0385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03854"/>
            <a:ext cx="415054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37642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57073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Cloud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59816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598164"/>
            <a:ext cx="249032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57073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7671" y="3765042"/>
            <a:ext cx="100584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Subscriptions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23511" y="3792474"/>
            <a:ext cx="1141399" cy="10287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23511" y="3792474"/>
            <a:ext cx="207527" cy="10287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0631" y="3765042"/>
            <a:ext cx="502920" cy="1577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178143" y="178308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Google Search + AI Overviews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60877" y="178308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Discovery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9641" y="178308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78143" y="220919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Google Shopping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60877" y="220919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E-commerce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69641" y="220919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8143" y="263530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Gemini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0877" y="263530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Conversational AI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69641" y="263530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8143" y="306141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YouTube + Shorts Shopping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60877" y="306141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Video Commerce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469641" y="306141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78143" y="348752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Google Ads + Performance Max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0877" y="348752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Advertising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69641" y="348752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Search-driven discovery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0" name="Oval 89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Performance Max ad-spend attribution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93" name="Oval 92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YouTube content monetization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2816352"/>
            <a:ext cx="10779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2990088"/>
            <a:ext cx="5072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163824"/>
            <a:ext cx="5072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044455" y="3337560"/>
            <a:ext cx="107798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Mode + Generative Search transformation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Performance Max + AI-driven ad creative tools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YouTube Shorts shopping monetization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Cloud + AI infrastructure scale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Antitrust litigation defense (search + ad-tech)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60/yr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4500/yr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317671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396022" y="4882896"/>
            <a:ext cx="1078351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AI/data + ML-powered ranking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Algorithm-driven defaults shape Henkel media spend ROI. AI Overviews compress ad real estate. Performance Max black-box scaling complicates brand-attribution.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2025: Wiz ($32B cloud security)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2022: Mandiant ($5.4B)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2014: DeepMind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GV ($9B+ AUM); CapitalG (growth); GradientVentures (AI)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Mountain View, NYC, London, Zürich, Bangalore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GV (formerly Google Ventures, $9B+ AUM) + DeepMind partnerships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first; rapid global rollout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50% renov  ·  50% new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038615" y="5413248"/>
            <a:ext cx="1347939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Regulatory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(90% prior)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GOOGLE / ALPHABET (AI SHOPPING)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49 / 56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160">
                <a:solidFill>
                  <a:srgbClr val="888888"/>
                </a:solidFill>
                <a:latin typeface="Calibri"/>
              </a:rPr>
              <a:t>TIER 3  ·  PLATFORM  ·  TYPE D · discovery/access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77724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Meta Platforms</a:t>
            </a:r>
            <a:r>
              <a:rPr sz="1400" b="0" i="0">
                <a:solidFill>
                  <a:srgbClr val="888888"/>
                </a:solidFill>
                <a:latin typeface="Calibri"/>
              </a:rPr>
              <a:t>  ·  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Critical advertising platform for FMCG (Facebook + Instagram + Reels). Moves in Meta Reels Shopping + WhatsApp Business platform define DTC + influencer-led commerce.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357055" y="329184"/>
            <a:ext cx="2377440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7055" y="3657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 spc="140">
                <a:solidFill>
                  <a:srgbClr val="FFFFFF"/>
                </a:solidFill>
                <a:latin typeface="Calibri"/>
              </a:rPr>
              <a:t>TYPE D · discovery/access disruptor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577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577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THREAT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E89B00"/>
                </a:solidFill>
                <a:latin typeface="Calibri"/>
              </a:rPr>
              <a:t>64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/100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11335" y="603504"/>
            <a:ext cx="1188720" cy="676656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11335" y="6400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spc="140">
                <a:solidFill>
                  <a:srgbClr val="888888"/>
                </a:solidFill>
                <a:latin typeface="Calibri"/>
              </a:rPr>
              <a:t>RESPONSE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11335" y="78638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6</a:t>
            </a:r>
            <a:r>
              <a:rPr sz="1000" b="0" i="0">
                <a:solidFill>
                  <a:srgbClr val="888888"/>
                </a:solidFill>
                <a:latin typeface="Calibri"/>
              </a:rPr>
              <a:t> mo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137160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PROFILE  ·  FINANCIALS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.0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178308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HQ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Menlo Park CA, USA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947672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FOUNDED  </a:t>
            </a:r>
            <a:r>
              <a:rPr sz="900" b="0" i="0">
                <a:solidFill>
                  <a:srgbClr val="1A1A1A"/>
                </a:solidFill>
                <a:latin typeface="Calibri"/>
              </a:rPr>
              <a:t>2004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67128"/>
            <a:ext cx="2695879" cy="713232"/>
          </a:xfrm>
          <a:prstGeom prst="rect">
            <a:avLst/>
          </a:prstGeom>
          <a:solidFill>
            <a:srgbClr val="FAFAFA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221992"/>
            <a:ext cx="251299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REVENUE (FY24)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368296"/>
            <a:ext cx="25129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$165.0B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97480"/>
            <a:ext cx="251299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1">
                <a:solidFill>
                  <a:srgbClr val="22A560"/>
                </a:solidFill>
                <a:latin typeface="Calibri"/>
              </a:rPr>
              <a:t>+20.0% 3-yr CAGR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EBITDA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50%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68018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68018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R&amp;D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8018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27.0%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78837" y="2990088"/>
            <a:ext cx="87424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78837" y="3026664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MKT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78837" y="3154680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7671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GEO  ·  CHANNEL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17671.7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7671" y="178308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GEOGRAPHIC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7671" y="196596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US/Canada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23511" y="1993392"/>
            <a:ext cx="1141399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10631" y="196596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45%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7671" y="220599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Europe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3511" y="223342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3511" y="2233422"/>
            <a:ext cx="634110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10631" y="220599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7671" y="244602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Asia/Pacific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23511" y="247345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23511" y="2473452"/>
            <a:ext cx="558017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10631" y="244602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17671" y="2686050"/>
            <a:ext cx="100584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Rest of World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23511" y="2713482"/>
            <a:ext cx="1141399" cy="14859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23511" y="2713482"/>
            <a:ext cx="202915" cy="14859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0631" y="2686050"/>
            <a:ext cx="502920" cy="2034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17671" y="299923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CHANNEL MIX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7671" y="318211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Family of Apps Ads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23511" y="3209544"/>
            <a:ext cx="114139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10631" y="318211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96%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7671" y="344119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Reality Labs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3511" y="346862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3511" y="3468624"/>
            <a:ext cx="2377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10631" y="344119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7671" y="3700272"/>
            <a:ext cx="100584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Other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23511" y="3727704"/>
            <a:ext cx="1141399" cy="167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23511" y="3727704"/>
            <a:ext cx="23779" cy="1676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510631" y="3700272"/>
            <a:ext cx="502920" cy="222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8143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KEY BRANDS  ·  PORTFOLIO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178143.5" y="1673352"/>
            <a:ext cx="2695879.75" cy="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178143" y="178308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Facebook + Instagram + Messenger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60877" y="178308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Social Ads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69641" y="178308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8143" y="220919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Reels + Reels Ads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60877" y="220919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Short-form Video Ads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69641" y="220919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8143" y="2635300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WhatsApp Business + WhatsApp Commerce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60877" y="2635300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Conversational Commerce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9641" y="2635300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8143" y="306141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Threads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60877" y="306141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Text Social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469641" y="306141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8143" y="3487521"/>
            <a:ext cx="148273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Quest VR / Ray-Ban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60877" y="3487521"/>
            <a:ext cx="808763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Reality Labs (loss-making)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69641" y="3487521"/>
            <a:ext cx="404381" cy="4261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50" b="1" i="0">
                <a:solidFill>
                  <a:srgbClr val="888888"/>
                </a:solidFill>
                <a:latin typeface="Calibri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38615" y="1508760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HCB EXPOSURE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038615.25" y="1673352"/>
            <a:ext cx="2695879.75" cy="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9038615" y="186690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21495" y="178308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Brand advertising attribution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02975" y="178308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6" name="Oval 85"/>
          <p:cNvSpPr/>
          <p:nvPr/>
        </p:nvSpPr>
        <p:spPr>
          <a:xfrm>
            <a:off x="9038615" y="2125980"/>
            <a:ext cx="91440" cy="91440"/>
          </a:xfrm>
          <a:prstGeom prst="ellipse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1495" y="204216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Influencer + DTC channel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02975" y="204216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1000F"/>
                </a:solidFill>
                <a:latin typeface="Calibri"/>
              </a:rPr>
              <a:t>HIGH</a:t>
            </a:r>
          </a:p>
        </p:txBody>
      </p:sp>
      <p:sp>
        <p:nvSpPr>
          <p:cNvPr id="89" name="Oval 88"/>
          <p:cNvSpPr/>
          <p:nvPr/>
        </p:nvSpPr>
        <p:spPr>
          <a:xfrm>
            <a:off x="9038615" y="2385060"/>
            <a:ext cx="91440" cy="91440"/>
          </a:xfrm>
          <a:prstGeom prst="ellipse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21495" y="2301240"/>
            <a:ext cx="1781479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WhatsApp commerce (EM)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02975" y="2301240"/>
            <a:ext cx="731520" cy="259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 spc="120">
                <a:solidFill>
                  <a:srgbClr val="E89B00"/>
                </a:solidFill>
                <a:latin typeface="Calibri"/>
              </a:rPr>
              <a:t>MEDIUM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38615" y="26060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40">
                <a:solidFill>
                  <a:srgbClr val="888888"/>
                </a:solidFill>
                <a:latin typeface="Calibri"/>
              </a:rPr>
              <a:t>WARGAME MOVE PRIORS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38615" y="27889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Launch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044455" y="2816352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44455" y="2816352"/>
            <a:ext cx="107425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1231575" y="2788920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38615" y="2962656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Price war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44455" y="2990088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044455" y="2990088"/>
            <a:ext cx="402846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231575" y="2962656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30%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38615" y="313639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M&amp;A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4455" y="3163824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44455" y="3163824"/>
            <a:ext cx="268564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231575" y="3136392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20%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38615" y="3310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Channel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44455" y="3337560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44455" y="3337560"/>
            <a:ext cx="1074258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231575" y="3310128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38615" y="348386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Regulatory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044455" y="3511296"/>
            <a:ext cx="1141399" cy="822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31575" y="3483864"/>
            <a:ext cx="50292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333333"/>
                </a:solidFill>
                <a:latin typeface="Calibri"/>
              </a:rPr>
              <a:t>85%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STRATEGIC PRIORITIES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457200.0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457200" y="4315968"/>
            <a:ext cx="2695879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AI-powered ad creative tools (Andromeda, Lattice)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Reels short-form competition vs. TikTok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WhatsApp Business commerce in EM (India, Brazil, Indonesia)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AI infrastructure (Llama models)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850" b="0" i="0">
                <a:solidFill>
                  <a:srgbClr val="333333"/>
                </a:solidFill>
                <a:latin typeface="Calibri"/>
              </a:rPr>
              <a:t>Reality Labs path to profitability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317671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INNOVATION PATTERN  ·  BEHAVIOR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317671.75" y="4206240.0"/>
            <a:ext cx="2695879.75" cy="0.0"/>
          </a:xfrm>
          <a:prstGeom prst="line">
            <a:avLst/>
          </a:prstGeom>
          <a:ln w="15240">
            <a:solidFill>
              <a:srgbClr val="E100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3317671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17671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CADENCE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317671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40/yr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28490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228490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TTM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228490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6mo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39308" y="4315968"/>
            <a:ext cx="874242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139308" y="4343400"/>
            <a:ext cx="87424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1" i="0" spc="120">
                <a:solidFill>
                  <a:srgbClr val="888888"/>
                </a:solidFill>
                <a:latin typeface="Calibri"/>
              </a:rPr>
              <a:t>PATENTS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139308" y="4462272"/>
            <a:ext cx="8742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1500/yr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317671" y="4736592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INNOVATION MIX  (core / adj / transform)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317671" y="4882896"/>
            <a:ext cx="134793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65610" y="4882896"/>
            <a:ext cx="808763" cy="146304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65610" y="4882896"/>
            <a:ext cx="808763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474373" y="4882896"/>
            <a:ext cx="539175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17671" y="5120640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20">
                <a:solidFill>
                  <a:srgbClr val="888888"/>
                </a:solidFill>
                <a:latin typeface="Calibri"/>
              </a:rPr>
              <a:t>BIAS  </a:t>
            </a:r>
            <a:r>
              <a:rPr sz="800" b="0" i="1">
                <a:solidFill>
                  <a:srgbClr val="1A1A1A"/>
                </a:solidFill>
                <a:latin typeface="Calibri"/>
              </a:rPr>
              <a:t>ad-system optimization + AI-creative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317671" y="5285232"/>
            <a:ext cx="2695879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SIGNATURE PATTERN</a:t>
            </a:r>
            <a:r>
              <a:rPr sz="800" b="0" i="0">
                <a:solidFill>
                  <a:srgbClr val="333333"/>
                </a:solidFill>
                <a:latin typeface="Calibri"/>
              </a:rPr>
              <a:t>  ·  AI-driven ad creative + targeting (Andromeda model). Each AI release shifts brand attribution + creative production. WhatsApp Business as growing EM channel.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178143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M&amp;A  ·  VC  ·  R&amp;D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178143.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6178143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RECENT M&amp;A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78143" y="4462272"/>
            <a:ext cx="26958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2014: WhatsApp ($19B), Oculus ($2B)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2012: Instagram ($1B)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recent M&amp;A under FTC scrutiny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178143" y="50932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VC  ·  CVC  ·  PARTNERSHIPS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178143" y="5239512"/>
            <a:ext cx="26958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Limited public CVC; Meta-led AI investment partnerships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AAAAAA"/>
                </a:solidFill>
                <a:latin typeface="Calibri"/>
              </a:rPr>
              <a:t>▪ </a:t>
            </a:r>
            <a:r>
              <a:rPr sz="750" b="0" i="0">
                <a:solidFill>
                  <a:srgbClr val="333333"/>
                </a:solidFill>
                <a:latin typeface="Calibri"/>
              </a:rPr>
              <a:t>Open-weight Llama ecosystem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178143" y="57790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R&amp;D CENTERS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178143" y="5925312"/>
            <a:ext cx="269587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Menlo Park, NYC, London, Tel Aviv, Bangalore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038615" y="4041648"/>
            <a:ext cx="269587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spc="160">
                <a:solidFill>
                  <a:srgbClr val="888888"/>
                </a:solidFill>
                <a:latin typeface="Calibri"/>
              </a:rPr>
              <a:t>OPEN INNOVATION  ·  DETAIL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9038615.25" y="4206240.0"/>
            <a:ext cx="2695879.75" cy="0.0"/>
          </a:xfrm>
          <a:prstGeom prst="line">
            <a:avLst/>
          </a:prstGeom>
          <a:ln w="1524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9038615" y="43159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OPEN INNOVATION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38615" y="4462272"/>
            <a:ext cx="2695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  <a:latin typeface="Calibri"/>
              </a:rPr>
              <a:t>Llama open-weight models; ecosystem partnerships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038615" y="486460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TEST MARKETS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38615" y="501091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333333"/>
                </a:solidFill>
                <a:latin typeface="Calibri"/>
              </a:rPr>
              <a:t>US first; rapid global ads rollout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038615" y="523036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RENOVATION vs NEW</a:t>
            </a:r>
            <a:r>
              <a:rPr sz="800" b="1" i="0">
                <a:solidFill>
                  <a:srgbClr val="1A1A1A"/>
                </a:solidFill>
                <a:latin typeface="Calibri"/>
              </a:rPr>
              <a:t>   55% renov  ·  44% new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9038615" y="5413248"/>
            <a:ext cx="2695879" cy="91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38615" y="5413248"/>
            <a:ext cx="1482733" cy="9144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038615" y="5596128"/>
            <a:ext cx="269587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 spc="120">
                <a:solidFill>
                  <a:srgbClr val="888888"/>
                </a:solidFill>
                <a:latin typeface="Calibri"/>
              </a:rPr>
              <a:t>MOST LIKELY MOVE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38615" y="5742432"/>
            <a:ext cx="2695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Regulatory  </a:t>
            </a:r>
            <a:r>
              <a:rPr sz="900" b="0" i="0">
                <a:solidFill>
                  <a:srgbClr val="888888"/>
                </a:solidFill>
                <a:latin typeface="Calibri"/>
              </a:rPr>
              <a:t>(85% prior)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TIER 3  ·  META PLATFORMS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50 / 56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SYNTHESIS  ·  HCB CATEGORY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Aggregate threat by HCB category — where to focus the wargame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HIGH × threat-score sums per category. Hair Care + Laundry + Body Care take ~70% of total.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28016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508760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Hair Care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563624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563624"/>
            <a:ext cx="6400800" cy="236437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2975" y="1508760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532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54925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Body Care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909789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909789"/>
            <a:ext cx="5800424" cy="236437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2975" y="1854925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482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01091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Laundry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255955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255955"/>
            <a:ext cx="5727031" cy="236437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2975" y="2201091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476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47257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Dish Care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602121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2602121"/>
            <a:ext cx="3416968" cy="236437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02975" y="2547257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284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893422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Surface Care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2948286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0" y="2948286"/>
            <a:ext cx="2954955" cy="236437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02975" y="2893422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246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39588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Discovery / brand visibility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3294452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0" y="3294452"/>
            <a:ext cx="2815389" cy="236437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02975" y="3239588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234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5754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Premium Hair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640618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0" y="3640618"/>
            <a:ext cx="1792705" cy="236437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02975" y="3585754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149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Hair Color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0" y="3986784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0" y="3986784"/>
            <a:ext cx="1732547" cy="236437"/>
          </a:xfrm>
          <a:prstGeom prst="rect">
            <a:avLst/>
          </a:prstGeom>
          <a:solidFill>
            <a:srgbClr val="E89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02975" y="3931920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144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278085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Schwarzkopf Pro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4332949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0" y="4332949"/>
            <a:ext cx="1371600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02975" y="4278085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114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24251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Hair Styling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679115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4679115"/>
            <a:ext cx="938463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002975" y="4624251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78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970417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Hair Pro Premium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0" y="5025281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5025281"/>
            <a:ext cx="938463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02975" y="4970417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316582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Air Care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5371446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0" y="5371446"/>
            <a:ext cx="938463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002975" y="5316582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78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662748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Laundry US Mid-tier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0" y="5717612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0" y="5717612"/>
            <a:ext cx="938463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02975" y="5662748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008914"/>
            <a:ext cx="43891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Calibri"/>
              </a:rPr>
              <a:t>Hair Care US Mass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0" y="6063778"/>
            <a:ext cx="6400800" cy="236437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6063778"/>
            <a:ext cx="938463" cy="236437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002975" y="6008914"/>
            <a:ext cx="731520" cy="3461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78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SYNTHESIS · HCB EXPOSURE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51 / 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888888"/>
                </a:solidFill>
                <a:latin typeface="Calibri"/>
              </a:rPr>
              <a:t>SYNTHESIS  ·  WARGAMING LINKAGE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From repository to running model — the operating loop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097280"/>
            <a:ext cx="11277295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1325880"/>
            <a:ext cx="2145731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2145731" cy="365760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1457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4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28800"/>
            <a:ext cx="18165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194560"/>
            <a:ext cx="181654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Each profile loads as JSON into PRISM at v3.4 boot. Move-set priors, response speed, threat score, HCB exposure are first-class Bayesian priors.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0091" y="1325880"/>
            <a:ext cx="2145731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0091" y="1325880"/>
            <a:ext cx="214573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0091" y="1417320"/>
            <a:ext cx="21457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4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4683" y="1828800"/>
            <a:ext cx="18165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4683" y="2194560"/>
            <a:ext cx="181654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When user runs a wargaming round, PRISM samples one response per archetype from its move-set distribution (top-1 in fast mode; full distribution in stress mode).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2982" y="1325880"/>
            <a:ext cx="2145731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2982" y="1325880"/>
            <a:ext cx="214573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2982" y="1417320"/>
            <a:ext cx="21457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4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7574" y="1828800"/>
            <a:ext cx="18165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PROPAGATE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7574" y="2194560"/>
            <a:ext cx="181654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Sampled rival moves are applied as additional shocks through the existing 6-force × 95-trend × 13-category copula. New Shift Matrix delta produced.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5873" y="1325880"/>
            <a:ext cx="2145731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5873" y="1325880"/>
            <a:ext cx="214573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5873" y="1417320"/>
            <a:ext cx="21457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4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465" y="1828800"/>
            <a:ext cx="18165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465" y="2194560"/>
            <a:ext cx="181654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Multi-round wargame iterates with γ=0.85 discount. Robust Henkel moves identified across rival response distributions.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88764" y="1325880"/>
            <a:ext cx="2145731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88764" y="1325880"/>
            <a:ext cx="2145731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88764" y="1417320"/>
            <a:ext cx="21457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 spc="14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3356" y="1828800"/>
            <a:ext cx="18165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REFRESH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3356" y="2194560"/>
            <a:ext cx="181654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Repository re-baselined quarterly. Threat scores re-calibrated when new evidence arrives (10-K, M&amp;A announcement, product launch). PRISM Bayesian posteriors update automatically.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49040"/>
            <a:ext cx="11277295" cy="1508760"/>
          </a:xfrm>
          <a:prstGeom prst="rect">
            <a:avLst/>
          </a:prstGeom>
          <a:solidFill>
            <a:srgbClr val="FAFAFA"/>
          </a:solidFill>
          <a:ln w="635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91363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1000F"/>
                </a:solidFill>
                <a:latin typeface="Calibri"/>
              </a:rPr>
              <a:t>REFRESH OPERATING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13308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spc="140">
                <a:solidFill>
                  <a:srgbClr val="E1000F"/>
                </a:solidFill>
                <a:latin typeface="Calibri"/>
              </a:rPr>
              <a:t>QUARTERLY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133088"/>
            <a:ext cx="89912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All threat scores re-baselined; financials updated; M&amp;A pipeline reviewed (15 min × 42 = 10.5 hrs analyst-load)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spc="140">
                <a:solidFill>
                  <a:srgbClr val="E1000F"/>
                </a:solidFill>
                <a:latin typeface="Calibri"/>
              </a:rPr>
              <a:t>MONTHLY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389120"/>
            <a:ext cx="89912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Innovation cadence + launch-tracker review; new entrants added to monitor list (junior analyst desk, 2 hrs)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4515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spc="140">
                <a:solidFill>
                  <a:srgbClr val="E1000F"/>
                </a:solidFill>
                <a:latin typeface="Calibri"/>
              </a:rPr>
              <a:t>EVENT-DRIVEN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4645152"/>
            <a:ext cx="89912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10-K filing, major launch, M&amp;A announcement, regulatory action → individual profile updated within 5 working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901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spc="140">
                <a:solidFill>
                  <a:srgbClr val="E1000F"/>
                </a:solidFill>
                <a:latin typeface="Calibri"/>
              </a:rPr>
              <a:t>ANNUAL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901184"/>
            <a:ext cx="899129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Threat-type taxonomy review; archetype move-set probabilities re-calibrated; 30-consultant strategic review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565392"/>
            <a:ext cx="11277295" cy="0"/>
          </a:xfrm>
          <a:prstGeom prst="line">
            <a:avLst/>
          </a:prstGeom>
          <a:ln w="6350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662025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 spc="160">
                <a:solidFill>
                  <a:srgbClr val="888888"/>
                </a:solidFill>
                <a:latin typeface="Calibri"/>
              </a:rPr>
              <a:t>HENKEL CONSUMER BRANDS  ·  COMPETITOR REPOSITORY  ·  </a:t>
            </a:r>
            <a:r>
              <a:rPr sz="700" b="1" i="0" spc="160">
                <a:solidFill>
                  <a:srgbClr val="555555"/>
                </a:solidFill>
                <a:latin typeface="Calibri"/>
              </a:rPr>
              <a:t>SYNTHESIS · WARGAMING LINKAGE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5695" y="6620256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 spc="160">
                <a:solidFill>
                  <a:srgbClr val="888888"/>
                </a:solidFill>
                <a:latin typeface="Calibri"/>
              </a:rPr>
              <a:t>PAGE 52 / 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E100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E1000F"/>
                </a:solidFill>
                <a:latin typeface="Calibri"/>
              </a:rPr>
              <a:t>DATA FRESHNESS  ·  USAGE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to use this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40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1000F"/>
                </a:solidFill>
                <a:latin typeface="Calibri"/>
              </a:rPr>
              <a:t>Data current as of:  </a:t>
            </a:r>
            <a:r>
              <a:rPr sz="1200" b="0" i="0">
                <a:solidFill>
                  <a:srgbClr val="DDDDDD"/>
                </a:solidFill>
                <a:latin typeface="Calibri"/>
              </a:rPr>
              <a:t>April 2026 baseline  ·  most fields current to FY24 confirmed financials, FY25 estimates where filed, FY26 priorities from latest investor day decks. Refresh quarterly.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1000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 PRISM WARGAMING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42316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  <a:latin typeface="Calibri"/>
              </a:rPr>
              <a:t>Move-set priors, response speed, HCB exposure feed directly into v3.4 wargaming module. Each archetype is one Bayesian prior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1000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 STRATEGIC 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0040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  <a:latin typeface="Calibri"/>
              </a:rPr>
              <a:t>Use threat scores + HCB-exposure aggregation to focus annual planning. Top-10 most dangerous = mandatory ExCo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1000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 CATEGORY 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7764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  <a:latin typeface="Calibri"/>
              </a:rPr>
              <a:t>Filter by HCB category exposure to brief category strategists. Category × competitor matrix on Synthesis page.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1000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 M&amp;A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54880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DDDDDD"/>
                </a:solidFill>
                <a:latin typeface="Calibri"/>
              </a:rPr>
              <a:t>Adjacency-invader (Type E) profiles double as M&amp;A targets to consider — what others have already acquired (K18, Mielle, Nutrafol) marks the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40">
                <a:solidFill>
                  <a:srgbClr val="888888"/>
                </a:solidFill>
                <a:latin typeface="Calibri"/>
              </a:rPr>
              <a:t>HCB STRATEGY  ·  PRISM SUPPORTING DOCUMENT  · 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5943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 spc="240">
                <a:solidFill>
                  <a:srgbClr val="888888"/>
                </a:solidFill>
                <a:latin typeface="Calibri"/>
              </a:rPr>
              <a:t>56 PAGES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