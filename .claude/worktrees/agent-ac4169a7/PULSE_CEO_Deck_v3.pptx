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 Intelligence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3716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simulation platform that transforms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 assessment into decision intelligence.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will your 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in five years?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09728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566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companies that answer this question first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define the next decade of consumer goods.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 are shifting — fast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9304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bans, EPR mandates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rewriting category economics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289304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6636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beauty, premiumization, value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reshape demand curves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386584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biotech, DTC platforms disrupt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the value chain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386584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label growth and channel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squeeze branded margins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483864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costs, water scarcity, packaging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levies hit the bottom 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483864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cross-category entry,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M&amp;A redraw the competitive map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companies react. Leaders anticipate.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097280"/>
            <a:ext cx="13716" cy="292608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annual assessments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without uncertainty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5054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05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analyzed in isolation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809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809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response modeling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4564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456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calibration gap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627632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Living, probabilistic simulation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103120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029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uncertainty quantification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578608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force propagation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054096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competitor modeling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529584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for credibility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886200" y="1737360"/>
            <a:ext cx="13716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privacy-first, AI-augmented simulation engine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models how strategic forces reshape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pools across categories and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10,000+ scenarios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338328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90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maps how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propagate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338328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for action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PULSE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37160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expert assessments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forces and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trends. Validate.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financial data enters.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651760" cy="3200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37160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697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10,000+ Monte Carlo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with causal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propagation, copula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game theory.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309360" y="1097280"/>
            <a:ext cx="2651760" cy="3200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09728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0920" y="137160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+ Optimizer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2697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percentage shifts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 and year.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resource allocation.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executive narrative.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forces shape every profit pool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shifts, premiumization, clean beauty, health consciousness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65760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consolidation, private label growth, channel power dynamics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365760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14884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4963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AI/biotech, DTC platforms, smart manufacturing, digital commerce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148840"/>
            <a:ext cx="365760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14884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4963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regulation, EPR mandates, compliance costs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365760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20040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547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impact, water scarcity, packaging levies, sustainability pressure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200400"/>
            <a:ext cx="365760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20040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547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M&amp;A activity, cross-category entry, price wars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force contains 8–12 individually scored trends — 60+ in total across all categories.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don’t act alone — they propagate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a Causal DAG to model how a shock in one force propagates to others — with calibrated weights and time lags.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51960" y="1737360"/>
            <a:ext cx="-2560320" cy="54864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51960" y="1737360"/>
            <a:ext cx="2103120" cy="18288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737360"/>
            <a:ext cx="2743200" cy="54864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3566160"/>
            <a:ext cx="4114800" cy="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3566160"/>
            <a:ext cx="2011680" cy="4572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286000"/>
            <a:ext cx="548640" cy="12801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286000"/>
            <a:ext cx="2560320" cy="17373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286000"/>
            <a:ext cx="4663440" cy="12801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5160" y="2286000"/>
            <a:ext cx="-2743200" cy="-54864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2286000"/>
            <a:ext cx="-4754880" cy="12801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566160"/>
            <a:ext cx="-2103120" cy="4572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554480"/>
            <a:ext cx="118872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2103120"/>
            <a:ext cx="118872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7280" y="2103120"/>
            <a:ext cx="118872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45920" y="3383280"/>
            <a:ext cx="118872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4592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0" y="3383280"/>
            <a:ext cx="118872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6072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0" y="3840480"/>
            <a:ext cx="118872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453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EU regulation (Gov) → reformulation costs (Tech) → shelf price (Customer) → demand shift (Consumer)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guesses — Bayesian probabilities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give you a single number.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gives you a full probability distribution.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83664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Priors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expert knowledge, update with evidence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478024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Dependencies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660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how risks cluster together in crises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72384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Simulations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255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posterior distribution, not a point estimate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666744"/>
            <a:ext cx="146304" cy="146304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Tested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Gelman-Rubin R-hat &lt; 1.05 for statistical rigor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188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3634087"/>
            <a:ext cx="164592" cy="114953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1" name="Shape 19"/>
          <p:cNvSpPr/>
          <p:nvPr/>
        </p:nvSpPr>
        <p:spPr>
          <a:xfrm>
            <a:off x="5504688" y="3519134"/>
            <a:ext cx="164592" cy="229906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2" name="Shape 20"/>
          <p:cNvSpPr/>
          <p:nvPr/>
        </p:nvSpPr>
        <p:spPr>
          <a:xfrm>
            <a:off x="5705856" y="3317966"/>
            <a:ext cx="164592" cy="431074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07024" y="3030583"/>
            <a:ext cx="164592" cy="718457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2656985"/>
            <a:ext cx="164592" cy="1092055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312126"/>
            <a:ext cx="164592" cy="143691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0528" y="1967266"/>
            <a:ext cx="164592" cy="178177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Shape 25"/>
          <p:cNvSpPr/>
          <p:nvPr/>
        </p:nvSpPr>
        <p:spPr>
          <a:xfrm>
            <a:off x="6711696" y="1737360"/>
            <a:ext cx="164592" cy="2011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12864" y="1881051"/>
            <a:ext cx="164592" cy="1867989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14032" y="2254649"/>
            <a:ext cx="164592" cy="1494391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2656985"/>
            <a:ext cx="164592" cy="1092055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16368" y="3030583"/>
            <a:ext cx="164592" cy="718457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2" name="Shape 30"/>
          <p:cNvSpPr/>
          <p:nvPr/>
        </p:nvSpPr>
        <p:spPr>
          <a:xfrm>
            <a:off x="7717536" y="3317966"/>
            <a:ext cx="164592" cy="431074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3" name="Shape 31"/>
          <p:cNvSpPr/>
          <p:nvPr/>
        </p:nvSpPr>
        <p:spPr>
          <a:xfrm>
            <a:off x="7918704" y="3519134"/>
            <a:ext cx="164592" cy="229906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4" name="Shape 32"/>
          <p:cNvSpPr/>
          <p:nvPr/>
        </p:nvSpPr>
        <p:spPr>
          <a:xfrm>
            <a:off x="8119872" y="3634087"/>
            <a:ext cx="164592" cy="114953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3794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0" y="37947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3794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3977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Expansion          Contraction →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Five-year paths, not two-point snapshots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models continuous trajectories from 2026 to 2030. Velocity tracking and early-warning triggers enable path-dependent strategy.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27432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204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6092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024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37744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83464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29184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74904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697480"/>
            <a:ext cx="1234440" cy="27432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2697480"/>
            <a:ext cx="1234440" cy="4572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7640" y="2651760"/>
            <a:ext cx="1234440" cy="73152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2606040"/>
            <a:ext cx="1234440" cy="10058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2560320"/>
            <a:ext cx="914400" cy="12344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3" name="Shape 21"/>
          <p:cNvSpPr/>
          <p:nvPr/>
        </p:nvSpPr>
        <p:spPr>
          <a:xfrm>
            <a:off x="1508760" y="2834640"/>
            <a:ext cx="1234440" cy="9144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926080"/>
            <a:ext cx="1234440" cy="9144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3017520"/>
            <a:ext cx="1234440" cy="13716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3154680"/>
            <a:ext cx="1234440" cy="13716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1691640"/>
            <a:ext cx="274320" cy="109728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691640" y="1645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CI Band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17520" y="1737360"/>
            <a:ext cx="274320" cy="0"/>
          </a:xfrm>
          <a:prstGeom prst="line">
            <a:avLst/>
          </a:prstGeom>
          <a:noFill/>
          <a:ln w="25400">
            <a:solidFill>
              <a:srgbClr val="E100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645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" y="2743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3657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-5%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output: the Shift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table of percentage shifts by category, year, and confidence level. Apply directly to financial models.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07008"/>
                <a:gridCol w="1207008"/>
                <a:gridCol w="1207008"/>
                <a:gridCol w="1207008"/>
                <a:gridCol w="120700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Color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+2.6%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FCN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-4.8%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ADW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+0.9%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median shifts. Full output includes p10, p25, p75, p90 bands plus causal decomposition.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Application:   GP1 projected  =  GP1 actual  ×  (1 + shift %)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Delphi Process: structured expert scoring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ad-hoc scoring with a rigorous, debiased, multi-round elicitation protocol.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1554480"/>
            <a:ext cx="27432" cy="2834640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50876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1463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Pre-Workshop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known-outcome historical trends to each scorer. Detect systematic biases (optimism, anchoring, recency). Compute individual calibration factors.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" y="224028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194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expert scores impact (1–5) and probability (1–5) for every trend — blind, without seeing others’ scores. Documented rationale required.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" y="297180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8308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Re-Scoring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2926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anonymized score distribution across all scorers. Experts re-score with group context. Measure inter-rater reliability (Krippendorff’s α).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1560" y="370332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8308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8308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&amp; Debiasing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3657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outlier scores in structured session. Apply bias correction factors. Final score = weighted median by calibration accuracy.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53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 α &gt; 0.67 required  |  Bias-corrected  |  Full audit trail  |  Scores feed Bayesian priors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Competitors will respond — we model that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game-theoretic layer models likely competitive responses. Iterative Nash equilibrium converges to a stable outcome.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2011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2560320" cy="457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Defender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Innovation-led defense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Premiumize further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&amp; comply early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2560320" cy="2011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645920"/>
            <a:ext cx="2560320" cy="457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Leader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rationalization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compliance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disruptors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560320" cy="2011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45920"/>
            <a:ext cx="2560320" cy="457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Specialist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core categories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tech adoption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compliance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public market intelligence — no competitor financials enter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analysis to action: resource allocation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answers: so what should we do?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2560320" cy="4114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MORE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Care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ADW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momentum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256032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554480"/>
            <a:ext cx="2560320" cy="4114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FCN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Color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pools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protection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256032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554480"/>
            <a:ext cx="256032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low growth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are in relative weights — never absolute currency amounts.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earns credibility before it predicts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historical assessment versions (V1–V11) and actual market evolution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calibrate its own parameters. The model proves accuracy before making predictions.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929384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factor (derived, not assumed)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95144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shapes (learned from prediction errors)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660904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weights (fitted to historical co-movements)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026664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 (empirical, not flat)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392424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score (reported to ExCo)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0" y="1554480"/>
            <a:ext cx="3291840" cy="237744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4864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shifts predicted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80% confidence interval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V1–V11 historical versions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actual Euromonitor market data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by architecture, not by policy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29260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3657600" cy="384048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PULSE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Trend names &amp; descriptions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Impact / probability scores (1–5)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95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Direction (expansion / contraction)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names (public knowledge)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Causal propagation weights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market data (Euromonitor)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657600" cy="29260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3657600" cy="3840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ENTERS PULSE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Net External Sales (NES)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Gross Profit (GP1, GP2)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295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Regional financial splits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Cost structures (COGS, OpEx)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Company market shares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Management unit financials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are structurally excluded — enforced by schema, firewall, and automated tests.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War Room: one screen tells the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4069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Pool Shift: -3.1%   |   80% CI: [-1.5%, -5.5%]   |   Accuracy: 73%   |   Velocity: Accelerating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572000" cy="246888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× Category Heatmap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63040" y="17830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7830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783080"/>
            <a:ext cx="640080" cy="411480"/>
          </a:xfrm>
          <a:prstGeom prst="rect">
            <a:avLst/>
          </a:prstGeom>
          <a:solidFill>
            <a:srgbClr val="3B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783080"/>
            <a:ext cx="640080" cy="411480"/>
          </a:xfrm>
          <a:prstGeom prst="rect">
            <a:avLst/>
          </a:prstGeom>
          <a:solidFill>
            <a:srgbClr val="5C4B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783080"/>
            <a:ext cx="640080" cy="411480"/>
          </a:xfrm>
          <a:prstGeom prst="rect">
            <a:avLst/>
          </a:prstGeom>
          <a:solidFill>
            <a:srgbClr val="3B3B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2402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48840" y="22402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22402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22402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2240280"/>
            <a:ext cx="640080" cy="411480"/>
          </a:xfrm>
          <a:prstGeom prst="rect">
            <a:avLst/>
          </a:prstGeom>
          <a:solidFill>
            <a:srgbClr val="4B4B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488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26974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26974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3154680"/>
            <a:ext cx="640080" cy="411480"/>
          </a:xfrm>
          <a:prstGeom prst="rect">
            <a:avLst/>
          </a:prstGeom>
          <a:solidFill>
            <a:srgbClr val="5C5C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48840" y="31546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54680"/>
            <a:ext cx="640080" cy="411480"/>
          </a:xfrm>
          <a:prstGeom prst="rect">
            <a:avLst/>
          </a:prstGeom>
          <a:solidFill>
            <a:srgbClr val="4B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31546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206240" y="31546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49240" y="1371600"/>
            <a:ext cx="2743200" cy="246888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Panel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532120" y="1737360"/>
            <a:ext cx="237744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532120" y="2103120"/>
            <a:ext cx="237744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3" name="Shape 31"/>
          <p:cNvSpPr/>
          <p:nvPr/>
        </p:nvSpPr>
        <p:spPr>
          <a:xfrm>
            <a:off x="5532120" y="2468880"/>
            <a:ext cx="237744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4" name="Shape 32"/>
          <p:cNvSpPr/>
          <p:nvPr/>
        </p:nvSpPr>
        <p:spPr>
          <a:xfrm>
            <a:off x="5532120" y="2834640"/>
            <a:ext cx="237744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3977640"/>
            <a:ext cx="7452360" cy="6858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Timeline 2026 — 2030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71600" y="4434840"/>
            <a:ext cx="5943600" cy="13716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700016"/>
            <a:ext cx="745236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engine: shock, propagate, decide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expert scores, causal DAG active, no external shocks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17904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Squeeze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6276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shock → Government, Technology, Customer, Consumer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48256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579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1579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Disruption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1579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shock → Consumer adoption, Competitive gaps, Channel shift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7860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883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6883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6883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shock → Customer margin pressure, Consumer trading down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Cascade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2186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shock → propagates through DAG with lag structure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63931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Storm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749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tail event — t-copula at 1st percentile (crisis scenario)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scenarios: user shocks a specific force, the Causal DAG propagates the rest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augments judgment — never replaces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13258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54864" cy="1325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70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19 free-tier data sources continuously.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new developments. Weekly digest.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GDELT · GNews · RSS · ECHA · EPO · Google Trends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657600" cy="13258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54864" cy="1325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70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444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expert scores for consistency.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against real-world trajectory data.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consistency + external benchmarks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3657600" cy="13258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651760"/>
            <a:ext cx="54864" cy="1325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Narrator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992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Shift Matrix into executive narrative.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causal propagation in plain language.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LLM-generated from relative data only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3657600" cy="13258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51760"/>
            <a:ext cx="54864" cy="1325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9992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about the model.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queries get redirected.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Conversational AI layer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 Claude API (MVP) → Azure OpenAI (production) via single config change.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proven, enterprise-grade technology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60720" y="1097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828800" cy="59436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3.11+, NumPy, SciPy,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NetworkX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dependencies,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propagation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148840"/>
            <a:ext cx="18288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148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FastAPI, Pydantic, SQLite,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OpenPyXL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2148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validation,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zero-financial schema,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926080"/>
            <a:ext cx="18288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UI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926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18, Vite, D3,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Recharts, Tailwind, Framer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0" y="2926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War Room,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animations,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Apple-grade UX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61188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703320"/>
            <a:ext cx="18288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Provider ABC,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 Azure OpenAI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6072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scanning,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narration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178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running cost: €0/year — All 19 external APIs are free tier. No 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with DX: from MVP to enterprise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engine, CLI,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concept.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1097280"/>
            <a:ext cx="256032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508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783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92240" y="1097280"/>
            <a:ext cx="256032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097280"/>
            <a:ext cx="256032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508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Owned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783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hosting,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access control,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 reporting.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Team Engagement Steps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822192"/>
            <a:ext cx="219456" cy="21945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22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MVP code + spec to DX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3822192"/>
            <a:ext cx="219456" cy="21945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822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862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setup + CI/CD pipeline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822192"/>
            <a:ext cx="219456" cy="21945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22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208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+ InfoSec approval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4206240"/>
            <a:ext cx="219456" cy="21945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 + SSO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6160" y="4206240"/>
            <a:ext cx="219456" cy="21945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8620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206240"/>
            <a:ext cx="219456" cy="21945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2084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quarterly model updates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delivery — standalone value at each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7680960" cy="0"/>
          </a:xfrm>
          <a:prstGeom prst="line">
            <a:avLst/>
          </a:prstGeom>
          <a:noFill/>
          <a:ln w="254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54480"/>
            <a:ext cx="457200" cy="457200"/>
          </a:xfrm>
          <a:prstGeom prst="oval">
            <a:avLst/>
          </a:prstGeom>
          <a:solidFill>
            <a:srgbClr val="E1000F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Calibration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V1–V11,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parameters,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credibility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554480"/>
            <a:ext cx="457200" cy="45720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 (CLI)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395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1–3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3464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DAG, optimizer,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0" y="1554480"/>
            <a:ext cx="457200" cy="45720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95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4–6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heatmap,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visualization,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center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1554480"/>
            <a:ext cx="457200" cy="45720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395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7–9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scanner, calibrator,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narrator, chat interface,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041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standalone value. Phase 1 alone provides a probabilistic, causally-structured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simulation. Every subsequent phase compounds the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365760" cy="3657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PULSE as the strategic profit pool simulation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365760" cy="3657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DX resources for cloud deployment (Phase 2–3)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365760" cy="3657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pilot run with one business unit (Hair or LHC)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built. The methodology is proven.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to simulate — it’s how fast we can scale.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Profit Pool Intelligence Engine</dc:title>
  <dc:subject>PptxGenJS Presentation</dc:subject>
  <dc:creator>Strategy Team</dc:creator>
  <cp:lastModifiedBy>Strategy Team</cp:lastModifiedBy>
  <cp:revision>1</cp:revision>
  <dcterms:created xsi:type="dcterms:W3CDTF">2026-03-27T06:47:57Z</dcterms:created>
  <dcterms:modified xsi:type="dcterms:W3CDTF">2026-03-27T06:47:57Z</dcterms:modified>
</cp:coreProperties>
</file>