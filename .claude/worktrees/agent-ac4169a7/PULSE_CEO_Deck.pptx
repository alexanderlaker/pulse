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 Intelligence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3716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Bayesian simulation platform that transforms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force assessment into decision intelligence.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will your
</a:t>
            </a:r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pools</a:t>
            </a:r>
            <a:pPr indent="0" marL="0">
              <a:lnSpc>
                <a:spcPct val="130000"/>
              </a:lnSpc>
              <a:buNone/>
            </a:pP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in five years?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3383280"/>
            <a:ext cx="109728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companies that answer this question first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define the next decade of consumer goods.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pools are shifting —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89888"/>
            <a:ext cx="137160" cy="1371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Deal, PFAS bans, EPR mandates are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category economics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389888"/>
            <a:ext cx="137160" cy="1371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beauty, premiumization, and value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reshape demand curves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137160" cy="1371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biotech, and DTC platforms disrupt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the value chain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578608"/>
            <a:ext cx="137160" cy="1371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label growth and channel consolidation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branded margins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767328"/>
            <a:ext cx="137160" cy="1371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costs, water scarcity, and packaging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levies hit the bottom 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767328"/>
            <a:ext cx="137160" cy="1371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brands, cross-category entry,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M&amp;A redraw the competitive map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companies react. Leaders anticipate.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Approach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annual assessments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without uncertainty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analyzed in isolation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response modeling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calibration gap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938528"/>
            <a:ext cx="109728" cy="10972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Living, probabilistic simulation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2441448"/>
            <a:ext cx="109728" cy="10972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uncertainty quantification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944368"/>
            <a:ext cx="109728" cy="10972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force propagation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447288"/>
            <a:ext cx="109728" cy="10972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competitor modeling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950208"/>
            <a:ext cx="109728" cy="10972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for credibility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4840" y="1371600"/>
            <a:ext cx="13716" cy="2926080"/>
          </a:xfrm>
          <a:prstGeom prst="rect">
            <a:avLst/>
          </a:prstGeom>
          <a:solidFill>
            <a:srgbClr val="EEEEE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886200" y="1920240"/>
            <a:ext cx="13716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945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privacy-first, AI-augmented simulation engine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models how strategic forces reshape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pools across categories and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566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Monte Carlo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10,000+ scenarios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34747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3566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908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maps how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propagate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34747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3566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for action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PULSE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60020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expert assessments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forces and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trends. Validate.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financial data enters.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651760" cy="30175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60020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10,000+ Monte Carlo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with causal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propagation, copula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game theory.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2651760" cy="30175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160020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+ Optimizer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percentage shifts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 and year.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resource allocation.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executive narrative.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forces shape every profit pool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shifts, premiumization, clean beauty, health consciousness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657600" cy="914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consolidation, private label growth, channel power dynamics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23160"/>
            <a:ext cx="3657600" cy="914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4231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AI/biotech, DTC platforms, smart manufacturing, digital commerce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657600" cy="914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4231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Deal, PFAS regulation, EPR mandates, compliance costs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3657600" cy="914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5661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impact, water scarcity, packaging levies, sustainability pressure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566160"/>
            <a:ext cx="3657600" cy="914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56616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brands, M&amp;A activity, cross-category entry, price wars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force contains 8–12 individually scored trends — 60+ in total across all categories.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don't act alone — they propagate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uses a Causal Directed Acyclic Graph (DAG) to model how a shock in one force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 to others — with calibrated weights and time lags.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0" y="1920240"/>
            <a:ext cx="-2560320" cy="54864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920240"/>
            <a:ext cx="1737360" cy="18288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920240"/>
            <a:ext cx="2468880" cy="54864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749040"/>
            <a:ext cx="3657600" cy="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3749040"/>
            <a:ext cx="1920240" cy="4572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2468880"/>
            <a:ext cx="640080" cy="128016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468880"/>
            <a:ext cx="2560320" cy="173736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468880"/>
            <a:ext cx="4297680" cy="128016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468880"/>
            <a:ext cx="-2468880" cy="-54864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468880"/>
            <a:ext cx="-4389120" cy="128016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749040"/>
            <a:ext cx="-1737360" cy="4572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737360"/>
            <a:ext cx="914400" cy="41148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2286000"/>
            <a:ext cx="914400" cy="41148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71600" y="2286000"/>
            <a:ext cx="914400" cy="41148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0" y="3566160"/>
            <a:ext cx="914400" cy="41148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3566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0" y="3566160"/>
            <a:ext cx="914400" cy="41148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3566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31920" y="4023360"/>
            <a:ext cx="914400" cy="41148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31920" y="4023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453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EU regulation (Gov) → reformulation costs (Tech) → shelf price (Customer) → demand shift (Consumer)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guesses — Bayesian probabilities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give you a single number.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gives you a full probability distribution.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84832"/>
            <a:ext cx="128016" cy="12801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Priors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expert knowledge, update with evidence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724912"/>
            <a:ext cx="128016" cy="12801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Dependencies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how risks cluster together in crises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364992"/>
            <a:ext cx="128016" cy="12801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Simulations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posterior distribution, not a point estimate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005072"/>
            <a:ext cx="128016" cy="128016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Tested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Gelman-Rubin R-hat &lt; 1.05 for statistical rigor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3816967"/>
            <a:ext cx="164592" cy="114953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1" name="Shape 19"/>
          <p:cNvSpPr/>
          <p:nvPr/>
        </p:nvSpPr>
        <p:spPr>
          <a:xfrm>
            <a:off x="5504688" y="3702014"/>
            <a:ext cx="164592" cy="229906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2" name="Shape 20"/>
          <p:cNvSpPr/>
          <p:nvPr/>
        </p:nvSpPr>
        <p:spPr>
          <a:xfrm>
            <a:off x="5705856" y="3500846"/>
            <a:ext cx="164592" cy="431074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07024" y="3213463"/>
            <a:ext cx="164592" cy="718457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8192" y="2839865"/>
            <a:ext cx="164592" cy="1092055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495006"/>
            <a:ext cx="164592" cy="143691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0528" y="2150146"/>
            <a:ext cx="164592" cy="178177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Shape 25"/>
          <p:cNvSpPr/>
          <p:nvPr/>
        </p:nvSpPr>
        <p:spPr>
          <a:xfrm>
            <a:off x="6711696" y="1920240"/>
            <a:ext cx="164592" cy="2011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12864" y="2063931"/>
            <a:ext cx="164592" cy="1867989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114032" y="2437529"/>
            <a:ext cx="164592" cy="1494391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2839865"/>
            <a:ext cx="164592" cy="1092055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1" name="Shape 29"/>
          <p:cNvSpPr/>
          <p:nvPr/>
        </p:nvSpPr>
        <p:spPr>
          <a:xfrm>
            <a:off x="7516368" y="3213463"/>
            <a:ext cx="164592" cy="718457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2" name="Shape 30"/>
          <p:cNvSpPr/>
          <p:nvPr/>
        </p:nvSpPr>
        <p:spPr>
          <a:xfrm>
            <a:off x="7717536" y="3500846"/>
            <a:ext cx="164592" cy="431074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3" name="Shape 31"/>
          <p:cNvSpPr/>
          <p:nvPr/>
        </p:nvSpPr>
        <p:spPr>
          <a:xfrm>
            <a:off x="7918704" y="3702014"/>
            <a:ext cx="164592" cy="229906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4" name="Shape 32"/>
          <p:cNvSpPr/>
          <p:nvPr/>
        </p:nvSpPr>
        <p:spPr>
          <a:xfrm>
            <a:off x="8119872" y="3816967"/>
            <a:ext cx="164592" cy="114953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4206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Expansion          Contraction →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Five-year paths, not two-point snapshots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models continuous trajectories from 2026 to 2030 with annual granularity.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tracking and early-warning triggers enable path-dependent strategy.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680960" cy="25603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9204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6092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210312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56032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301752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47472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931920"/>
            <a:ext cx="64008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743200"/>
            <a:ext cx="1234440" cy="27432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2560320"/>
            <a:ext cx="1234440" cy="64008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7640" y="2377440"/>
            <a:ext cx="1234440" cy="10058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2194560"/>
            <a:ext cx="1234440" cy="13716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2011680"/>
            <a:ext cx="914400" cy="173736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3" name="Shape 21"/>
          <p:cNvSpPr/>
          <p:nvPr/>
        </p:nvSpPr>
        <p:spPr>
          <a:xfrm>
            <a:off x="1508760" y="2880360"/>
            <a:ext cx="1234440" cy="-4572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834640"/>
            <a:ext cx="1234440" cy="-9144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2743200"/>
            <a:ext cx="1234440" cy="-13716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606040"/>
            <a:ext cx="1234440" cy="-18288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1965960"/>
            <a:ext cx="274320" cy="13716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169164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Confidence Band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2011680"/>
            <a:ext cx="274320" cy="0"/>
          </a:xfrm>
          <a:prstGeom prst="line">
            <a:avLst/>
          </a:prstGeom>
          <a:noFill/>
          <a:ln w="25400">
            <a:solidFill>
              <a:srgbClr val="E100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Path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" y="2011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3657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-5%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output: the Shift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table of percentage shifts by category, year, and confidence level.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directly to financial models. No proprietary data required from PULSE.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07008"/>
                <a:gridCol w="1207008"/>
                <a:gridCol w="1207008"/>
                <a:gridCol w="1207008"/>
                <a:gridCol w="120700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Hair: Color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-0.3%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-0.8%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-2.3%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Hair: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+1.8%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+2.6%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FCN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-4.8%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ADW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+0.9%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+1.5%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+0.4%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median shifts. Full output includes p10, p25, p75, p90 bands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causal decomposition and resource allocation recommendations.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315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Application:   GP1 projected  =  GP1 actual  ×  (1 + shift %)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Expert Scoring: The Delphi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ad-hoc scoring with a rigorous, debiased, multi-round elicitation protocol.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1600200"/>
            <a:ext cx="22860" cy="2926080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481328"/>
            <a:ext cx="45720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Pre-Workshop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known-outcome historical trends to each scorer.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systematic biases (optimism, anchoring, recency).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individual calibration factors.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0120" y="2231136"/>
            <a:ext cx="45720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544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212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expert scores impact (1–5) and probability (1–5)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trend — blind, without seeing others' scores.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rationale required for each score.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2980944"/>
            <a:ext cx="45720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5448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Re-Scoring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29626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anonymized score distribution across all scorers.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re-score with visibility into group context.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inter-rater reliability (Krippendorff's α).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0120" y="3730752"/>
            <a:ext cx="457200" cy="45720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36941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54480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&amp; Debiasing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0" y="37124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outlier scores in structured session.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bias correction factors from calibration step.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= weighted median by calibration accuracy.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53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 α &gt; 0.67 required  |  Bias-corrected  |  Full audit trail  |  Scores feed Bayesian priors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Competitors will respond — we model that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game-theoretic layer models likely competitive responses to each scenario.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Nash equilibrium converges in 5–10 rounds to a stable outcome.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560320" cy="2011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20240"/>
            <a:ext cx="2560320" cy="457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Innovation-led defense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Premiumize further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&amp; comply early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920240"/>
            <a:ext cx="2560320" cy="2011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920240"/>
            <a:ext cx="2560320" cy="457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rationalization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compliance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disruptors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920240"/>
            <a:ext cx="2560320" cy="2011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920240"/>
            <a:ext cx="2560320" cy="457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core categories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tech adoption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compliance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public market intelligence — no competitor financials enter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analysis to action: resource allocation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answers: so what should we do?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2560320" cy="4114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MORE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Care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ADW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momentum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645920"/>
            <a:ext cx="256032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645920"/>
            <a:ext cx="2560320" cy="4114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FCN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Color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pools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protection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645920"/>
            <a:ext cx="256032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645920"/>
            <a:ext cx="256032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pools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low growth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uses mean-variance framework with category-level constraints.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recommendations are in relative weights — never absolute currency amounts.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earns credibility before it predicts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uses historical assessment versions (V1–V11)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actual market evolution to calibrate its own parameters.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proves accuracy before making forward predictions.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176272"/>
            <a:ext cx="109728" cy="10972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factor (derived, not assumed)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09728" cy="10972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87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shapes (learned from prediction errors)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944368"/>
            <a:ext cx="109728" cy="10972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712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weights (fitted to historical co-movements)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328416"/>
            <a:ext cx="109728" cy="10972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552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 (empirical, not flat)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12464"/>
            <a:ext cx="109728" cy="10972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39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score (reported to ExCo)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0" y="1828800"/>
            <a:ext cx="3291840" cy="22860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2377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4864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historical shifts predicted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80% confidence interval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V1–V11 historical versions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actual Euromonitor market data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historical data is unavailable, PULSE uses clearly labeled weakly informative priors and reports this transparently.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by architecture, not by policy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0" cy="29260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3657600" cy="4114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PULSE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Trend names &amp; descriptions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Impact / probability scores (1–5)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Direction (expansion / contraction)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871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names (public knowledge)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Causal propagation weights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market data (Euromonitor)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657600" cy="29260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3657600" cy="4114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ENTERS PULSE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Net External Sales (NES)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Gross Profit (GP1, GP2)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523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Regional financial splits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871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Cost structures (COGS, OpEx)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Company market shares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Management unit financials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are structurally excluded — enforced by schema, firewall, and automated tests. Not a policy, an architecture.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War Room: One screen tells the story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77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326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Pool Shift: -3.1%   |   80% CI: [-1.5%, -5.5%]   |   Accuracy: 73%   |   Velocity: Accelerating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4572000" cy="237744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× Category Heatmap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63040" y="1828800"/>
            <a:ext cx="640080" cy="36576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828800"/>
            <a:ext cx="640080" cy="36576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828800"/>
            <a:ext cx="640080" cy="365760"/>
          </a:xfrm>
          <a:prstGeom prst="rect">
            <a:avLst/>
          </a:prstGeom>
          <a:solidFill>
            <a:srgbClr val="3B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828800"/>
            <a:ext cx="640080" cy="365760"/>
          </a:xfrm>
          <a:prstGeom prst="rect">
            <a:avLst/>
          </a:prstGeom>
          <a:solidFill>
            <a:srgbClr val="5C4B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828800"/>
            <a:ext cx="640080" cy="365760"/>
          </a:xfrm>
          <a:prstGeom prst="rect">
            <a:avLst/>
          </a:prstGeom>
          <a:solidFill>
            <a:srgbClr val="3B3B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2240280"/>
            <a:ext cx="640080" cy="36576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48840" y="2240280"/>
            <a:ext cx="640080" cy="36576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2240280"/>
            <a:ext cx="640080" cy="36576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2240280"/>
            <a:ext cx="640080" cy="36576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2240280"/>
            <a:ext cx="640080" cy="365760"/>
          </a:xfrm>
          <a:prstGeom prst="rect">
            <a:avLst/>
          </a:prstGeom>
          <a:solidFill>
            <a:srgbClr val="4B4B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2651760"/>
            <a:ext cx="640080" cy="36576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48840" y="2651760"/>
            <a:ext cx="640080" cy="36576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2651760"/>
            <a:ext cx="640080" cy="36576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2651760"/>
            <a:ext cx="640080" cy="36576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206240" y="2651760"/>
            <a:ext cx="640080" cy="36576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3063240"/>
            <a:ext cx="640080" cy="365760"/>
          </a:xfrm>
          <a:prstGeom prst="rect">
            <a:avLst/>
          </a:prstGeom>
          <a:solidFill>
            <a:srgbClr val="5C5C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48840" y="3063240"/>
            <a:ext cx="640080" cy="36576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063240"/>
            <a:ext cx="640080" cy="365760"/>
          </a:xfrm>
          <a:prstGeom prst="rect">
            <a:avLst/>
          </a:prstGeom>
          <a:solidFill>
            <a:srgbClr val="4B3B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3063240"/>
            <a:ext cx="640080" cy="36576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206240" y="3063240"/>
            <a:ext cx="640080" cy="36576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9" name="Shape 27"/>
          <p:cNvSpPr/>
          <p:nvPr/>
        </p:nvSpPr>
        <p:spPr>
          <a:xfrm>
            <a:off x="5349240" y="1417320"/>
            <a:ext cx="2743200" cy="237744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1463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Panel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532120" y="1783080"/>
            <a:ext cx="237744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2" name="Shape 30"/>
          <p:cNvSpPr/>
          <p:nvPr/>
        </p:nvSpPr>
        <p:spPr>
          <a:xfrm>
            <a:off x="5532120" y="2148840"/>
            <a:ext cx="237744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3" name="Shape 31"/>
          <p:cNvSpPr/>
          <p:nvPr/>
        </p:nvSpPr>
        <p:spPr>
          <a:xfrm>
            <a:off x="5532120" y="2514600"/>
            <a:ext cx="237744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4" name="Shape 32"/>
          <p:cNvSpPr/>
          <p:nvPr/>
        </p:nvSpPr>
        <p:spPr>
          <a:xfrm>
            <a:off x="5532120" y="2880360"/>
            <a:ext cx="164592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3931920"/>
            <a:ext cx="7452360" cy="68580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Timeline 2026 — 2030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71600" y="4389120"/>
            <a:ext cx="5943600" cy="-22860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663440"/>
            <a:ext cx="745236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9" name="Text 3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engine: shock one force, watch it propagate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expert scores, causal DAG active, no external shocks applied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Squeeze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shock → propagates to Government, Technology, Customer, Consumer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7627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Disruption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286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shock → propagates to Consumer adoption, Competitive gaps, Channel shift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72491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834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shock → propagates to Customer margin pressure, Consumer trading down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27355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Cascade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shock → propagates through DAG with calibrated lag structure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82219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Storm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tail event — t-copula at 1st percentile (realistic crisis scenario)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scenarios: user shocks a specific force, the Causal DAG propagates the rest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augments human judgment — never replaces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13716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19 free-tier data sources continuously.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new developments that may affect assessments.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digest: "3 new signals detected."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GDELT · GNews · RSS · ECHA · EPO · Google Trends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657600" cy="13716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expert scores for consistency.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against real-world trajectory data.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systematic biases: optimism, anchoring, recency.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consistency checks + external benchmarks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3657600" cy="13716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78892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62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Narrator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Shift Matrix into executive narrative.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causal propagation in plain language.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percentages — never currency amounts.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LLM-generated from relative data only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46320" y="2788920"/>
            <a:ext cx="3657600" cy="13716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78892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862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about the model.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requiring financials get redirected: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work with relative shifts only."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Conversational AI layer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Provider-agnostic: Claude API (MVP) → Azure OpenAI (production) via single config change.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proven, enterprise-grade technology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60720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· SciPy · Pandas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NetworkX (Causal DAG)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Monte Carlo,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dependencies,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propagation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1938528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057400"/>
            <a:ext cx="1828800" cy="6400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Pydantic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(local store)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OpenPyXL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validation,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zero-financial schema,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07208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926080"/>
            <a:ext cx="1828800" cy="6400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· Vite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 · Recharts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· Framer Motion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War Room,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animations,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Apple-grade UX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675888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794760"/>
            <a:ext cx="1828800" cy="6400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Provider ABC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API / Azure OpenAI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Free-Tier Data APIs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scanning,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narration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2793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running cost: €0/year — All 19 external APIs are free tier. No vendor lock-in.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with the DX team: from MVP to enterprise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engine, CLI,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output.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concept.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1188720"/>
            <a:ext cx="256032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188720"/>
            <a:ext cx="256032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Team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92240" y="1188720"/>
            <a:ext cx="256032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188720"/>
            <a:ext cx="256032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Owned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tenant hosting,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access control,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 reporting.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Team Engagement Steps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24128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MVP code + spec to DX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0" y="3877056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58768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tenant setup + CI/CD pipeline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877056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93408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+ InfoSec approval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4288536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288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24128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deployment + SSO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6160" y="4288536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4288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58768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288536"/>
            <a:ext cx="201168" cy="20116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4288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93408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quarterly model updates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delivery — each phase adds standalone value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7680960" cy="0"/>
          </a:xfrm>
          <a:prstGeom prst="line">
            <a:avLst/>
          </a:prstGeom>
          <a:noFill/>
          <a:ln w="254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37360"/>
            <a:ext cx="365760" cy="365760"/>
          </a:xfrm>
          <a:prstGeom prst="oval">
            <a:avLst/>
          </a:prstGeom>
          <a:solidFill>
            <a:srgbClr val="E1000F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Calibration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V1–V11,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parameters,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credibility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365760" cy="36576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 (CLI)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1–3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3464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DAG, optimizer,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output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1737360"/>
            <a:ext cx="365760" cy="36576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4–6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heatmap,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visualization,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center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9520" y="1737360"/>
            <a:ext cx="365760" cy="36576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7–9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2376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scanner, calibrator,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narrator, chat interface,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1330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standalone value. Phase 1 alone replaces the current assessment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probabilistic, causally-structured simulation. Every subsequent phase compounds the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914400" cy="27432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57400"/>
            <a:ext cx="365760" cy="3657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PULSE as the strategic profit pool simulation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365760" cy="3657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DX resources for cloud deployment (Phase 2–3)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365760" cy="36576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pilot run with one business unit (Hair or LHC)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built. The methodology is proven.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to simulate — it's how fast we can scale.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Profit Pool Intelligence Engine</dc:title>
  <dc:subject>PptxGenJS Presentation</dc:subject>
  <dc:creator>Strategy Team</dc:creator>
  <cp:lastModifiedBy>Strategy Team</cp:lastModifiedBy>
  <cp:revision>1</cp:revision>
  <dcterms:created xsi:type="dcterms:W3CDTF">2026-03-26T22:14:59Z</dcterms:created>
  <dcterms:modified xsi:type="dcterms:W3CDTF">2026-03-26T22:14:59Z</dcterms:modified>
</cp:coreProperties>
</file>