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image" Target="../media/image-15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1000" kern="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Pool Simulation Engine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286000" cy="0"/>
          </a:xfrm>
          <a:prstGeom prst="line">
            <a:avLst/>
          </a:prstGeom>
          <a:noFill/>
          <a:ln w="31750">
            <a:solidFill>
              <a:srgbClr val="E10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CEO Strategy Briefing  |  Henkel Consumer Brands  |  March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Bain &amp; Company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PROFIT POOL THINKING?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share alone no longer predicts value creation in FMCG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47472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growth masks margin erosion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234440" y="18928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label captures 2-3pp of profit pool annually in core European markets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974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651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Forces interact causally, not independently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234440" y="29443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Regulation drives reformulation cost, which shifts shelf price, which changes consumer behavior</a:t>
            </a:r>
            <a:endParaRPr lang="en-US" sz="9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49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models miss structural shifts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234440" y="39959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Excel-based assessment lacks probabilistic rigor and causal propagation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206240" y="2560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5120640" y="1097280"/>
            <a:ext cx="34747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1000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303520" y="1234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756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ANSWER: PULSE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64592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80644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where profit migrates — before the P&amp;L shows it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806440" y="18928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Probabilistic simulation gives 2-3 year lead time on structural shifts</a:t>
            </a:r>
            <a:endParaRPr lang="en-US" sz="9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269748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806440" y="2651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propagation models real-world interdependencies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5806440" y="29443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regulatory shock cascades through technology, cost, and consumer behavior</a:t>
            </a:r>
            <a:endParaRPr lang="en-US" sz="9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374904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806440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Allocate resources to highest-value pools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5806440" y="39959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Optimizer recommends where to invest, defend, or harvest across 12 categories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29" name="Text 21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PROFIT POOL ENGINE DELIVERS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living decision platform, not a static report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560320" cy="35661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12344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4173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10,000+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31520" y="3063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Monte Carlo iterations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77240" y="33832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hierarchical model with copula dependencies produces probability distributions — not point estimates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83280" y="1051560"/>
            <a:ext cx="2560320" cy="35661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Shape 10"/>
          <p:cNvSpPr/>
          <p:nvPr/>
        </p:nvSpPr>
        <p:spPr>
          <a:xfrm>
            <a:off x="4251960" y="12344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4173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6616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3200" dirty="0"/>
          </a:p>
        </p:txBody>
      </p:sp>
      <p:sp>
        <p:nvSpPr>
          <p:cNvPr id="17" name="Text 13"/>
          <p:cNvSpPr/>
          <p:nvPr/>
        </p:nvSpPr>
        <p:spPr>
          <a:xfrm>
            <a:off x="3566160" y="3063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DAG edges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611880" y="33832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Forces propagate through directed causal paths with lag structures — a regulatory shock ripples through the entire system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217920" y="1051560"/>
            <a:ext cx="2560320" cy="35661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Shape 16"/>
          <p:cNvSpPr/>
          <p:nvPr/>
        </p:nvSpPr>
        <p:spPr>
          <a:xfrm>
            <a:off x="7086600" y="12344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41732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0080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3200" dirty="0"/>
          </a:p>
        </p:txBody>
      </p:sp>
      <p:sp>
        <p:nvSpPr>
          <p:cNvPr id="24" name="Text 19"/>
          <p:cNvSpPr/>
          <p:nvPr/>
        </p:nvSpPr>
        <p:spPr>
          <a:xfrm>
            <a:off x="6400800" y="3063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 optimized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6446520" y="33832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allocation optimizer produces invest / defend / harvest recommendations based on expected pool shifts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27" name="Text 22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FORCES RESHAPING PROFIT POOLS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force is causally linked — a shock in one propagates through the system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560320" cy="17373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828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beauty, premiumization,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sustainability consciousness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83280" y="1051560"/>
            <a:ext cx="2560320" cy="17373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2801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6052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611880" y="1828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consolidation, private label,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e-commerce channel shift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217920" y="1051560"/>
            <a:ext cx="2560320" cy="17373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801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9516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446520" y="1828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personalization, biotech ingredients,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Product Passport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48640" y="3017520"/>
            <a:ext cx="2560320" cy="17373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4612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77240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Green Deal, REACH/CLP,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CSRD, microplastics ban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383280" y="3017520"/>
            <a:ext cx="2560320" cy="17373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24612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160520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3611880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Climate regulation, water scarcity,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circular economy mandates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217920" y="3017520"/>
            <a:ext cx="2560320" cy="17373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24612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95160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6446520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P&amp;G premiumization, Unilever M&amp;A,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indie brand disruption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548640" y="46634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709160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22960" y="47091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Forces are connected via a Causal DAG — 16 directed edges with propagation weights and lag structures</a:t>
            </a:r>
            <a:endParaRPr lang="en-US" sz="800" dirty="0"/>
          </a:p>
        </p:txBody>
      </p:sp>
      <p:sp>
        <p:nvSpPr>
          <p:cNvPr id="32" name="Text 23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33" name="Text 24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LENSES, ONE TRUTH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Shift Matrix, two purpose-built interfaces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794760" cy="35661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War Room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645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web dashboard for the strategy team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137160" cy="137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re-simulation on score changes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77440"/>
            <a:ext cx="137160" cy="1371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heatmap with drill-down panels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743200"/>
            <a:ext cx="137160" cy="1371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DAG flow visualization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108960"/>
            <a:ext cx="137160" cy="1371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3108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Monte Carlo distributions + tornado charts</a:t>
            </a:r>
            <a:endParaRPr lang="en-US" sz="9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474720"/>
            <a:ext cx="137160" cy="13716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0584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comparison engine</a:t>
            </a:r>
            <a:endParaRPr lang="en-US" sz="9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840480"/>
            <a:ext cx="137160" cy="13716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0584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trend scanner + chat interface</a:t>
            </a:r>
            <a:endParaRPr lang="en-US" sz="950" dirty="0"/>
          </a:p>
        </p:txBody>
      </p:sp>
      <p:sp>
        <p:nvSpPr>
          <p:cNvPr id="21" name="Shape 12"/>
          <p:cNvSpPr/>
          <p:nvPr/>
        </p:nvSpPr>
        <p:spPr>
          <a:xfrm>
            <a:off x="548640" y="4251960"/>
            <a:ext cx="3794760" cy="3657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2" name="Text 13"/>
          <p:cNvSpPr/>
          <p:nvPr/>
        </p:nvSpPr>
        <p:spPr>
          <a:xfrm>
            <a:off x="777240" y="4270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Format: Relative %  |  Audience: Strategy Team</a:t>
            </a:r>
            <a:endParaRPr lang="en-US" sz="800" dirty="0"/>
          </a:p>
        </p:txBody>
      </p:sp>
      <p:sp>
        <p:nvSpPr>
          <p:cNvPr id="23" name="Shape 14"/>
          <p:cNvSpPr/>
          <p:nvPr/>
        </p:nvSpPr>
        <p:spPr>
          <a:xfrm>
            <a:off x="4800600" y="1051560"/>
            <a:ext cx="3794760" cy="35661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1234440"/>
            <a:ext cx="320040" cy="32004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44068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Reporting</a:t>
            </a:r>
            <a:endParaRPr lang="en-US" sz="1400" dirty="0"/>
          </a:p>
        </p:txBody>
      </p:sp>
      <p:sp>
        <p:nvSpPr>
          <p:cNvPr id="26" name="Text 16"/>
          <p:cNvSpPr/>
          <p:nvPr/>
        </p:nvSpPr>
        <p:spPr>
          <a:xfrm>
            <a:off x="5029200" y="1645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PowerPoint + Power BI for ExCo and Finance</a:t>
            </a:r>
            <a:endParaRPr lang="en-US" sz="9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2011680"/>
            <a:ext cx="137160" cy="13716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25780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Auto-generated executive narrative deck</a:t>
            </a:r>
            <a:endParaRPr lang="en-US" sz="9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2377440"/>
            <a:ext cx="137160" cy="13716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25780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dashboard with actual €M financials</a:t>
            </a:r>
            <a:endParaRPr lang="en-US" sz="9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2743200"/>
            <a:ext cx="137160" cy="13716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25780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Matrix applied to GP1 (absolute terms)</a:t>
            </a:r>
            <a:endParaRPr lang="en-US" sz="95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3108960"/>
            <a:ext cx="137160" cy="13716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257800" y="3108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Board-ready scenario comparison</a:t>
            </a:r>
            <a:endParaRPr lang="en-US" sz="95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0" y="3474720"/>
            <a:ext cx="137160" cy="137160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525780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Backtesting accuracy report</a:t>
            </a:r>
            <a:endParaRPr lang="en-US" sz="95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9200" y="3840480"/>
            <a:ext cx="137160" cy="137160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525780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export from War Room</a:t>
            </a:r>
            <a:endParaRPr lang="en-US" sz="950" dirty="0"/>
          </a:p>
        </p:txBody>
      </p:sp>
      <p:sp>
        <p:nvSpPr>
          <p:cNvPr id="39" name="Shape 23"/>
          <p:cNvSpPr/>
          <p:nvPr/>
        </p:nvSpPr>
        <p:spPr>
          <a:xfrm>
            <a:off x="4800600" y="4251960"/>
            <a:ext cx="3794760" cy="36576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40" name="Text 24"/>
          <p:cNvSpPr/>
          <p:nvPr/>
        </p:nvSpPr>
        <p:spPr>
          <a:xfrm>
            <a:off x="5029200" y="4270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Format: Absolute €M  |  Audience: ExCo / Finance</a:t>
            </a:r>
            <a:endParaRPr lang="en-US" sz="800" dirty="0"/>
          </a:p>
        </p:txBody>
      </p:sp>
      <p:sp>
        <p:nvSpPr>
          <p:cNvPr id="41" name="Text 25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42" name="Text 26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MODEL WORKS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Four-step methodology from trend identification to profit pool impact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88720" y="1600200"/>
            <a:ext cx="676656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280160"/>
            <a:ext cx="640080" cy="6400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3172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Trend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Scanning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3017520"/>
            <a:ext cx="1645920" cy="14630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54680"/>
            <a:ext cx="109728" cy="1097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free data APIs</a:t>
            </a:r>
            <a:endParaRPr lang="en-US" sz="9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66160"/>
            <a:ext cx="109728" cy="1097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+ news + patents</a:t>
            </a:r>
            <a:endParaRPr lang="en-US" sz="9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77640"/>
            <a:ext cx="109728" cy="1097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signal digest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3246120" y="1280160"/>
            <a:ext cx="640080" cy="6400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141732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48056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2834640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283464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Delphi Expert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2743200" y="3017520"/>
            <a:ext cx="1645920" cy="14630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3154680"/>
            <a:ext cx="109728" cy="10972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01752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1: Blind scoring</a:t>
            </a:r>
            <a:endParaRPr lang="en-US" sz="9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4640" y="3566160"/>
            <a:ext cx="109728" cy="10972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01752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2: Calibrated re-score</a:t>
            </a:r>
            <a:endParaRPr lang="en-US" sz="9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4640" y="3977640"/>
            <a:ext cx="109728" cy="10972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01752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3: Consensus</a:t>
            </a:r>
            <a:endParaRPr lang="en-US" sz="900" dirty="0"/>
          </a:p>
        </p:txBody>
      </p:sp>
      <p:sp>
        <p:nvSpPr>
          <p:cNvPr id="30" name="Shape 20"/>
          <p:cNvSpPr/>
          <p:nvPr/>
        </p:nvSpPr>
        <p:spPr>
          <a:xfrm>
            <a:off x="5394960" y="1280160"/>
            <a:ext cx="640080" cy="6400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2120" y="1417320"/>
            <a:ext cx="365760" cy="36576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62940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4983480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34" name="Text 23"/>
          <p:cNvSpPr/>
          <p:nvPr/>
        </p:nvSpPr>
        <p:spPr>
          <a:xfrm>
            <a:off x="498348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Monte Carlo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35" name="Shape 24"/>
          <p:cNvSpPr/>
          <p:nvPr/>
        </p:nvSpPr>
        <p:spPr>
          <a:xfrm>
            <a:off x="4892040" y="3017520"/>
            <a:ext cx="1645920" cy="14630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3154680"/>
            <a:ext cx="109728" cy="10972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16636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hierarchical</a:t>
            </a:r>
            <a:endParaRPr lang="en-US" sz="9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3480" y="3566160"/>
            <a:ext cx="109728" cy="10972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516636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Copula dependencies</a:t>
            </a:r>
            <a:endParaRPr lang="en-US" sz="9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83480" y="3977640"/>
            <a:ext cx="109728" cy="109728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516636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DAG propagation</a:t>
            </a:r>
            <a:endParaRPr lang="en-US" sz="900" dirty="0"/>
          </a:p>
        </p:txBody>
      </p:sp>
      <p:sp>
        <p:nvSpPr>
          <p:cNvPr id="42" name="Shape 28"/>
          <p:cNvSpPr/>
          <p:nvPr/>
        </p:nvSpPr>
        <p:spPr>
          <a:xfrm>
            <a:off x="7543800" y="1280160"/>
            <a:ext cx="640080" cy="6400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80960" y="1417320"/>
            <a:ext cx="365760" cy="365760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7132320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45" name="Text 30"/>
          <p:cNvSpPr/>
          <p:nvPr/>
        </p:nvSpPr>
        <p:spPr>
          <a:xfrm>
            <a:off x="713232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Pool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1300" dirty="0"/>
          </a:p>
        </p:txBody>
      </p:sp>
      <p:sp>
        <p:nvSpPr>
          <p:cNvPr id="46" name="Shape 31"/>
          <p:cNvSpPr/>
          <p:nvPr/>
        </p:nvSpPr>
        <p:spPr>
          <a:xfrm>
            <a:off x="7040880" y="3017520"/>
            <a:ext cx="1645920" cy="14630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32320" y="3154680"/>
            <a:ext cx="109728" cy="109728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731520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Matrix output</a:t>
            </a:r>
            <a:endParaRPr lang="en-US" sz="900" dirty="0"/>
          </a:p>
        </p:txBody>
      </p:sp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32320" y="3566160"/>
            <a:ext cx="109728" cy="109728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731520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5-year continuous paths</a:t>
            </a:r>
            <a:endParaRPr lang="en-US" sz="900" dirty="0"/>
          </a:p>
        </p:txBody>
      </p:sp>
      <p:pic>
        <p:nvPicPr>
          <p:cNvPr id="5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32320" y="3977640"/>
            <a:ext cx="109728" cy="109728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731520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Allocation optimizer</a:t>
            </a:r>
            <a:endParaRPr lang="en-US" sz="900" dirty="0"/>
          </a:p>
        </p:txBody>
      </p:sp>
      <p:sp>
        <p:nvSpPr>
          <p:cNvPr id="53" name="Text 35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54" name="Text 36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DIMENSIONS OF IMPACT ASSESSMENT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trend is scored across multiple axes to capture the full economic picture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60120" y="2011680"/>
            <a:ext cx="868680" cy="0"/>
          </a:xfrm>
          <a:prstGeom prst="line">
            <a:avLst/>
          </a:prstGeom>
          <a:noFill/>
          <a:ln w="19050">
            <a:solidFill>
              <a:srgbClr val="E1000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194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Impact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Color, Care, Styling, Body, FCN, FCA, FFI, LAD, HDW, ADW, HSC, IC — each scored 0-5 per trend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60320" y="1097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3+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2560320" y="17373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08960" y="2011680"/>
            <a:ext cx="868680" cy="0"/>
          </a:xfrm>
          <a:prstGeom prst="line">
            <a:avLst/>
          </a:prstGeom>
          <a:noFill/>
          <a:ln w="19050">
            <a:solidFill>
              <a:srgbClr val="E1000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19456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2194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Lens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697480" y="26060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Europe, North America, Emerging Markets — tailored force weightings by market context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09160" y="1097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4000" dirty="0"/>
          </a:p>
        </p:txBody>
      </p:sp>
      <p:sp>
        <p:nvSpPr>
          <p:cNvPr id="18" name="Text 14"/>
          <p:cNvSpPr/>
          <p:nvPr/>
        </p:nvSpPr>
        <p:spPr>
          <a:xfrm>
            <a:off x="4709160" y="17373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VC steps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257800" y="2011680"/>
            <a:ext cx="868680" cy="0"/>
          </a:xfrm>
          <a:prstGeom prst="line">
            <a:avLst/>
          </a:prstGeom>
          <a:noFill/>
          <a:ln w="19050">
            <a:solidFill>
              <a:srgbClr val="E1000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19456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577840" y="2194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Chain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846320" y="26060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Materials through After-Sales — where in the chain does each trend hit hardest?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858000" y="1097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2-25%</a:t>
            </a:r>
            <a:endParaRPr lang="en-US" sz="4000" dirty="0"/>
          </a:p>
        </p:txBody>
      </p:sp>
      <p:sp>
        <p:nvSpPr>
          <p:cNvPr id="24" name="Text 19"/>
          <p:cNvSpPr/>
          <p:nvPr/>
        </p:nvSpPr>
        <p:spPr>
          <a:xfrm>
            <a:off x="6858000" y="17373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GP1 cap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7406640" y="2011680"/>
            <a:ext cx="868680" cy="0"/>
          </a:xfrm>
          <a:prstGeom prst="line">
            <a:avLst/>
          </a:prstGeom>
          <a:noFill/>
          <a:ln w="19050">
            <a:solidFill>
              <a:srgbClr val="E1000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19456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726680" y="2194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 of GP1 Affected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995160" y="26060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Economic anchor: each trend can only touch a bounded fraction of a category’s profit pool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30" name="Text 24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 DETAIL 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trend is scored, validated, and mapped to categories with full transparency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38912" y="896112"/>
            <a:ext cx="8266176" cy="3968496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475569"/>
            </a:solidFill>
            <a:prstDash val="solid"/>
          </a:ln>
        </p:spPr>
      </p:sp>
      <p:pic>
        <p:nvPicPr>
          <p:cNvPr id="6" name="Image 0" descr="/sessions/compassionate-sweet-ride/screenshot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 ROOM — UNIFIED COMMAND 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screen tells the complete story: KPIs, heatmap, path projections, and causal flow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38912" y="896112"/>
            <a:ext cx="8266176" cy="3968496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475569"/>
            </a:solidFill>
            <a:prstDash val="solid"/>
          </a:ln>
        </p:spPr>
      </p:sp>
      <p:pic>
        <p:nvPicPr>
          <p:cNvPr id="6" name="Image 0" descr="/sessions/compassionate-sweet-ride/screenshot_war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× FORCE SHIFT MATRIX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Percentage shift in category profit pool by strategic force — the core analytical output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38912" y="896112"/>
            <a:ext cx="8266176" cy="3968496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475569"/>
            </a:solidFill>
            <a:prstDash val="solid"/>
          </a:ln>
        </p:spPr>
      </p:sp>
      <p:pic>
        <p:nvPicPr>
          <p:cNvPr id="6" name="Image 0" descr="/sessions/compassionate-sweet-ride/screenshot_category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Enterprise-grade, deployed within Henkel cloud — zero running cost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560320" cy="35204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234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 Engine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34440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3.11+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77240" y="1783080"/>
            <a:ext cx="21031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960"/>
            <a:ext cx="109728" cy="1097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REST server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68880"/>
            <a:ext cx="109728" cy="1097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MC (SciPy/NumPy)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971800"/>
            <a:ext cx="109728" cy="1097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NetworkX Causal DAG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474720"/>
            <a:ext cx="109728" cy="10972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012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local data store</a:t>
            </a:r>
            <a:endParaRPr lang="en-US" sz="9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977640"/>
            <a:ext cx="109728" cy="10972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6012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Copula dependency model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3383280" y="1051560"/>
            <a:ext cx="2560320" cy="35204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1234440"/>
            <a:ext cx="365760" cy="36576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069080" y="1234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 Room Dashboard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4069080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Vite</a:t>
            </a:r>
            <a:endParaRPr lang="en-US" sz="900" dirty="0"/>
          </a:p>
        </p:txBody>
      </p:sp>
      <p:sp>
        <p:nvSpPr>
          <p:cNvPr id="24" name="Shape 15"/>
          <p:cNvSpPr/>
          <p:nvPr/>
        </p:nvSpPr>
        <p:spPr>
          <a:xfrm>
            <a:off x="3611880" y="1783080"/>
            <a:ext cx="21031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1880" y="1965960"/>
            <a:ext cx="109728" cy="10972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79476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D3.js / Recharts visualization</a:t>
            </a:r>
            <a:endParaRPr lang="en-US" sz="9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1880" y="2468880"/>
            <a:ext cx="109728" cy="10972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79476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TailwindCSS dark mode</a:t>
            </a:r>
            <a:endParaRPr lang="en-US" sz="9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1880" y="2971800"/>
            <a:ext cx="109728" cy="10972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79476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Framer Motion animations</a:t>
            </a:r>
            <a:endParaRPr lang="en-US" sz="9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1880" y="3474720"/>
            <a:ext cx="109728" cy="109728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379476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Zustand + TanStack Query</a:t>
            </a:r>
            <a:endParaRPr lang="en-US" sz="95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11880" y="3977640"/>
            <a:ext cx="109728" cy="10972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379476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60fps Apple-grade UX</a:t>
            </a:r>
            <a:endParaRPr lang="en-US" sz="950" dirty="0"/>
          </a:p>
        </p:txBody>
      </p:sp>
      <p:sp>
        <p:nvSpPr>
          <p:cNvPr id="35" name="Shape 21"/>
          <p:cNvSpPr/>
          <p:nvPr/>
        </p:nvSpPr>
        <p:spPr>
          <a:xfrm>
            <a:off x="6217920" y="1051560"/>
            <a:ext cx="2560320" cy="35204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6520" y="1234440"/>
            <a:ext cx="365760" cy="36576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6903720" y="1234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&amp; Integration</a:t>
            </a:r>
            <a:endParaRPr lang="en-US" sz="1200" dirty="0"/>
          </a:p>
        </p:txBody>
      </p:sp>
      <p:sp>
        <p:nvSpPr>
          <p:cNvPr id="38" name="Text 23"/>
          <p:cNvSpPr/>
          <p:nvPr/>
        </p:nvSpPr>
        <p:spPr>
          <a:xfrm>
            <a:off x="6903720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Provider-agnostic</a:t>
            </a:r>
            <a:endParaRPr lang="en-US" sz="900" dirty="0"/>
          </a:p>
        </p:txBody>
      </p:sp>
      <p:sp>
        <p:nvSpPr>
          <p:cNvPr id="39" name="Shape 24"/>
          <p:cNvSpPr/>
          <p:nvPr/>
        </p:nvSpPr>
        <p:spPr>
          <a:xfrm>
            <a:off x="6446520" y="1783080"/>
            <a:ext cx="21031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6520" y="1965960"/>
            <a:ext cx="109728" cy="109728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662940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API → Azure OpenAI</a:t>
            </a:r>
            <a:endParaRPr lang="en-US" sz="950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6520" y="2468880"/>
            <a:ext cx="109728" cy="109728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662940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free external data APIs</a:t>
            </a:r>
            <a:endParaRPr lang="en-US" sz="950" dirty="0"/>
          </a:p>
        </p:txBody>
      </p:sp>
      <p:pic>
        <p:nvPicPr>
          <p:cNvPr id="4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6520" y="2971800"/>
            <a:ext cx="109728" cy="109728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662940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Shift Matrix export</a:t>
            </a:r>
            <a:endParaRPr lang="en-US" sz="950" dirty="0"/>
          </a:p>
        </p:txBody>
      </p:sp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46520" y="3474720"/>
            <a:ext cx="109728" cy="109728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662940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bidirectional bridge</a:t>
            </a:r>
            <a:endParaRPr lang="en-US" sz="950" dirty="0"/>
          </a:p>
        </p:txBody>
      </p:sp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46520" y="3977640"/>
            <a:ext cx="109728" cy="109728"/>
          </a:xfrm>
          <a:prstGeom prst="rect">
            <a:avLst/>
          </a:prstGeom>
        </p:spPr>
      </p:pic>
      <p:sp>
        <p:nvSpPr>
          <p:cNvPr id="49" name="Text 29"/>
          <p:cNvSpPr/>
          <p:nvPr/>
        </p:nvSpPr>
        <p:spPr>
          <a:xfrm>
            <a:off x="662940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€0/year running cost</a:t>
            </a:r>
            <a:endParaRPr lang="en-US" sz="950" dirty="0"/>
          </a:p>
        </p:txBody>
      </p:sp>
      <p:sp>
        <p:nvSpPr>
          <p:cNvPr id="50" name="Text 30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51" name="Text 31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— MVP TO ENTERPRISE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phases, each delivering standalone value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5486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1399032"/>
            <a:ext cx="274320" cy="27432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43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2377440" cy="27432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2011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Engine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3000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Progress</a:t>
            </a:r>
            <a:endParaRPr lang="en-US" sz="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06040"/>
            <a:ext cx="109728" cy="1097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 reads V12 Excel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63240"/>
            <a:ext cx="109728" cy="1097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MC + causal DAG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20440"/>
            <a:ext cx="109728" cy="1097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Continuous-path Shift Matrix</a:t>
            </a:r>
            <a:endParaRPr lang="en-US" sz="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977640"/>
            <a:ext cx="109728" cy="1097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144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V12 parity validation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4343400" y="139903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1" name="Text 14"/>
          <p:cNvSpPr/>
          <p:nvPr/>
        </p:nvSpPr>
        <p:spPr>
          <a:xfrm>
            <a:off x="3749040" y="1143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2026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3291840" y="1874520"/>
            <a:ext cx="2377440" cy="27432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2011680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886200" y="2011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 Room Dashboard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3886200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</a:t>
            </a:r>
            <a:endParaRPr lang="en-US" sz="8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2606040"/>
            <a:ext cx="109728" cy="10972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6576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SPA with heatmap</a:t>
            </a:r>
            <a:endParaRPr lang="en-US" sz="9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3063240"/>
            <a:ext cx="109728" cy="10972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6576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flow animation</a:t>
            </a:r>
            <a:endParaRPr lang="en-US" sz="95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3520440"/>
            <a:ext cx="109728" cy="10972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6576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comparison</a:t>
            </a:r>
            <a:endParaRPr lang="en-US" sz="95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0" y="3977640"/>
            <a:ext cx="109728" cy="10972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36576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center (PPT/PDF/XLS)</a:t>
            </a:r>
            <a:endParaRPr lang="en-US" sz="950" dirty="0"/>
          </a:p>
        </p:txBody>
      </p:sp>
      <p:sp>
        <p:nvSpPr>
          <p:cNvPr id="34" name="Shape 22"/>
          <p:cNvSpPr/>
          <p:nvPr/>
        </p:nvSpPr>
        <p:spPr>
          <a:xfrm>
            <a:off x="7086600" y="139903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5" name="Text 23"/>
          <p:cNvSpPr/>
          <p:nvPr/>
        </p:nvSpPr>
        <p:spPr>
          <a:xfrm>
            <a:off x="6492240" y="1143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 2026</a:t>
            </a:r>
            <a:endParaRPr lang="en-US" sz="900" dirty="0"/>
          </a:p>
        </p:txBody>
      </p:sp>
      <p:sp>
        <p:nvSpPr>
          <p:cNvPr id="36" name="Shape 24"/>
          <p:cNvSpPr/>
          <p:nvPr/>
        </p:nvSpPr>
        <p:spPr>
          <a:xfrm>
            <a:off x="6035040" y="1874520"/>
            <a:ext cx="2377440" cy="27432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7920" y="2011680"/>
            <a:ext cx="320040" cy="32004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629400" y="2011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+ Power BI</a:t>
            </a:r>
            <a:endParaRPr lang="en-US" sz="1200" dirty="0"/>
          </a:p>
        </p:txBody>
      </p:sp>
      <p:sp>
        <p:nvSpPr>
          <p:cNvPr id="39" name="Text 26"/>
          <p:cNvSpPr/>
          <p:nvPr/>
        </p:nvSpPr>
        <p:spPr>
          <a:xfrm>
            <a:off x="6629400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</a:t>
            </a:r>
            <a:endParaRPr lang="en-US" sz="8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7920" y="2606040"/>
            <a:ext cx="109728" cy="109728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4008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trend scanner</a:t>
            </a:r>
            <a:endParaRPr lang="en-US" sz="95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7920" y="3063240"/>
            <a:ext cx="109728" cy="109728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64008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Delphi workflow integration</a:t>
            </a:r>
            <a:endParaRPr lang="en-US" sz="950" dirty="0"/>
          </a:p>
        </p:txBody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7920" y="3520440"/>
            <a:ext cx="109728" cy="109728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64008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 chat interface</a:t>
            </a:r>
            <a:endParaRPr lang="en-US" sz="950" dirty="0"/>
          </a:p>
        </p:txBody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7920" y="3977640"/>
            <a:ext cx="109728" cy="109728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64008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Power BI sync</a:t>
            </a:r>
            <a:endParaRPr lang="en-US" sz="950" dirty="0"/>
          </a:p>
        </p:txBody>
      </p:sp>
      <p:sp>
        <p:nvSpPr>
          <p:cNvPr id="48" name="Text 31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49" name="Text 32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OPERATING RHYTHM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embeds into the existing annual planning cycle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DEEP DIVES (1-2x PER YEAR)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88720" y="1783080"/>
            <a:ext cx="676656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463040"/>
            <a:ext cx="640080" cy="64008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002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Trend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scanner refreshes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 database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154680" y="1463040"/>
            <a:ext cx="640080" cy="64008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6002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3464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83464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Delphi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83464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3-round expert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 protocol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303520" y="1463040"/>
            <a:ext cx="640080" cy="64008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8348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98348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MC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98348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50,000 iterations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causal DAG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7452360" y="1463040"/>
            <a:ext cx="640080" cy="64008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60020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3232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Q2-Q4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713232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13232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Matrix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ExCo + Power BI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411480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548640" y="3703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756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MONITORING (ALWAYS ON)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548640" y="3977640"/>
            <a:ext cx="8046720" cy="6858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50792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51560" y="4023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Trend Scanner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1051560" y="4251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signal digest</a:t>
            </a:r>
            <a:endParaRPr lang="en-US" sz="8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4050792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063240" y="4023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Early-Warning Triggers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3063240" y="4251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Threshold alerts</a:t>
            </a:r>
            <a:endParaRPr lang="en-US" sz="8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050792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074920" y="4023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Velocity Tracking</a:t>
            </a:r>
            <a:endParaRPr lang="en-US" sz="950" dirty="0"/>
          </a:p>
        </p:txBody>
      </p:sp>
      <p:sp>
        <p:nvSpPr>
          <p:cNvPr id="38" name="Text 29"/>
          <p:cNvSpPr/>
          <p:nvPr/>
        </p:nvSpPr>
        <p:spPr>
          <a:xfrm>
            <a:off x="5074920" y="4251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speed monitoring</a:t>
            </a:r>
            <a:endParaRPr lang="en-US" sz="8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4050792"/>
            <a:ext cx="228600" cy="22860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086600" y="4023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Refresh</a:t>
            </a:r>
            <a:endParaRPr lang="en-US" sz="950" dirty="0"/>
          </a:p>
        </p:txBody>
      </p:sp>
      <p:sp>
        <p:nvSpPr>
          <p:cNvPr id="41" name="Text 31"/>
          <p:cNvSpPr/>
          <p:nvPr/>
        </p:nvSpPr>
        <p:spPr>
          <a:xfrm>
            <a:off x="7086600" y="4251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10K iter. on demand</a:t>
            </a:r>
            <a:endParaRPr lang="en-US" sz="800" dirty="0"/>
          </a:p>
        </p:txBody>
      </p:sp>
      <p:sp>
        <p:nvSpPr>
          <p:cNvPr id="42" name="Text 32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43" name="Text 33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STATIC EXCEL TO LIVING SIMULATION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current V12 model cannot capture structural profit pool shifts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794760" cy="35661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51560"/>
            <a:ext cx="3794760" cy="457200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1247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Current: V12 Excel Model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6459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estimates only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42316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best-guess scores — no probability distributions or confidence intervals</a:t>
            </a:r>
            <a:endParaRPr lang="en-US" sz="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21992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1762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Independent forces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2423160" y="21762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force scored in isolation — no causal links between regulation, tech, and consumer shifts</a:t>
            </a:r>
            <a:endParaRPr lang="en-US" sz="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52344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27066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time horizons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2423160" y="27066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Mid-term and long-term snapshots only — no path velocity or early-warning triggers</a:t>
            </a:r>
            <a:endParaRPr lang="en-US" sz="8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82696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05840" y="323697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Manual, annual refresh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2423160" y="32369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weeks of manual scoring — no AI trend scanning or continuous monitoring</a:t>
            </a:r>
            <a:endParaRPr lang="en-US" sz="8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813048"/>
            <a:ext cx="182880" cy="1828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05840" y="37673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optimization</a:t>
            </a:r>
            <a:endParaRPr lang="en-US" sz="950" dirty="0"/>
          </a:p>
        </p:txBody>
      </p:sp>
      <p:sp>
        <p:nvSpPr>
          <p:cNvPr id="23" name="Text 15"/>
          <p:cNvSpPr/>
          <p:nvPr/>
        </p:nvSpPr>
        <p:spPr>
          <a:xfrm>
            <a:off x="2423160" y="3767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shifts but doesn’t recommend where to invest, defend, or harvest</a:t>
            </a:r>
            <a:endParaRPr lang="en-US" sz="800" dirty="0"/>
          </a:p>
        </p:txBody>
      </p:sp>
      <p:sp>
        <p:nvSpPr>
          <p:cNvPr id="24" name="Text 16"/>
          <p:cNvSpPr/>
          <p:nvPr/>
        </p:nvSpPr>
        <p:spPr>
          <a:xfrm>
            <a:off x="4206240" y="2560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2400" dirty="0"/>
          </a:p>
        </p:txBody>
      </p:sp>
      <p:sp>
        <p:nvSpPr>
          <p:cNvPr id="25" name="Shape 17"/>
          <p:cNvSpPr/>
          <p:nvPr/>
        </p:nvSpPr>
        <p:spPr>
          <a:xfrm>
            <a:off x="4800600" y="1051560"/>
            <a:ext cx="37947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1000F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4800600" y="1051560"/>
            <a:ext cx="3794760" cy="457200"/>
          </a:xfrm>
          <a:prstGeom prst="rect">
            <a:avLst/>
          </a:prstGeom>
          <a:solidFill>
            <a:srgbClr val="E1000F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768" y="1124712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34924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New: PULSE Simulation Engine</a:t>
            </a:r>
            <a:endParaRPr lang="en-US" sz="13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1691640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257800" y="16459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Monte Carlo</a:t>
            </a:r>
            <a:endParaRPr lang="en-US" sz="950" dirty="0"/>
          </a:p>
        </p:txBody>
      </p:sp>
      <p:sp>
        <p:nvSpPr>
          <p:cNvPr id="31" name="Text 21"/>
          <p:cNvSpPr/>
          <p:nvPr/>
        </p:nvSpPr>
        <p:spPr>
          <a:xfrm>
            <a:off x="667512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10,000+ iterations with probability distributions and confidence bands per category</a:t>
            </a:r>
            <a:endParaRPr lang="en-US" sz="8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2221992"/>
            <a:ext cx="182880" cy="18288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257800" y="21762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DAG propagation</a:t>
            </a:r>
            <a:endParaRPr lang="en-US" sz="950" dirty="0"/>
          </a:p>
        </p:txBody>
      </p:sp>
      <p:sp>
        <p:nvSpPr>
          <p:cNvPr id="34" name="Text 23"/>
          <p:cNvSpPr/>
          <p:nvPr/>
        </p:nvSpPr>
        <p:spPr>
          <a:xfrm>
            <a:off x="6675120" y="21762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directed edges model how a regulatory shock cascades through all 6 forces</a:t>
            </a:r>
            <a:endParaRPr lang="en-US" sz="8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2752344"/>
            <a:ext cx="182880" cy="18288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257800" y="27066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5-year continuous paths</a:t>
            </a:r>
            <a:endParaRPr lang="en-US" sz="950" dirty="0"/>
          </a:p>
        </p:txBody>
      </p:sp>
      <p:sp>
        <p:nvSpPr>
          <p:cNvPr id="37" name="Text 25"/>
          <p:cNvSpPr/>
          <p:nvPr/>
        </p:nvSpPr>
        <p:spPr>
          <a:xfrm>
            <a:off x="6675120" y="27066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granularity 2026–2030 with velocity tracking, acceleration, and trigger alerts</a:t>
            </a:r>
            <a:endParaRPr lang="en-US" sz="8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3480" y="3282696"/>
            <a:ext cx="182880" cy="18288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5257800" y="323697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AI-augmented, always-on</a:t>
            </a:r>
            <a:endParaRPr lang="en-US" sz="950" dirty="0"/>
          </a:p>
        </p:txBody>
      </p:sp>
      <p:sp>
        <p:nvSpPr>
          <p:cNvPr id="40" name="Text 27"/>
          <p:cNvSpPr/>
          <p:nvPr/>
        </p:nvSpPr>
        <p:spPr>
          <a:xfrm>
            <a:off x="6675120" y="32369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free APIs scan trends continuously — weekly signal digest with Delphi calibration</a:t>
            </a:r>
            <a:endParaRPr lang="en-US" sz="8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83480" y="3813048"/>
            <a:ext cx="182880" cy="182880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5257800" y="37673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Allocation optimizer</a:t>
            </a:r>
            <a:endParaRPr lang="en-US" sz="950" dirty="0"/>
          </a:p>
        </p:txBody>
      </p:sp>
      <p:sp>
        <p:nvSpPr>
          <p:cNvPr id="43" name="Text 29"/>
          <p:cNvSpPr/>
          <p:nvPr/>
        </p:nvSpPr>
        <p:spPr>
          <a:xfrm>
            <a:off x="6675120" y="3767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 / defend / harvest recommendations based on risk-adjusted expected pool shifts</a:t>
            </a:r>
            <a:endParaRPr lang="en-US" sz="800" dirty="0"/>
          </a:p>
        </p:txBody>
      </p:sp>
      <p:sp>
        <p:nvSpPr>
          <p:cNvPr id="44" name="Text 30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45" name="Text 31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DELPHI EXPERT ELICITATION PROCESS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3-round protocol eliminates bias and builds calibrated consensus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463040" y="1600200"/>
            <a:ext cx="621792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280160"/>
            <a:ext cx="640080" cy="6400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Blind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017520"/>
            <a:ext cx="2468880" cy="14630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27248"/>
            <a:ext cx="91440" cy="914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3081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Independent probability rating (1–5)</a:t>
            </a:r>
            <a:endParaRPr lang="en-US" sz="8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56432"/>
            <a:ext cx="91440" cy="914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410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Written rationale per trend</a:t>
            </a:r>
            <a:endParaRPr lang="en-US" sz="8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85616"/>
            <a:ext cx="91440" cy="914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" y="3739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visibility into others’ scores</a:t>
            </a:r>
            <a:endParaRPr lang="en-US" sz="8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14800"/>
            <a:ext cx="91440" cy="914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6868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Calibration exercise to detect bias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4434840" y="1280160"/>
            <a:ext cx="640080" cy="6400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417320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89788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365760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2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3657600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Re-Score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3520440" y="3017520"/>
            <a:ext cx="2468880" cy="14630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3127248"/>
            <a:ext cx="91440" cy="9144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840480" y="3081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Anonymized score distribution shared</a:t>
            </a:r>
            <a:endParaRPr lang="en-US" sz="8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3456432"/>
            <a:ext cx="91440" cy="9144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840480" y="3410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suggests adjustments (human review)</a:t>
            </a:r>
            <a:endParaRPr lang="en-US" sz="85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3785616"/>
            <a:ext cx="91440" cy="9144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840480" y="3739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Anchoring &amp; optimism bias flagged</a:t>
            </a:r>
            <a:endParaRPr lang="en-US" sz="85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0" y="4114800"/>
            <a:ext cx="91440" cy="9144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384048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Scorers re-rate with group context</a:t>
            </a:r>
            <a:endParaRPr lang="en-US" sz="850" dirty="0"/>
          </a:p>
        </p:txBody>
      </p:sp>
      <p:sp>
        <p:nvSpPr>
          <p:cNvPr id="34" name="Shape 22"/>
          <p:cNvSpPr/>
          <p:nvPr/>
        </p:nvSpPr>
        <p:spPr>
          <a:xfrm>
            <a:off x="7406640" y="1280160"/>
            <a:ext cx="640080" cy="6400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3800" y="1417320"/>
            <a:ext cx="365760" cy="36576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62940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3</a:t>
            </a:r>
            <a:endParaRPr lang="en-US" sz="1000" dirty="0"/>
          </a:p>
        </p:txBody>
      </p:sp>
      <p:sp>
        <p:nvSpPr>
          <p:cNvPr id="37" name="Text 24"/>
          <p:cNvSpPr/>
          <p:nvPr/>
        </p:nvSpPr>
        <p:spPr>
          <a:xfrm>
            <a:off x="6629400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Consensus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Sign-Off</a:t>
            </a:r>
            <a:endParaRPr lang="en-US" sz="1400" dirty="0"/>
          </a:p>
        </p:txBody>
      </p:sp>
      <p:sp>
        <p:nvSpPr>
          <p:cNvPr id="38" name="Shape 25"/>
          <p:cNvSpPr/>
          <p:nvPr/>
        </p:nvSpPr>
        <p:spPr>
          <a:xfrm>
            <a:off x="6492240" y="3017520"/>
            <a:ext cx="2468880" cy="14630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3127248"/>
            <a:ext cx="91440" cy="9144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812280" y="3081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Outlier discussion (top/bottom 10%)</a:t>
            </a:r>
            <a:endParaRPr lang="en-US" sz="850" dirty="0"/>
          </a:p>
        </p:txBody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9400" y="3456432"/>
            <a:ext cx="91440" cy="91440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6812280" y="3410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median = final score</a:t>
            </a:r>
            <a:endParaRPr lang="en-US" sz="850" dirty="0"/>
          </a:p>
        </p:txBody>
      </p:sp>
      <p:pic>
        <p:nvPicPr>
          <p:cNvPr id="4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9400" y="3785616"/>
            <a:ext cx="91440" cy="91440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6812280" y="3739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Scorer calibration accuracy tracked</a:t>
            </a:r>
            <a:endParaRPr lang="en-US" sz="850" dirty="0"/>
          </a:p>
        </p:txBody>
      </p:sp>
      <p:pic>
        <p:nvPicPr>
          <p:cNvPr id="4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4114800"/>
            <a:ext cx="91440" cy="91440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>
            <a:off x="681228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Inter-rater reliability (α &gt; 0.67)</a:t>
            </a:r>
            <a:endParaRPr lang="en-US" sz="850" dirty="0"/>
          </a:p>
        </p:txBody>
      </p:sp>
      <p:sp>
        <p:nvSpPr>
          <p:cNvPr id="47" name="Shape 30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4672584"/>
            <a:ext cx="118872" cy="118872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>
            <a:off x="868680" y="465429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Eliminates anchoring bias</a:t>
            </a:r>
            <a:endParaRPr lang="en-US" sz="800" dirty="0"/>
          </a:p>
        </p:txBody>
      </p:sp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97480" y="4672584"/>
            <a:ext cx="118872" cy="118872"/>
          </a:xfrm>
          <a:prstGeom prst="rect">
            <a:avLst/>
          </a:prstGeom>
        </p:spPr>
      </p:pic>
      <p:sp>
        <p:nvSpPr>
          <p:cNvPr id="51" name="Text 32"/>
          <p:cNvSpPr/>
          <p:nvPr/>
        </p:nvSpPr>
        <p:spPr>
          <a:xfrm>
            <a:off x="2880360" y="465429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auditable consensus</a:t>
            </a:r>
            <a:endParaRPr lang="en-US" sz="800" dirty="0"/>
          </a:p>
        </p:txBody>
      </p:sp>
      <p:pic>
        <p:nvPicPr>
          <p:cNvPr id="5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09160" y="4672584"/>
            <a:ext cx="118872" cy="118872"/>
          </a:xfrm>
          <a:prstGeom prst="rect">
            <a:avLst/>
          </a:prstGeom>
        </p:spPr>
      </p:pic>
      <p:sp>
        <p:nvSpPr>
          <p:cNvPr id="53" name="Text 33"/>
          <p:cNvSpPr/>
          <p:nvPr/>
        </p:nvSpPr>
        <p:spPr>
          <a:xfrm>
            <a:off x="4892040" y="465429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Tracks scorer accuracy over time</a:t>
            </a:r>
            <a:endParaRPr lang="en-US" sz="800" dirty="0"/>
          </a:p>
        </p:txBody>
      </p:sp>
      <p:pic>
        <p:nvPicPr>
          <p:cNvPr id="5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20840" y="4672584"/>
            <a:ext cx="118872" cy="118872"/>
          </a:xfrm>
          <a:prstGeom prst="rect">
            <a:avLst/>
          </a:prstGeom>
        </p:spPr>
      </p:pic>
      <p:sp>
        <p:nvSpPr>
          <p:cNvPr id="55" name="Text 34"/>
          <p:cNvSpPr/>
          <p:nvPr/>
        </p:nvSpPr>
        <p:spPr>
          <a:xfrm>
            <a:off x="6903720" y="465429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AI-assisted, never AI-decided</a:t>
            </a:r>
            <a:endParaRPr lang="en-US" sz="800" dirty="0"/>
          </a:p>
        </p:txBody>
      </p:sp>
      <p:sp>
        <p:nvSpPr>
          <p:cNvPr id="56" name="Text 35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57" name="Text 36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 ANALYSIS &amp; DATA SOURCE VALIDATION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scanning with 9-tier credibility system ensures evidence-based scoring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SCANNING PIPELINE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657600" cy="566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874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411480" cy="4114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36192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4173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Multi-Source Ingestion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88720" y="1645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free APIs: GDELT, GNews, ECHA, EUR-Lex, patents, RSS feeds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2029968"/>
            <a:ext cx="3657600" cy="566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Text 10"/>
          <p:cNvSpPr/>
          <p:nvPr/>
        </p:nvSpPr>
        <p:spPr>
          <a:xfrm>
            <a:off x="2194560" y="2532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58368" y="2103120"/>
            <a:ext cx="411480" cy="4114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19456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2075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Relevance Filtering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88720" y="23042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FMCG category mapping — Hair, LHC, cross-category signals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548640" y="2688336"/>
            <a:ext cx="3657600" cy="566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Text 15"/>
          <p:cNvSpPr/>
          <p:nvPr/>
        </p:nvSpPr>
        <p:spPr>
          <a:xfrm>
            <a:off x="2194560" y="31912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58368" y="2761488"/>
            <a:ext cx="411480" cy="4114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852928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88720" y="27340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Scoring Suggestion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88720" y="29626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Probability (1–5) + GP1% affected — always flagged for human review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548640" y="3346704"/>
            <a:ext cx="3657600" cy="566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Text 20"/>
          <p:cNvSpPr/>
          <p:nvPr/>
        </p:nvSpPr>
        <p:spPr>
          <a:xfrm>
            <a:off x="2194560" y="38496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658368" y="3419856"/>
            <a:ext cx="411480" cy="4114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511296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88720" y="33924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Credibility Check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88720" y="36210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source rated S through E — weak signals require B-tier corroboration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548640" y="4005072"/>
            <a:ext cx="3657600" cy="566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1" name="Shape 25"/>
          <p:cNvSpPr/>
          <p:nvPr/>
        </p:nvSpPr>
        <p:spPr>
          <a:xfrm>
            <a:off x="658368" y="4078224"/>
            <a:ext cx="411480" cy="411480"/>
          </a:xfrm>
          <a:prstGeom prst="ellipse">
            <a:avLst/>
          </a:prstGeom>
          <a:solidFill>
            <a:srgbClr val="E1000F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169664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88720" y="40507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Review Queue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1188720" y="42793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 accepts, rejects, or adjusts — AI never auto-applied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4800600" y="10515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CREDIBILITY TIERS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4800600" y="1325880"/>
            <a:ext cx="3794760" cy="33375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7" name="Shape 30"/>
          <p:cNvSpPr/>
          <p:nvPr/>
        </p:nvSpPr>
        <p:spPr>
          <a:xfrm>
            <a:off x="4937760" y="1417320"/>
            <a:ext cx="41148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8" name="Text 31"/>
          <p:cNvSpPr/>
          <p:nvPr/>
        </p:nvSpPr>
        <p:spPr>
          <a:xfrm>
            <a:off x="4937760" y="14173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544068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regulatory/legislative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4937760" y="1773936"/>
            <a:ext cx="411480" cy="2743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1" name="Text 34"/>
          <p:cNvSpPr/>
          <p:nvPr/>
        </p:nvSpPr>
        <p:spPr>
          <a:xfrm>
            <a:off x="4937760" y="177393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5440680" y="177393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Tier-1 consulting (primary data)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4937760" y="2130552"/>
            <a:ext cx="411480" cy="2743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4" name="Text 37"/>
          <p:cNvSpPr/>
          <p:nvPr/>
        </p:nvSpPr>
        <p:spPr>
          <a:xfrm>
            <a:off x="4937760" y="21305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A–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5440680" y="21305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Investment bank / Big-4 analyst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4937760" y="2487168"/>
            <a:ext cx="411480" cy="2743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7" name="Text 40"/>
          <p:cNvSpPr/>
          <p:nvPr/>
        </p:nvSpPr>
        <p:spPr>
          <a:xfrm>
            <a:off x="4937760" y="24871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B+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5440680" y="24871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Specialist industry analyst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4937760" y="2843784"/>
            <a:ext cx="411480" cy="2743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0" name="Text 43"/>
          <p:cNvSpPr/>
          <p:nvPr/>
        </p:nvSpPr>
        <p:spPr>
          <a:xfrm>
            <a:off x="4937760" y="28437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900" dirty="0"/>
          </a:p>
        </p:txBody>
      </p:sp>
      <p:sp>
        <p:nvSpPr>
          <p:cNvPr id="51" name="Text 44"/>
          <p:cNvSpPr/>
          <p:nvPr/>
        </p:nvSpPr>
        <p:spPr>
          <a:xfrm>
            <a:off x="5440680" y="284378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 press / industry media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4937760" y="3200400"/>
            <a:ext cx="411480" cy="27432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53" name="Text 46"/>
          <p:cNvSpPr/>
          <p:nvPr/>
        </p:nvSpPr>
        <p:spPr>
          <a:xfrm>
            <a:off x="4937760" y="3200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B–</a:t>
            </a:r>
            <a:endParaRPr lang="en-US" sz="900" dirty="0"/>
          </a:p>
        </p:txBody>
      </p:sp>
      <p:sp>
        <p:nvSpPr>
          <p:cNvPr id="54" name="Text 47"/>
          <p:cNvSpPr/>
          <p:nvPr/>
        </p:nvSpPr>
        <p:spPr>
          <a:xfrm>
            <a:off x="5440680" y="32004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/ PR source</a:t>
            </a:r>
            <a:endParaRPr lang="en-US" sz="900" dirty="0"/>
          </a:p>
        </p:txBody>
      </p:sp>
      <p:sp>
        <p:nvSpPr>
          <p:cNvPr id="55" name="Shape 48"/>
          <p:cNvSpPr/>
          <p:nvPr/>
        </p:nvSpPr>
        <p:spPr>
          <a:xfrm>
            <a:off x="4937760" y="3557016"/>
            <a:ext cx="411480" cy="27432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6" name="Text 49"/>
          <p:cNvSpPr/>
          <p:nvPr/>
        </p:nvSpPr>
        <p:spPr>
          <a:xfrm>
            <a:off x="4937760" y="35570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900" dirty="0"/>
          </a:p>
        </p:txBody>
      </p:sp>
      <p:sp>
        <p:nvSpPr>
          <p:cNvPr id="57" name="Text 50"/>
          <p:cNvSpPr/>
          <p:nvPr/>
        </p:nvSpPr>
        <p:spPr>
          <a:xfrm>
            <a:off x="5440680" y="35570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 press</a:t>
            </a:r>
            <a:endParaRPr lang="en-US" sz="900" dirty="0"/>
          </a:p>
        </p:txBody>
      </p:sp>
      <p:sp>
        <p:nvSpPr>
          <p:cNvPr id="58" name="Shape 51"/>
          <p:cNvSpPr/>
          <p:nvPr/>
        </p:nvSpPr>
        <p:spPr>
          <a:xfrm>
            <a:off x="4937760" y="3913632"/>
            <a:ext cx="411480" cy="2743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9" name="Text 52"/>
          <p:cNvSpPr/>
          <p:nvPr/>
        </p:nvSpPr>
        <p:spPr>
          <a:xfrm>
            <a:off x="4937760" y="39136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900" dirty="0"/>
          </a:p>
        </p:txBody>
      </p:sp>
      <p:sp>
        <p:nvSpPr>
          <p:cNvPr id="60" name="Text 53"/>
          <p:cNvSpPr/>
          <p:nvPr/>
        </p:nvSpPr>
        <p:spPr>
          <a:xfrm>
            <a:off x="5440680" y="39136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Aggregator / blog</a:t>
            </a:r>
            <a:endParaRPr lang="en-US" sz="900" dirty="0"/>
          </a:p>
        </p:txBody>
      </p:sp>
      <p:sp>
        <p:nvSpPr>
          <p:cNvPr id="61" name="Shape 54"/>
          <p:cNvSpPr/>
          <p:nvPr/>
        </p:nvSpPr>
        <p:spPr>
          <a:xfrm>
            <a:off x="4937760" y="4270248"/>
            <a:ext cx="411480" cy="274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2" name="Text 55"/>
          <p:cNvSpPr/>
          <p:nvPr/>
        </p:nvSpPr>
        <p:spPr>
          <a:xfrm>
            <a:off x="4937760" y="4270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900" dirty="0"/>
          </a:p>
        </p:txBody>
      </p:sp>
      <p:sp>
        <p:nvSpPr>
          <p:cNvPr id="63" name="Text 56"/>
          <p:cNvSpPr/>
          <p:nvPr/>
        </p:nvSpPr>
        <p:spPr>
          <a:xfrm>
            <a:off x="5440680" y="4270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Unverified (weak signal only)</a:t>
            </a:r>
            <a:endParaRPr lang="en-US" sz="900" dirty="0"/>
          </a:p>
        </p:txBody>
      </p:sp>
      <p:sp>
        <p:nvSpPr>
          <p:cNvPr id="64" name="Shape 57"/>
          <p:cNvSpPr/>
          <p:nvPr/>
        </p:nvSpPr>
        <p:spPr>
          <a:xfrm>
            <a:off x="4800600" y="4617720"/>
            <a:ext cx="379476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5" name="Text 58"/>
          <p:cNvSpPr/>
          <p:nvPr/>
        </p:nvSpPr>
        <p:spPr>
          <a:xfrm>
            <a:off x="4937760" y="46360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 trends  ·  220 sources  ·  All rated  ·  Color-coded in War Room</a:t>
            </a:r>
            <a:endParaRPr lang="en-US" sz="800" dirty="0"/>
          </a:p>
        </p:txBody>
      </p:sp>
      <p:sp>
        <p:nvSpPr>
          <p:cNvPr id="66" name="Text 59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67" name="Text 60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 RESEARCH METHODOLOGY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Repeatable 6-step process from strategic question to validated trend database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606040" cy="1600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457200" cy="45720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21615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143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force-specific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questions —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keyword searches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01752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1051560"/>
            <a:ext cx="2606040" cy="1600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Shape 10"/>
          <p:cNvSpPr/>
          <p:nvPr/>
        </p:nvSpPr>
        <p:spPr>
          <a:xfrm>
            <a:off x="3429000" y="1188720"/>
            <a:ext cx="457200" cy="45720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14" name="Text 11"/>
          <p:cNvSpPr/>
          <p:nvPr/>
        </p:nvSpPr>
        <p:spPr>
          <a:xfrm>
            <a:off x="34290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21615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0" y="1143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Multi-Source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429000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free APIs + AI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engine +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deep dives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589788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72200" y="1051560"/>
            <a:ext cx="2606040" cy="1600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Shape 16"/>
          <p:cNvSpPr/>
          <p:nvPr/>
        </p:nvSpPr>
        <p:spPr>
          <a:xfrm>
            <a:off x="6309360" y="1188720"/>
            <a:ext cx="457200" cy="45720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21" name="Text 17"/>
          <p:cNvSpPr/>
          <p:nvPr/>
        </p:nvSpPr>
        <p:spPr>
          <a:xfrm>
            <a:off x="63093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16152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269480" y="1143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309360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9-tier credibility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(S through E)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corroboration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411480" y="2880360"/>
            <a:ext cx="2606040" cy="1600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6" name="Shape 21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27" name="Text 22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044952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08760" y="2971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Anchoring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8640" y="35661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Probability (1–5)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 GP1% affected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normalized score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3017520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3291840" y="2880360"/>
            <a:ext cx="2606040" cy="1600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3" name="Shape 27"/>
          <p:cNvSpPr/>
          <p:nvPr/>
        </p:nvSpPr>
        <p:spPr>
          <a:xfrm>
            <a:off x="3429000" y="3017520"/>
            <a:ext cx="457200" cy="45720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34" name="Text 28"/>
          <p:cNvSpPr/>
          <p:nvPr/>
        </p:nvSpPr>
        <p:spPr>
          <a:xfrm>
            <a:off x="34290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3044952"/>
            <a:ext cx="320040" cy="32004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389120" y="2971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Mapping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3429000" y="35661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categories ×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VC steps ×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regions scored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5897880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6172200" y="2880360"/>
            <a:ext cx="2606040" cy="1600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0" name="Shape 33"/>
          <p:cNvSpPr/>
          <p:nvPr/>
        </p:nvSpPr>
        <p:spPr>
          <a:xfrm>
            <a:off x="6309360" y="3017520"/>
            <a:ext cx="457200" cy="45720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41" name="Text 34"/>
          <p:cNvSpPr/>
          <p:nvPr/>
        </p:nvSpPr>
        <p:spPr>
          <a:xfrm>
            <a:off x="6309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3044952"/>
            <a:ext cx="320040" cy="32004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269480" y="2971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Delphi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6309360" y="35661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3-round expert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consensus with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bias correction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4297680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672584"/>
            <a:ext cx="118872" cy="118872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868680" y="465429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 trends validated</a:t>
            </a:r>
            <a:endParaRPr lang="en-US" sz="800" dirty="0"/>
          </a:p>
        </p:txBody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480" y="4672584"/>
            <a:ext cx="118872" cy="118872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2880360" y="465429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220 sources rated</a:t>
            </a:r>
            <a:endParaRPr lang="en-US" sz="800" dirty="0"/>
          </a:p>
        </p:txBody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4672584"/>
            <a:ext cx="118872" cy="118872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4892040" y="465429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forces × 12 categories</a:t>
            </a:r>
            <a:endParaRPr lang="en-US" sz="800" dirty="0"/>
          </a:p>
        </p:txBody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840" y="4672584"/>
            <a:ext cx="118872" cy="118872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6903720" y="465429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Repeatable annually</a:t>
            </a:r>
            <a:endParaRPr lang="en-US" sz="800" dirty="0"/>
          </a:p>
        </p:txBody>
      </p:sp>
      <p:sp>
        <p:nvSpPr>
          <p:cNvPr id="55" name="Text 43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56" name="Text 44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BENEFITS &amp; HOW TO GET STARTED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clear path from today’s Excel model to an enterprise-grade simulation platform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BENEFITS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965960" cy="1920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4173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5544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2–3 yr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02920" y="24688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time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structural profit pool shifts before they appear in the P&amp;L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60320" y="1325880"/>
            <a:ext cx="1965960" cy="1920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Shape 10"/>
          <p:cNvSpPr/>
          <p:nvPr/>
        </p:nvSpPr>
        <p:spPr>
          <a:xfrm>
            <a:off x="3200400" y="14173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5544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5176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10,000+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2651760" y="24688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simulations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2697480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point estimates with full probability distributions and confidence intervals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709160" y="1325880"/>
            <a:ext cx="1965960" cy="1920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Shape 15"/>
          <p:cNvSpPr/>
          <p:nvPr/>
        </p:nvSpPr>
        <p:spPr>
          <a:xfrm>
            <a:off x="5349240" y="14173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55448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0060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4800600" y="24688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links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4846320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 how a regulatory shock cascades through all 6 forces to every category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6858000" y="1325880"/>
            <a:ext cx="1965960" cy="1920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Shape 20"/>
          <p:cNvSpPr/>
          <p:nvPr/>
        </p:nvSpPr>
        <p:spPr>
          <a:xfrm>
            <a:off x="7498080" y="14173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55448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4944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€0</a:t>
            </a:r>
            <a:endParaRPr lang="en-US" sz="2400" dirty="0"/>
          </a:p>
        </p:txBody>
      </p:sp>
      <p:sp>
        <p:nvSpPr>
          <p:cNvPr id="28" name="Text 22"/>
          <p:cNvSpPr/>
          <p:nvPr/>
        </p:nvSpPr>
        <p:spPr>
          <a:xfrm>
            <a:off x="6949440" y="24688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cost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6995160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 platform built on free APIs with zero annual licensing fees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548640" y="342900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756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GET STARTED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48640" y="3840480"/>
            <a:ext cx="8046720" cy="4572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2" name="Shape 26"/>
          <p:cNvSpPr/>
          <p:nvPr/>
        </p:nvSpPr>
        <p:spPr>
          <a:xfrm>
            <a:off x="1600200" y="3749040"/>
            <a:ext cx="219456" cy="219456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33" name="Text 27"/>
          <p:cNvSpPr/>
          <p:nvPr/>
        </p:nvSpPr>
        <p:spPr>
          <a:xfrm>
            <a:off x="822960" y="3611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April 2026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548640" y="4069080"/>
            <a:ext cx="2560320" cy="8229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60520"/>
            <a:ext cx="274320" cy="2743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051560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Phase 1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105156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engine build with V12 integration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4434840" y="3749040"/>
            <a:ext cx="219456" cy="219456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39" name="Text 32"/>
          <p:cNvSpPr/>
          <p:nvPr/>
        </p:nvSpPr>
        <p:spPr>
          <a:xfrm>
            <a:off x="3657600" y="3611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 2026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3383280" y="4069080"/>
            <a:ext cx="2560320" cy="8229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4160520"/>
            <a:ext cx="274320" cy="27432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3886200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Designate Delphi Panel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388620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5–8 category experts for scoring rounds</a:t>
            </a:r>
            <a:endParaRPr lang="en-US" sz="850" dirty="0"/>
          </a:p>
        </p:txBody>
      </p:sp>
      <p:sp>
        <p:nvSpPr>
          <p:cNvPr id="44" name="Shape 36"/>
          <p:cNvSpPr/>
          <p:nvPr/>
        </p:nvSpPr>
        <p:spPr>
          <a:xfrm>
            <a:off x="7269480" y="3749040"/>
            <a:ext cx="219456" cy="219456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45" name="Text 37"/>
          <p:cNvSpPr/>
          <p:nvPr/>
        </p:nvSpPr>
        <p:spPr>
          <a:xfrm>
            <a:off x="6492240" y="3611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 2026</a:t>
            </a:r>
            <a:endParaRPr lang="en-US" sz="800" dirty="0"/>
          </a:p>
        </p:txBody>
      </p:sp>
      <p:sp>
        <p:nvSpPr>
          <p:cNvPr id="46" name="Shape 38"/>
          <p:cNvSpPr/>
          <p:nvPr/>
        </p:nvSpPr>
        <p:spPr>
          <a:xfrm>
            <a:off x="6217920" y="4069080"/>
            <a:ext cx="2560320" cy="8229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4160520"/>
            <a:ext cx="274320" cy="27432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6720840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Historical Data</a:t>
            </a:r>
            <a:endParaRPr lang="en-US" sz="1100" dirty="0"/>
          </a:p>
        </p:txBody>
      </p:sp>
      <p:sp>
        <p:nvSpPr>
          <p:cNvPr id="49" name="Text 40"/>
          <p:cNvSpPr/>
          <p:nvPr/>
        </p:nvSpPr>
        <p:spPr>
          <a:xfrm>
            <a:off x="672084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V1–V11 enables backtesting &amp; calibration</a:t>
            </a:r>
            <a:endParaRPr lang="en-US" sz="850" dirty="0"/>
          </a:p>
        </p:txBody>
      </p:sp>
      <p:sp>
        <p:nvSpPr>
          <p:cNvPr id="50" name="Text 41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51" name="Text 42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78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94183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pools are shifting structurally — static Excel cannot capture the causal interdependencies between the 6 forces reshaping our 12 categories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73352"/>
            <a:ext cx="80467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46504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transforms the V12 assessment into a living, probabilistic simulation engine with Bayesian Monte Carlo, causal propagation, and a 5-year continuous path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78024"/>
            <a:ext cx="80467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87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551176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AI suggestion requires human review, every score change is audited, and the Delphi protocol ensures calibrated expert consensus — enterprise-grade governance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80467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35584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Three-phase rollout delivers standalone value at each stage: Bayesian engine (Q2), War Room dashboard (Q3), AI intelligence layer (Q4) — all at zero running cost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87368"/>
            <a:ext cx="80467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970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160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Matrix integrates seamlessly with Excel and Power BI — strategy teams see relative %, ExCo sees absolute €M impact. Same truth, two lenses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10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533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Phase 1 development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80160" y="171907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engine build with V12 integration — deliverable in Q2 2026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8046720" cy="7772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3134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Designate Delphi scoring panel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80160" y="26791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5-8 category experts for structured scoring rounds during strategy week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3200400"/>
            <a:ext cx="8046720" cy="7772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832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2735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historical V1-V11 data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280160" y="36393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Enables backtesting and empirical calibration of model parameters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48640" y="42062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8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BENEFITS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54864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10,000+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548640" y="4681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 iterations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scenario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269748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2697480" y="4681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 with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linking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84632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5-year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4846320" y="4681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path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projections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699516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€0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6995160" y="4681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running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27" name="Text 22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CEO Strategy Briefing</dc:title>
  <dc:subject>PptxGenJS Presentation</dc:subject>
  <dc:creator>Bain &amp; Company</dc:creator>
  <cp:lastModifiedBy>Bain &amp; Company</cp:lastModifiedBy>
  <cp:revision>1</cp:revision>
  <dcterms:created xsi:type="dcterms:W3CDTF">2026-03-31T12:35:15Z</dcterms:created>
  <dcterms:modified xsi:type="dcterms:W3CDTF">2026-03-31T12:35:15Z</dcterms:modified>
</cp:coreProperties>
</file>